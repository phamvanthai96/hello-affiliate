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C2D"/>
        </a:solidFill>
        <a:effectLst/>
      </p:bgPr>
    </p:bg>
    <p:spTree>
      <p:nvGrpSpPr>
        <p:cNvPr id="1" name=""/>
        <p:cNvGrpSpPr/>
        <p:nvPr/>
      </p:nvGrpSpPr>
      <p:grpSpPr/>
      <p:sp>
        <p:nvSpPr>
          <p:cNvPr id="2" name="Rounded Rectangle 1"/>
          <p:cNvSpPr/>
          <p:nvPr/>
        </p:nvSpPr>
        <p:spPr>
          <a:xfrm>
            <a:off x="8046720" y="548640"/>
            <a:ext cx="2926080" cy="292608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601200" y="2377440"/>
            <a:ext cx="1920240" cy="192024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79" y="4297680"/>
            <a:ext cx="2377440" cy="182880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960120"/>
            <a:ext cx="7132320" cy="2103120"/>
          </a:xfrm>
          <a:prstGeom prst="rect">
            <a:avLst/>
          </a:prstGeom>
          <a:noFill/>
        </p:spPr>
        <p:txBody>
          <a:bodyPr wrap="none">
            <a:spAutoFit/>
          </a:bodyPr>
          <a:lstStyle/>
          <a:p>
            <a:pPr>
              <a:defRPr sz="4800" b="1">
                <a:solidFill>
                  <a:srgbClr val="FFFFFF"/>
                </a:solidFill>
                <a:latin typeface="Aptos"/>
              </a:defRPr>
            </a:pPr>
            <a:r>
              <a:t>CONTENT</a:t>
            </a:r>
          </a:p>
          <a:p>
            <a:pPr>
              <a:defRPr sz="4800" b="1">
                <a:solidFill>
                  <a:srgbClr val="139491"/>
                </a:solidFill>
                <a:latin typeface="Aptos Display"/>
              </a:defRPr>
            </a:pPr>
            <a:r>
              <a:t>MARKETING</a:t>
            </a:r>
          </a:p>
        </p:txBody>
      </p:sp>
      <p:sp>
        <p:nvSpPr>
          <p:cNvPr id="6" name="TextBox 5"/>
          <p:cNvSpPr txBox="1"/>
          <p:nvPr/>
        </p:nvSpPr>
        <p:spPr>
          <a:xfrm>
            <a:off x="731520" y="3429000"/>
            <a:ext cx="6949440" cy="1188720"/>
          </a:xfrm>
          <a:prstGeom prst="rect">
            <a:avLst/>
          </a:prstGeom>
          <a:noFill/>
        </p:spPr>
        <p:txBody>
          <a:bodyPr wrap="none">
            <a:spAutoFit/>
          </a:bodyPr>
          <a:lstStyle/>
          <a:p>
            <a:pPr>
              <a:defRPr sz="2400">
                <a:solidFill>
                  <a:srgbClr val="D7E1EB"/>
                </a:solidFill>
                <a:latin typeface="Aptos"/>
              </a:defRPr>
            </a:pPr>
            <a:r>
              <a:t>Nền tảng → Chiến lược nội dung</a:t>
            </a:r>
          </a:p>
          <a:p>
            <a:pPr>
              <a:defRPr sz="1500">
                <a:solidFill>
                  <a:srgbClr val="A5B4C3"/>
                </a:solidFill>
                <a:latin typeface="Aptos"/>
              </a:defRPr>
            </a:pPr>
            <a:r>
              <a:t>Slide giảng dạy • Buổi đầu tiên</a:t>
            </a:r>
          </a:p>
        </p:txBody>
      </p:sp>
      <p:sp>
        <p:nvSpPr>
          <p:cNvPr id="7" name="TextBox 6"/>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Dựa trên 2 tài liệu Module 1 &amp; Module 2</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LỘ TRÌNH BUỔI HỌC</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Từ “làm content” → tư duy chiến lược</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Hai module được nối thành một quy trình tư duy liền mạch.</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148840"/>
            <a:ext cx="3429000" cy="320040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148840"/>
            <a:ext cx="73152" cy="320040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04288"/>
            <a:ext cx="3063240" cy="411480"/>
          </a:xfrm>
          <a:prstGeom prst="rect">
            <a:avLst/>
          </a:prstGeom>
          <a:noFill/>
        </p:spPr>
        <p:txBody>
          <a:bodyPr wrap="none">
            <a:spAutoFit/>
          </a:bodyPr>
          <a:lstStyle/>
          <a:p>
            <a:pPr>
              <a:defRPr sz="1800" b="1">
                <a:solidFill>
                  <a:srgbClr val="111C2D"/>
                </a:solidFill>
                <a:latin typeface="Aptos Display"/>
              </a:defRPr>
            </a:pPr>
            <a:r>
              <a:t>01 • NỀN TẢNG</a:t>
            </a:r>
          </a:p>
        </p:txBody>
      </p:sp>
      <p:sp>
        <p:nvSpPr>
          <p:cNvPr id="10" name="TextBox 9"/>
          <p:cNvSpPr txBox="1"/>
          <p:nvPr/>
        </p:nvSpPr>
        <p:spPr>
          <a:xfrm>
            <a:off x="886968" y="2761488"/>
            <a:ext cx="3044952" cy="2450592"/>
          </a:xfrm>
          <a:prstGeom prst="rect">
            <a:avLst/>
          </a:prstGeom>
          <a:noFill/>
        </p:spPr>
        <p:txBody>
          <a:bodyPr wrap="square">
            <a:spAutoFit/>
          </a:bodyPr>
          <a:lstStyle/>
          <a:p>
            <a:pPr>
              <a:defRPr sz="1500">
                <a:solidFill>
                  <a:srgbClr val="1F2937"/>
                </a:solidFill>
                <a:latin typeface="Aptos"/>
              </a:defRPr>
            </a:pPr>
            <a:r>
              <a:t>Content Marketing là gì</a:t>
            </a:r>
            <a:br/>
            <a:r>
              <a:t>5A • Funnel • Format</a:t>
            </a:r>
            <a:br/>
            <a:r>
              <a:t>USP • Golden Circle</a:t>
            </a:r>
            <a:br/>
            <a:r>
              <a:t>Attention Economy</a:t>
            </a:r>
          </a:p>
        </p:txBody>
      </p:sp>
      <p:sp>
        <p:nvSpPr>
          <p:cNvPr id="11" name="Rounded Rectangle 10"/>
          <p:cNvSpPr/>
          <p:nvPr/>
        </p:nvSpPr>
        <p:spPr>
          <a:xfrm>
            <a:off x="4389120" y="2148840"/>
            <a:ext cx="3429000" cy="320040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148840"/>
            <a:ext cx="73152" cy="32004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304288"/>
            <a:ext cx="3063240" cy="411480"/>
          </a:xfrm>
          <a:prstGeom prst="rect">
            <a:avLst/>
          </a:prstGeom>
          <a:noFill/>
        </p:spPr>
        <p:txBody>
          <a:bodyPr wrap="none">
            <a:spAutoFit/>
          </a:bodyPr>
          <a:lstStyle/>
          <a:p>
            <a:pPr>
              <a:defRPr sz="1800" b="1">
                <a:solidFill>
                  <a:srgbClr val="111C2D"/>
                </a:solidFill>
                <a:latin typeface="Aptos Display"/>
              </a:defRPr>
            </a:pPr>
            <a:r>
              <a:t>02 • CHIẾN LƯỢC</a:t>
            </a:r>
          </a:p>
        </p:txBody>
      </p:sp>
      <p:sp>
        <p:nvSpPr>
          <p:cNvPr id="14" name="TextBox 13"/>
          <p:cNvSpPr txBox="1"/>
          <p:nvPr/>
        </p:nvSpPr>
        <p:spPr>
          <a:xfrm>
            <a:off x="4590288" y="2761488"/>
            <a:ext cx="3044952" cy="2450592"/>
          </a:xfrm>
          <a:prstGeom prst="rect">
            <a:avLst/>
          </a:prstGeom>
          <a:noFill/>
        </p:spPr>
        <p:txBody>
          <a:bodyPr wrap="square">
            <a:spAutoFit/>
          </a:bodyPr>
          <a:lstStyle/>
          <a:p>
            <a:pPr>
              <a:defRPr sz="1500">
                <a:solidFill>
                  <a:srgbClr val="1F2937"/>
                </a:solidFill>
                <a:latin typeface="Aptos"/>
              </a:defRPr>
            </a:pPr>
            <a:r>
              <a:t>Persona • Journey</a:t>
            </a:r>
            <a:br/>
            <a:r>
              <a:t>Pillar • Cluster</a:t>
            </a:r>
            <a:br/>
            <a:r>
              <a:t>3H • Calendar</a:t>
            </a:r>
            <a:br/>
            <a:r>
              <a:t>Brief • Voice • JTBD</a:t>
            </a:r>
          </a:p>
        </p:txBody>
      </p:sp>
      <p:sp>
        <p:nvSpPr>
          <p:cNvPr id="15" name="Rounded Rectangle 14"/>
          <p:cNvSpPr/>
          <p:nvPr/>
        </p:nvSpPr>
        <p:spPr>
          <a:xfrm>
            <a:off x="8092440" y="2148840"/>
            <a:ext cx="3429000" cy="320040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2148840"/>
            <a:ext cx="73152" cy="320040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304288"/>
            <a:ext cx="3063240" cy="411480"/>
          </a:xfrm>
          <a:prstGeom prst="rect">
            <a:avLst/>
          </a:prstGeom>
          <a:noFill/>
        </p:spPr>
        <p:txBody>
          <a:bodyPr wrap="none">
            <a:spAutoFit/>
          </a:bodyPr>
          <a:lstStyle/>
          <a:p>
            <a:pPr>
              <a:defRPr sz="1800" b="1">
                <a:solidFill>
                  <a:srgbClr val="111C2D"/>
                </a:solidFill>
                <a:latin typeface="Aptos Display"/>
              </a:defRPr>
            </a:pPr>
            <a:r>
              <a:t>03 • THỰC HÀNH</a:t>
            </a:r>
          </a:p>
        </p:txBody>
      </p:sp>
      <p:sp>
        <p:nvSpPr>
          <p:cNvPr id="18" name="TextBox 17"/>
          <p:cNvSpPr txBox="1"/>
          <p:nvPr/>
        </p:nvSpPr>
        <p:spPr>
          <a:xfrm>
            <a:off x="8293608" y="2761488"/>
            <a:ext cx="3044952" cy="2450592"/>
          </a:xfrm>
          <a:prstGeom prst="rect">
            <a:avLst/>
          </a:prstGeom>
          <a:noFill/>
        </p:spPr>
        <p:txBody>
          <a:bodyPr wrap="square">
            <a:spAutoFit/>
          </a:bodyPr>
          <a:lstStyle/>
          <a:p>
            <a:pPr>
              <a:defRPr sz="1500">
                <a:solidFill>
                  <a:srgbClr val="1F2937"/>
                </a:solidFill>
                <a:latin typeface="Aptos"/>
              </a:defRPr>
            </a:pPr>
            <a:r>
              <a:t>Case study</a:t>
            </a:r>
            <a:br/>
            <a:r>
              <a:t>Bài tập cá nhân</a:t>
            </a:r>
            <a:br/>
            <a:r>
              <a:t>Bài tập nhóm</a:t>
            </a:r>
            <a:br/>
            <a:r>
              <a:t>Checklist sẵn sàng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C2D"/>
        </a:solidFill>
        <a:effectLst/>
      </p:bgPr>
    </p:bg>
    <p:spTree>
      <p:nvGrpSpPr>
        <p:cNvPr id="1" name=""/>
        <p:cNvGrpSpPr/>
        <p:nvPr/>
      </p:nvGrpSpPr>
      <p:grpSpPr/>
      <p:sp>
        <p:nvSpPr>
          <p:cNvPr id="2" name="Oval 1"/>
          <p:cNvSpPr/>
          <p:nvPr/>
        </p:nvSpPr>
        <p:spPr>
          <a:xfrm>
            <a:off x="8961120" y="-457200"/>
            <a:ext cx="3017520" cy="3017520"/>
          </a:xfrm>
          <a:prstGeom prst="ellipse">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5120640"/>
            <a:ext cx="2011680" cy="20116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CONTENT MARKETING</a:t>
            </a:r>
          </a:p>
        </p:txBody>
      </p:sp>
      <p:sp>
        <p:nvSpPr>
          <p:cNvPr id="5" name="TextBox 4"/>
          <p:cNvSpPr txBox="1"/>
          <p:nvPr/>
        </p:nvSpPr>
        <p:spPr>
          <a:xfrm>
            <a:off x="11201400" y="246888"/>
            <a:ext cx="411480" cy="274320"/>
          </a:xfrm>
          <a:prstGeom prst="rect">
            <a:avLst/>
          </a:prstGeom>
          <a:noFill/>
        </p:spPr>
        <p:txBody>
          <a:bodyPr wrap="none">
            <a:spAutoFit/>
          </a:bodyPr>
          <a:lstStyle/>
          <a:p>
            <a:pPr algn="r">
              <a:defRPr sz="1000">
                <a:solidFill>
                  <a:srgbClr val="BEC8D2"/>
                </a:solidFill>
                <a:latin typeface="Aptos"/>
              </a:defRPr>
            </a:pPr>
            <a:r>
              <a:t>3</a:t>
            </a:r>
          </a:p>
        </p:txBody>
      </p:sp>
      <p:sp>
        <p:nvSpPr>
          <p:cNvPr id="6" name="TextBox 5"/>
          <p:cNvSpPr txBox="1"/>
          <p:nvPr/>
        </p:nvSpPr>
        <p:spPr>
          <a:xfrm>
            <a:off x="685800" y="1463040"/>
            <a:ext cx="8961120" cy="1371600"/>
          </a:xfrm>
          <a:prstGeom prst="rect">
            <a:avLst/>
          </a:prstGeom>
          <a:noFill/>
        </p:spPr>
        <p:txBody>
          <a:bodyPr wrap="none">
            <a:spAutoFit/>
          </a:bodyPr>
          <a:lstStyle/>
          <a:p>
            <a:pPr>
              <a:defRPr sz="1800" b="1">
                <a:solidFill>
                  <a:srgbClr val="139491"/>
                </a:solidFill>
                <a:latin typeface="Aptos"/>
              </a:defRPr>
            </a:pPr>
            <a:r>
              <a:t>MODULE 1</a:t>
            </a:r>
          </a:p>
          <a:p>
            <a:pPr>
              <a:defRPr sz="4000" b="1">
                <a:solidFill>
                  <a:srgbClr val="FFFFFF"/>
                </a:solidFill>
                <a:latin typeface="Aptos Display"/>
              </a:defRPr>
            </a:pPr>
            <a:r>
              <a:t>Nền tảng Content Marketing cơ bản</a:t>
            </a:r>
          </a:p>
        </p:txBody>
      </p:sp>
      <p:sp>
        <p:nvSpPr>
          <p:cNvPr id="7" name="TextBox 6"/>
          <p:cNvSpPr txBox="1"/>
          <p:nvPr/>
        </p:nvSpPr>
        <p:spPr>
          <a:xfrm>
            <a:off x="731520" y="3200400"/>
            <a:ext cx="8046720" cy="1005840"/>
          </a:xfrm>
          <a:prstGeom prst="rect">
            <a:avLst/>
          </a:prstGeom>
          <a:noFill/>
        </p:spPr>
        <p:txBody>
          <a:bodyPr wrap="none">
            <a:spAutoFit/>
          </a:bodyPr>
          <a:lstStyle/>
          <a:p>
            <a:pPr>
              <a:defRPr sz="1800">
                <a:solidFill>
                  <a:srgbClr val="CDD7E1"/>
                </a:solidFill>
                <a:latin typeface="Aptos"/>
              </a:defRPr>
            </a:pPr>
            <a:r>
              <a:t>Buổi 1–2 • 6 giờ • Từ định nghĩa đến USP, 5A và phễu.</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Bộ slide giảng dạy • Dựa trên Module 1 &amp; Module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MỤC TIÊU</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Sau Module 1, học viên phải làm được gì?</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6 năng lực đầu ra</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10607040" cy="4206240"/>
          </a:xfrm>
          <a:prstGeom prst="rect">
            <a:avLst/>
          </a:prstGeom>
          <a:noFill/>
        </p:spPr>
        <p:txBody>
          <a:bodyPr wrap="square" lIns="0" rIns="0">
            <a:spAutoFit/>
          </a:bodyPr>
          <a:lstStyle/>
          <a:p>
            <a:pPr>
              <a:spcAft>
                <a:spcPts val="700"/>
              </a:spcAft>
              <a:defRPr sz="1800">
                <a:solidFill>
                  <a:srgbClr val="1F2937"/>
                </a:solidFill>
                <a:latin typeface="Aptos"/>
              </a:defRPr>
            </a:pPr>
            <a:r>
              <a:t>• Phát biểu chính xác định nghĩa Content Marketing theo CMI và giải thích bằng ví dụ Việt Nam.</a:t>
            </a:r>
          </a:p>
          <a:p>
            <a:pPr>
              <a:spcAft>
                <a:spcPts val="700"/>
              </a:spcAft>
              <a:defRPr sz="1800">
                <a:solidFill>
                  <a:srgbClr val="1F2937"/>
                </a:solidFill>
                <a:latin typeface="Aptos"/>
              </a:defRPr>
            </a:pPr>
            <a:r>
              <a:t>• Phân biệt Content Marketing với Copywriting, Advertising, PR, Branding và SEO.</a:t>
            </a:r>
          </a:p>
          <a:p>
            <a:pPr>
              <a:spcAft>
                <a:spcPts val="700"/>
              </a:spcAft>
              <a:defRPr sz="1800">
                <a:solidFill>
                  <a:srgbClr val="1F2937"/>
                </a:solidFill>
                <a:latin typeface="Aptos"/>
              </a:defRPr>
            </a:pPr>
            <a:r>
              <a:t>• Trình bày Marketing 1.0 → 5.0 và vai trò của content.</a:t>
            </a:r>
          </a:p>
          <a:p>
            <a:pPr>
              <a:spcAft>
                <a:spcPts val="700"/>
              </a:spcAft>
              <a:defRPr sz="1800">
                <a:solidFill>
                  <a:srgbClr val="1F2937"/>
                </a:solidFill>
                <a:latin typeface="Aptos"/>
              </a:defRPr>
            </a:pPr>
            <a:r>
              <a:t>• Xác định loại hình content và ưu – nhược điểm.</a:t>
            </a:r>
          </a:p>
          <a:p>
            <a:pPr>
              <a:spcAft>
                <a:spcPts val="700"/>
              </a:spcAft>
              <a:defRPr sz="1800">
                <a:solidFill>
                  <a:srgbClr val="1F2937"/>
                </a:solidFill>
                <a:latin typeface="Aptos"/>
              </a:defRPr>
            </a:pPr>
            <a:r>
              <a:t>• Phân tích content theo 5A, Marketing Funnel và hành trình khách hàng.</a:t>
            </a:r>
          </a:p>
          <a:p>
            <a:pPr>
              <a:spcAft>
                <a:spcPts val="700"/>
              </a:spcAft>
              <a:defRPr sz="1800">
                <a:solidFill>
                  <a:srgbClr val="1F2937"/>
                </a:solidFill>
                <a:latin typeface="Aptos"/>
              </a:defRPr>
            </a:pPr>
            <a:r>
              <a:t>• Xác định USP và bối cảnh thị trường cho một thương hiệu.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ĐỊNH NGHĨA</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5</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Marketing là gì?</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Định nghĩa chuẩn theo Content Marketing Institute (CMI)</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148840"/>
            <a:ext cx="10424160" cy="1828800"/>
          </a:xfrm>
          <a:prstGeom prst="roundRect">
            <a:avLst/>
          </a:prstGeom>
          <a:solidFill>
            <a:srgbClr val="FFFFFF"/>
          </a:solidFill>
          <a:ln w="19050">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423160"/>
            <a:ext cx="9692640" cy="1280160"/>
          </a:xfrm>
          <a:prstGeom prst="rect">
            <a:avLst/>
          </a:prstGeom>
          <a:noFill/>
        </p:spPr>
        <p:txBody>
          <a:bodyPr wrap="square">
            <a:spAutoFit/>
          </a:bodyPr>
          <a:lstStyle/>
          <a:p>
            <a:pPr>
              <a:defRPr sz="2000" i="1">
                <a:solidFill>
                  <a:srgbClr val="1F2937"/>
                </a:solidFill>
                <a:latin typeface="Aptos"/>
              </a:defRPr>
            </a:pPr>
            <a:r>
              <a:t>“Content Marketing là một phương pháp tiếp thị chiến lược tập trung vào việc tạo ra và phân phối nội dung có giá trị, liên quan và nhất quán để thu hút và giữ chân một đối tượng khán giả được xác định rõ ràng — và cuối cùng, thúc đẩy hành động sinh lời của khách hàng.”</a:t>
            </a:r>
          </a:p>
        </p:txBody>
      </p:sp>
      <p:sp>
        <p:nvSpPr>
          <p:cNvPr id="9" name="Rounded Rectangle 8"/>
          <p:cNvSpPr/>
          <p:nvPr/>
        </p:nvSpPr>
        <p:spPr>
          <a:xfrm>
            <a:off x="731520" y="4663440"/>
            <a:ext cx="2592324" cy="96012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STRATEGIC</a:t>
            </a:r>
          </a:p>
        </p:txBody>
      </p:sp>
      <p:sp>
        <p:nvSpPr>
          <p:cNvPr id="10" name="Rounded Rectangle 9"/>
          <p:cNvSpPr/>
          <p:nvPr/>
        </p:nvSpPr>
        <p:spPr>
          <a:xfrm>
            <a:off x="3433572" y="4663440"/>
            <a:ext cx="2592324" cy="96012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VALUABLE</a:t>
            </a:r>
          </a:p>
        </p:txBody>
      </p:sp>
      <p:sp>
        <p:nvSpPr>
          <p:cNvPr id="11" name="Rounded Rectangle 10"/>
          <p:cNvSpPr/>
          <p:nvPr/>
        </p:nvSpPr>
        <p:spPr>
          <a:xfrm>
            <a:off x="6135624" y="4663440"/>
            <a:ext cx="2592324" cy="96012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CONSISTENT</a:t>
            </a:r>
          </a:p>
        </p:txBody>
      </p:sp>
      <p:sp>
        <p:nvSpPr>
          <p:cNvPr id="12" name="Rounded Rectangle 11"/>
          <p:cNvSpPr/>
          <p:nvPr/>
        </p:nvSpPr>
        <p:spPr>
          <a:xfrm>
            <a:off x="8837676" y="4663440"/>
            <a:ext cx="2592324" cy="96012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DEFINED AUDIENCE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4 TỪ KHÓA CỐT LÕI</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6</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Đọc định nghĩa theo 4 từ khóa</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Đây là “bộ lọc” để nhận diện content marketing.</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1–2 • Chiến lược &amp; Giá trị</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Strategic: có mục tiêu, kế hoạch gắn với mục tiêu kinh doanh.</a:t>
            </a:r>
          </a:p>
          <a:p>
            <a:pPr>
              <a:spcAft>
                <a:spcPts val="400"/>
              </a:spcAft>
              <a:defRPr sz="1420">
                <a:solidFill>
                  <a:srgbClr val="1F2937"/>
                </a:solidFill>
                <a:latin typeface="Aptos"/>
              </a:defRPr>
            </a:pPr>
            <a:r>
              <a:t>• Valuable: giải quyết vấn đề, giải trí hoặc giáo dục — không chỉ nói về sản phẩm.</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3–4 • Nhất quán &amp; Đối tượng</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Consistent: xuất bản đều đặn, tone và thông điệp thống nhất.</a:t>
            </a:r>
          </a:p>
          <a:p>
            <a:pPr>
              <a:spcAft>
                <a:spcPts val="400"/>
              </a:spcAft>
              <a:defRPr sz="1420">
                <a:solidFill>
                  <a:srgbClr val="1F2937"/>
                </a:solidFill>
                <a:latin typeface="Aptos"/>
              </a:defRPr>
            </a:pPr>
            <a:r>
              <a:t>• Defined Audience: nhắm đến nhóm khách hàng cụ thể, không viết cho “tất cả mọi người”.</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VÍ DỤ VIỆT NAM</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7</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Marketing không nhất thiết phải “bán hàng”</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3 ví dụ trong tài liệu</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3520440" cy="356616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56616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3154680" cy="411480"/>
          </a:xfrm>
          <a:prstGeom prst="rect">
            <a:avLst/>
          </a:prstGeom>
          <a:noFill/>
        </p:spPr>
        <p:txBody>
          <a:bodyPr wrap="none">
            <a:spAutoFit/>
          </a:bodyPr>
          <a:lstStyle/>
          <a:p>
            <a:pPr>
              <a:defRPr sz="1800" b="1">
                <a:solidFill>
                  <a:srgbClr val="111C2D"/>
                </a:solidFill>
                <a:latin typeface="Aptos Display"/>
              </a:defRPr>
            </a:pPr>
            <a:r>
              <a:t>VINAMILK</a:t>
            </a:r>
          </a:p>
        </p:txBody>
      </p:sp>
      <p:sp>
        <p:nvSpPr>
          <p:cNvPr id="10" name="TextBox 9"/>
          <p:cNvSpPr txBox="1"/>
          <p:nvPr/>
        </p:nvSpPr>
        <p:spPr>
          <a:xfrm>
            <a:off x="841247" y="2670048"/>
            <a:ext cx="3136392" cy="2816352"/>
          </a:xfrm>
          <a:prstGeom prst="rect">
            <a:avLst/>
          </a:prstGeom>
          <a:noFill/>
        </p:spPr>
        <p:txBody>
          <a:bodyPr wrap="square">
            <a:spAutoFit/>
          </a:bodyPr>
          <a:lstStyle/>
          <a:p>
            <a:pPr>
              <a:defRPr sz="1500">
                <a:solidFill>
                  <a:srgbClr val="1F2937"/>
                </a:solidFill>
                <a:latin typeface="Aptos"/>
              </a:defRPr>
            </a:pPr>
            <a:r>
              <a:t>“Quỹ sữa vươn cao Việt Nam”</a:t>
            </a:r>
            <a:br/>
            <a:r>
              <a:t>→ câu chuyện trách nhiệm xã hội</a:t>
            </a:r>
            <a:br/>
            <a:r>
              <a:t>→ tạo thiện cảm thương hiệu</a:t>
            </a:r>
          </a:p>
        </p:txBody>
      </p:sp>
      <p:sp>
        <p:nvSpPr>
          <p:cNvPr id="11" name="Rounded Rectangle 10"/>
          <p:cNvSpPr/>
          <p:nvPr/>
        </p:nvSpPr>
        <p:spPr>
          <a:xfrm>
            <a:off x="4343400" y="2057400"/>
            <a:ext cx="3520440" cy="356616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057400"/>
            <a:ext cx="73152" cy="356616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212848"/>
            <a:ext cx="3154680" cy="411480"/>
          </a:xfrm>
          <a:prstGeom prst="rect">
            <a:avLst/>
          </a:prstGeom>
          <a:noFill/>
        </p:spPr>
        <p:txBody>
          <a:bodyPr wrap="none">
            <a:spAutoFit/>
          </a:bodyPr>
          <a:lstStyle/>
          <a:p>
            <a:pPr>
              <a:defRPr sz="1800" b="1">
                <a:solidFill>
                  <a:srgbClr val="111C2D"/>
                </a:solidFill>
                <a:latin typeface="Aptos Display"/>
              </a:defRPr>
            </a:pPr>
            <a:r>
              <a:t>HIGHLANDS COFFEE</a:t>
            </a:r>
          </a:p>
        </p:txBody>
      </p:sp>
      <p:sp>
        <p:nvSpPr>
          <p:cNvPr id="14" name="TextBox 13"/>
          <p:cNvSpPr txBox="1"/>
          <p:nvPr/>
        </p:nvSpPr>
        <p:spPr>
          <a:xfrm>
            <a:off x="4544568" y="2670048"/>
            <a:ext cx="3136392" cy="2816352"/>
          </a:xfrm>
          <a:prstGeom prst="rect">
            <a:avLst/>
          </a:prstGeom>
          <a:noFill/>
        </p:spPr>
        <p:txBody>
          <a:bodyPr wrap="square">
            <a:spAutoFit/>
          </a:bodyPr>
          <a:lstStyle/>
          <a:p>
            <a:pPr>
              <a:defRPr sz="1500">
                <a:solidFill>
                  <a:srgbClr val="1F2937"/>
                </a:solidFill>
                <a:latin typeface="Aptos"/>
              </a:defRPr>
            </a:pPr>
            <a:r>
              <a:t>“Văn hóa cà phê Việt”</a:t>
            </a:r>
            <a:br/>
            <a:r>
              <a:t>→ kể chuyện Robusta, cà phê vỉa hè</a:t>
            </a:r>
            <a:br/>
            <a:r>
              <a:t>→ không chỉ đăng khuyến mãi</a:t>
            </a:r>
          </a:p>
        </p:txBody>
      </p:sp>
      <p:sp>
        <p:nvSpPr>
          <p:cNvPr id="15" name="Rounded Rectangle 14"/>
          <p:cNvSpPr/>
          <p:nvPr/>
        </p:nvSpPr>
        <p:spPr>
          <a:xfrm>
            <a:off x="8046720" y="2057400"/>
            <a:ext cx="3520440" cy="356616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057400"/>
            <a:ext cx="73152" cy="356616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212848"/>
            <a:ext cx="3154680" cy="411480"/>
          </a:xfrm>
          <a:prstGeom prst="rect">
            <a:avLst/>
          </a:prstGeom>
          <a:noFill/>
        </p:spPr>
        <p:txBody>
          <a:bodyPr wrap="none">
            <a:spAutoFit/>
          </a:bodyPr>
          <a:lstStyle/>
          <a:p>
            <a:pPr>
              <a:defRPr sz="1800" b="1">
                <a:solidFill>
                  <a:srgbClr val="111C2D"/>
                </a:solidFill>
                <a:latin typeface="Aptos Display"/>
              </a:defRPr>
            </a:pPr>
            <a:r>
              <a:t>MOMO</a:t>
            </a:r>
          </a:p>
        </p:txBody>
      </p:sp>
      <p:sp>
        <p:nvSpPr>
          <p:cNvPr id="18" name="TextBox 17"/>
          <p:cNvSpPr txBox="1"/>
          <p:nvPr/>
        </p:nvSpPr>
        <p:spPr>
          <a:xfrm>
            <a:off x="8247888" y="2670048"/>
            <a:ext cx="3136392" cy="2816352"/>
          </a:xfrm>
          <a:prstGeom prst="rect">
            <a:avLst/>
          </a:prstGeom>
          <a:noFill/>
        </p:spPr>
        <p:txBody>
          <a:bodyPr wrap="square">
            <a:spAutoFit/>
          </a:bodyPr>
          <a:lstStyle/>
          <a:p>
            <a:pPr>
              <a:defRPr sz="1500">
                <a:solidFill>
                  <a:srgbClr val="1F2937"/>
                </a:solidFill>
                <a:latin typeface="Aptos"/>
              </a:defRPr>
            </a:pPr>
            <a:r>
              <a:t>Giáo dục tài chính cá nhân</a:t>
            </a:r>
            <a:br/>
            <a:r>
              <a:t>→ tips tiết kiệm, quản lý chi tiêu</a:t>
            </a:r>
            <a:br/>
            <a:r>
              <a:t>→ gián tiếp tăng lòng tin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PHÂN BIỆT KHÁI NIỆM</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8</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Marketing đứng ở đâu?</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5 khái niệm dễ nhầm lẫn</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2011680"/>
          <a:ext cx="10972800" cy="4114800"/>
        </p:xfrm>
        <a:graphic>
          <a:graphicData uri="http://schemas.openxmlformats.org/drawingml/2006/table">
            <a:tbl>
              <a:tblPr firstRow="1" bandRow="1">
                <a:tableStyleId>{5C22544A-7EE6-4342-B048-85BDC9FD1C3A}</a:tableStyleId>
              </a:tblPr>
              <a:tblGrid>
                <a:gridCol w="3657600"/>
                <a:gridCol w="3657600"/>
                <a:gridCol w="3657600"/>
              </a:tblGrid>
              <a:tr h="685800">
                <a:tc>
                  <a:txBody>
                    <a:bodyPr/>
                    <a:lstStyle/>
                    <a:p>
                      <a:pPr algn="ctr">
                        <a:defRPr sz="1300" b="1">
                          <a:solidFill>
                            <a:srgbClr val="FFFFFF"/>
                          </a:solidFill>
                          <a:latin typeface="Aptos"/>
                        </a:defRPr>
                      </a:pPr>
                      <a:r>
                        <a:t>Khái niệm</a:t>
                      </a:r>
                    </a:p>
                  </a:txBody>
                  <a:tcPr>
                    <a:solidFill>
                      <a:srgbClr val="111C2D"/>
                    </a:solidFill>
                  </a:tcPr>
                </a:tc>
                <a:tc>
                  <a:txBody>
                    <a:bodyPr/>
                    <a:lstStyle/>
                    <a:p>
                      <a:pPr algn="ctr">
                        <a:defRPr sz="1300" b="1">
                          <a:solidFill>
                            <a:srgbClr val="FFFFFF"/>
                          </a:solidFill>
                          <a:latin typeface="Aptos"/>
                        </a:defRPr>
                      </a:pPr>
                      <a:r>
                        <a:t>Bản chất</a:t>
                      </a:r>
                    </a:p>
                  </a:txBody>
                  <a:tcPr>
                    <a:solidFill>
                      <a:srgbClr val="111C2D"/>
                    </a:solidFill>
                  </a:tcPr>
                </a:tc>
                <a:tc>
                  <a:txBody>
                    <a:bodyPr/>
                    <a:lstStyle/>
                    <a:p>
                      <a:pPr algn="ctr">
                        <a:defRPr sz="1300" b="1">
                          <a:solidFill>
                            <a:srgbClr val="FFFFFF"/>
                          </a:solidFill>
                          <a:latin typeface="Aptos"/>
                        </a:defRPr>
                      </a:pPr>
                      <a:r>
                        <a:t>Khác biệt cốt lõi</a:t>
                      </a:r>
                    </a:p>
                  </a:txBody>
                  <a:tcPr>
                    <a:solidFill>
                      <a:srgbClr val="111C2D"/>
                    </a:solidFill>
                  </a:tcPr>
                </a:tc>
              </a:tr>
              <a:tr h="685800">
                <a:tc>
                  <a:txBody>
                    <a:bodyPr/>
                    <a:lstStyle/>
                    <a:p>
                      <a:pPr algn="ctr">
                        <a:defRPr sz="1250">
                          <a:solidFill>
                            <a:srgbClr val="1F2937"/>
                          </a:solidFill>
                          <a:latin typeface="Aptos"/>
                        </a:defRPr>
                      </a:pPr>
                      <a:r>
                        <a:t>Copywriting</a:t>
                      </a:r>
                    </a:p>
                  </a:txBody>
                  <a:tcPr marL="73152" marR="54864" marT="45720" marB="45720">
                    <a:solidFill>
                      <a:srgbClr val="FFFFFF"/>
                    </a:solidFill>
                  </a:tcPr>
                </a:tc>
                <a:tc>
                  <a:txBody>
                    <a:bodyPr/>
                    <a:lstStyle/>
                    <a:p>
                      <a:pPr algn="l">
                        <a:defRPr sz="1250">
                          <a:solidFill>
                            <a:srgbClr val="1F2937"/>
                          </a:solidFill>
                          <a:latin typeface="Aptos"/>
                        </a:defRPr>
                      </a:pPr>
                      <a:r>
                        <a:t>Kỹ thuật viết</a:t>
                      </a:r>
                    </a:p>
                  </a:txBody>
                  <a:tcPr marL="73152" marR="54864" marT="45720" marB="45720">
                    <a:solidFill>
                      <a:srgbClr val="FFFFFF"/>
                    </a:solidFill>
                  </a:tcPr>
                </a:tc>
                <a:tc>
                  <a:txBody>
                    <a:bodyPr/>
                    <a:lstStyle/>
                    <a:p>
                      <a:pPr algn="l">
                        <a:defRPr sz="1250">
                          <a:solidFill>
                            <a:srgbClr val="1F2937"/>
                          </a:solidFill>
                          <a:latin typeface="Aptos"/>
                        </a:defRPr>
                      </a:pPr>
                      <a:r>
                        <a:t>Ngắn hạn / thúc đẩy hành động</a:t>
                      </a:r>
                    </a:p>
                  </a:txBody>
                  <a:tcPr marL="73152" marR="54864" marT="45720" marB="45720">
                    <a:solidFill>
                      <a:srgbClr val="FFFFFF"/>
                    </a:solidFill>
                  </a:tcPr>
                </a:tc>
              </a:tr>
              <a:tr h="685800">
                <a:tc>
                  <a:txBody>
                    <a:bodyPr/>
                    <a:lstStyle/>
                    <a:p>
                      <a:pPr algn="ctr">
                        <a:defRPr sz="1250">
                          <a:solidFill>
                            <a:srgbClr val="1F2937"/>
                          </a:solidFill>
                          <a:latin typeface="Aptos"/>
                        </a:defRPr>
                      </a:pPr>
                      <a:r>
                        <a:t>Advertising</a:t>
                      </a:r>
                    </a:p>
                  </a:txBody>
                  <a:tcPr marL="73152" marR="54864" marT="45720" marB="45720">
                    <a:solidFill>
                      <a:srgbClr val="F2F5F8"/>
                    </a:solidFill>
                  </a:tcPr>
                </a:tc>
                <a:tc>
                  <a:txBody>
                    <a:bodyPr/>
                    <a:lstStyle/>
                    <a:p>
                      <a:pPr algn="l">
                        <a:defRPr sz="1250">
                          <a:solidFill>
                            <a:srgbClr val="1F2937"/>
                          </a:solidFill>
                          <a:latin typeface="Aptos"/>
                        </a:defRPr>
                      </a:pPr>
                      <a:r>
                        <a:t>Trả tiền để hiển thị</a:t>
                      </a:r>
                    </a:p>
                  </a:txBody>
                  <a:tcPr marL="73152" marR="54864" marT="45720" marB="45720">
                    <a:solidFill>
                      <a:srgbClr val="F2F5F8"/>
                    </a:solidFill>
                  </a:tcPr>
                </a:tc>
                <a:tc>
                  <a:txBody>
                    <a:bodyPr/>
                    <a:lstStyle/>
                    <a:p>
                      <a:pPr algn="l">
                        <a:defRPr sz="1250">
                          <a:solidFill>
                            <a:srgbClr val="1F2937"/>
                          </a:solidFill>
                          <a:latin typeface="Aptos"/>
                        </a:defRPr>
                      </a:pPr>
                      <a:r>
                        <a:t>Push thông điệp bán hàng</a:t>
                      </a:r>
                    </a:p>
                  </a:txBody>
                  <a:tcPr marL="73152" marR="54864" marT="45720" marB="45720">
                    <a:solidFill>
                      <a:srgbClr val="F2F5F8"/>
                    </a:solidFill>
                  </a:tcPr>
                </a:tc>
              </a:tr>
              <a:tr h="685800">
                <a:tc>
                  <a:txBody>
                    <a:bodyPr/>
                    <a:lstStyle/>
                    <a:p>
                      <a:pPr algn="ctr">
                        <a:defRPr sz="1250">
                          <a:solidFill>
                            <a:srgbClr val="1F2937"/>
                          </a:solidFill>
                          <a:latin typeface="Aptos"/>
                        </a:defRPr>
                      </a:pPr>
                      <a:r>
                        <a:t>PR</a:t>
                      </a:r>
                    </a:p>
                  </a:txBody>
                  <a:tcPr marL="73152" marR="54864" marT="45720" marB="45720">
                    <a:solidFill>
                      <a:srgbClr val="FFFFFF"/>
                    </a:solidFill>
                  </a:tcPr>
                </a:tc>
                <a:tc>
                  <a:txBody>
                    <a:bodyPr/>
                    <a:lstStyle/>
                    <a:p>
                      <a:pPr algn="l">
                        <a:defRPr sz="1250">
                          <a:solidFill>
                            <a:srgbClr val="1F2937"/>
                          </a:solidFill>
                          <a:latin typeface="Aptos"/>
                        </a:defRPr>
                      </a:pPr>
                      <a:r>
                        <a:t>Quan hệ công chúng</a:t>
                      </a:r>
                    </a:p>
                  </a:txBody>
                  <a:tcPr marL="73152" marR="54864" marT="45720" marB="45720">
                    <a:solidFill>
                      <a:srgbClr val="FFFFFF"/>
                    </a:solidFill>
                  </a:tcPr>
                </a:tc>
                <a:tc>
                  <a:txBody>
                    <a:bodyPr/>
                    <a:lstStyle/>
                    <a:p>
                      <a:pPr algn="l">
                        <a:defRPr sz="1250">
                          <a:solidFill>
                            <a:srgbClr val="1F2937"/>
                          </a:solidFill>
                          <a:latin typeface="Aptos"/>
                        </a:defRPr>
                      </a:pPr>
                      <a:r>
                        <a:t>Uy tín, báo chí, khủng hoảng</a:t>
                      </a:r>
                    </a:p>
                  </a:txBody>
                  <a:tcPr marL="73152" marR="54864" marT="45720" marB="45720">
                    <a:solidFill>
                      <a:srgbClr val="FFFFFF"/>
                    </a:solidFill>
                  </a:tcPr>
                </a:tc>
              </a:tr>
              <a:tr h="685800">
                <a:tc>
                  <a:txBody>
                    <a:bodyPr/>
                    <a:lstStyle/>
                    <a:p>
                      <a:pPr algn="ctr">
                        <a:defRPr sz="1250">
                          <a:solidFill>
                            <a:srgbClr val="1F2937"/>
                          </a:solidFill>
                          <a:latin typeface="Aptos"/>
                        </a:defRPr>
                      </a:pPr>
                      <a:r>
                        <a:t>Branding</a:t>
                      </a:r>
                    </a:p>
                  </a:txBody>
                  <a:tcPr marL="73152" marR="54864" marT="45720" marB="45720">
                    <a:solidFill>
                      <a:srgbClr val="F2F5F8"/>
                    </a:solidFill>
                  </a:tcPr>
                </a:tc>
                <a:tc>
                  <a:txBody>
                    <a:bodyPr/>
                    <a:lstStyle/>
                    <a:p>
                      <a:pPr algn="l">
                        <a:defRPr sz="1250">
                          <a:solidFill>
                            <a:srgbClr val="1F2937"/>
                          </a:solidFill>
                          <a:latin typeface="Aptos"/>
                        </a:defRPr>
                      </a:pPr>
                      <a:r>
                        <a:t>Xây dựng thương hiệu</a:t>
                      </a:r>
                    </a:p>
                  </a:txBody>
                  <a:tcPr marL="73152" marR="54864" marT="45720" marB="45720">
                    <a:solidFill>
                      <a:srgbClr val="F2F5F8"/>
                    </a:solidFill>
                  </a:tcPr>
                </a:tc>
                <a:tc>
                  <a:txBody>
                    <a:bodyPr/>
                    <a:lstStyle/>
                    <a:p>
                      <a:pPr algn="l">
                        <a:defRPr sz="1250">
                          <a:solidFill>
                            <a:srgbClr val="1F2937"/>
                          </a:solidFill>
                          <a:latin typeface="Aptos"/>
                        </a:defRPr>
                      </a:pPr>
                      <a:r>
                        <a:t>“Thương hiệu là ai?”</a:t>
                      </a:r>
                    </a:p>
                  </a:txBody>
                  <a:tcPr marL="73152" marR="54864" marT="45720" marB="45720">
                    <a:solidFill>
                      <a:srgbClr val="F2F5F8"/>
                    </a:solidFill>
                  </a:tcPr>
                </a:tc>
              </a:tr>
              <a:tr h="685800">
                <a:tc>
                  <a:txBody>
                    <a:bodyPr/>
                    <a:lstStyle/>
                    <a:p>
                      <a:pPr algn="ctr">
                        <a:defRPr sz="1250">
                          <a:solidFill>
                            <a:srgbClr val="1F2937"/>
                          </a:solidFill>
                          <a:latin typeface="Aptos"/>
                        </a:defRPr>
                      </a:pPr>
                      <a:r>
                        <a:t>SEO</a:t>
                      </a:r>
                    </a:p>
                  </a:txBody>
                  <a:tcPr marL="73152" marR="54864" marT="45720" marB="45720">
                    <a:solidFill>
                      <a:srgbClr val="FFFFFF"/>
                    </a:solidFill>
                  </a:tcPr>
                </a:tc>
                <a:tc>
                  <a:txBody>
                    <a:bodyPr/>
                    <a:lstStyle/>
                    <a:p>
                      <a:pPr algn="l">
                        <a:defRPr sz="1250">
                          <a:solidFill>
                            <a:srgbClr val="1F2937"/>
                          </a:solidFill>
                          <a:latin typeface="Aptos"/>
                        </a:defRPr>
                      </a:pPr>
                      <a:r>
                        <a:t>Tối ưu tìm kiếm</a:t>
                      </a:r>
                    </a:p>
                  </a:txBody>
                  <a:tcPr marL="73152" marR="54864" marT="45720" marB="45720">
                    <a:solidFill>
                      <a:srgbClr val="FFFFFF"/>
                    </a:solidFill>
                  </a:tcPr>
                </a:tc>
                <a:tc>
                  <a:txBody>
                    <a:bodyPr/>
                    <a:lstStyle/>
                    <a:p>
                      <a:pPr algn="l">
                        <a:defRPr sz="1250">
                          <a:solidFill>
                            <a:srgbClr val="1F2937"/>
                          </a:solidFill>
                          <a:latin typeface="Aptos"/>
                        </a:defRPr>
                      </a:pPr>
                      <a:r>
                        <a:t>Kỹ thuật/kênh giúp content được tìm thấy</a:t>
                      </a:r>
                    </a:p>
                  </a:txBody>
                  <a:tcPr marL="73152" marR="54864" marT="45720" marB="4572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1 • 1.0 → 5.0</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9</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Marketing tiến hóa — content tiến hóa theo</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Từ Product-centric đến Technology-driven</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377440"/>
            <a:ext cx="2051913" cy="105156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1.0</a:t>
            </a:r>
            <a:br/>
            <a:r>
              <a:t>PRODUCT</a:t>
            </a:r>
          </a:p>
        </p:txBody>
      </p:sp>
      <p:sp>
        <p:nvSpPr>
          <p:cNvPr id="8" name="Rounded Rectangle 7"/>
          <p:cNvSpPr/>
          <p:nvPr/>
        </p:nvSpPr>
        <p:spPr>
          <a:xfrm>
            <a:off x="2893161" y="2377440"/>
            <a:ext cx="2051913" cy="105156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2.0</a:t>
            </a:r>
            <a:br/>
            <a:r>
              <a:t>CUSTOMER</a:t>
            </a:r>
          </a:p>
        </p:txBody>
      </p:sp>
      <p:sp>
        <p:nvSpPr>
          <p:cNvPr id="9" name="Rounded Rectangle 8"/>
          <p:cNvSpPr/>
          <p:nvPr/>
        </p:nvSpPr>
        <p:spPr>
          <a:xfrm>
            <a:off x="5054803" y="2377440"/>
            <a:ext cx="2051913" cy="105156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3.0</a:t>
            </a:r>
            <a:br/>
            <a:r>
              <a:t>VALUES</a:t>
            </a:r>
          </a:p>
        </p:txBody>
      </p:sp>
      <p:sp>
        <p:nvSpPr>
          <p:cNvPr id="10" name="Rounded Rectangle 9"/>
          <p:cNvSpPr/>
          <p:nvPr/>
        </p:nvSpPr>
        <p:spPr>
          <a:xfrm>
            <a:off x="7216444" y="2377440"/>
            <a:ext cx="2051913" cy="105156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4.0</a:t>
            </a:r>
            <a:br/>
            <a:r>
              <a:t>DIGITAL</a:t>
            </a:r>
          </a:p>
        </p:txBody>
      </p:sp>
      <p:sp>
        <p:nvSpPr>
          <p:cNvPr id="11" name="Rounded Rectangle 10"/>
          <p:cNvSpPr/>
          <p:nvPr/>
        </p:nvSpPr>
        <p:spPr>
          <a:xfrm>
            <a:off x="9378086" y="2377440"/>
            <a:ext cx="2051913" cy="105156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5.0</a:t>
            </a:r>
            <a:br/>
            <a:r>
              <a:t>AI</a:t>
            </a:r>
          </a:p>
        </p:txBody>
      </p:sp>
      <p:sp>
        <p:nvSpPr>
          <p:cNvPr id="12" name="TextBox 11"/>
          <p:cNvSpPr txBox="1"/>
          <p:nvPr/>
        </p:nvSpPr>
        <p:spPr>
          <a:xfrm>
            <a:off x="731520" y="3794760"/>
            <a:ext cx="10698480" cy="2011680"/>
          </a:xfrm>
          <a:prstGeom prst="rect">
            <a:avLst/>
          </a:prstGeom>
          <a:noFill/>
        </p:spPr>
        <p:txBody>
          <a:bodyPr wrap="square" lIns="0" rIns="0">
            <a:spAutoFit/>
          </a:bodyPr>
          <a:lstStyle/>
          <a:p>
            <a:pPr>
              <a:spcAft>
                <a:spcPts val="700"/>
              </a:spcAft>
              <a:defRPr sz="1500">
                <a:solidFill>
                  <a:srgbClr val="1F2937"/>
                </a:solidFill>
                <a:latin typeface="Aptos"/>
              </a:defRPr>
            </a:pPr>
            <a:r>
              <a:t>• 1.0: catalogue, thông tin sản phẩm, quảng cáo một chiều.</a:t>
            </a:r>
          </a:p>
          <a:p>
            <a:pPr>
              <a:spcAft>
                <a:spcPts val="700"/>
              </a:spcAft>
              <a:defRPr sz="1500">
                <a:solidFill>
                  <a:srgbClr val="1F2937"/>
                </a:solidFill>
                <a:latin typeface="Aptos"/>
              </a:defRPr>
            </a:pPr>
            <a:r>
              <a:t>• 2.0: cá nhân hóa theo phân khúc demographic/psychographic.</a:t>
            </a:r>
          </a:p>
          <a:p>
            <a:pPr>
              <a:spcAft>
                <a:spcPts val="700"/>
              </a:spcAft>
              <a:defRPr sz="1500">
                <a:solidFill>
                  <a:srgbClr val="1F2937"/>
                </a:solidFill>
                <a:latin typeface="Aptos"/>
              </a:defRPr>
            </a:pPr>
            <a:r>
              <a:t>• 3.0: storytelling gắn giá trị nhân văn, CSR.</a:t>
            </a:r>
          </a:p>
          <a:p>
            <a:pPr>
              <a:spcAft>
                <a:spcPts val="700"/>
              </a:spcAft>
              <a:defRPr sz="1500">
                <a:solidFill>
                  <a:srgbClr val="1F2937"/>
                </a:solidFill>
                <a:latin typeface="Aptos"/>
              </a:defRPr>
            </a:pPr>
            <a:r>
              <a:t>• 4.0: omnichannel, UGC, content trở thành trung tâm chiến lược.</a:t>
            </a:r>
          </a:p>
          <a:p>
            <a:pPr>
              <a:spcAft>
                <a:spcPts val="700"/>
              </a:spcAft>
              <a:defRPr sz="1500">
                <a:solidFill>
                  <a:srgbClr val="1F2937"/>
                </a:solidFill>
                <a:latin typeface="Aptos"/>
              </a:defRPr>
            </a:pPr>
            <a:r>
              <a:t>• 5.0: AI, Big Data, IoT; cá nhân hóa thời gian thực, Predictive Content, Agentic AI.</a:t>
            </a:r>
          </a:p>
        </p:txBody>
      </p:sp>
      <p:sp>
        <p:nvSpPr>
          <p:cNvPr id="13" name="TextBox 1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5A</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10</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Mô hình 5A — khách hàng đang ở đâu?</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Aware → Appeal → Ask → Act → Advocate</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331720"/>
            <a:ext cx="2051913" cy="123444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AWARE</a:t>
            </a:r>
            <a:br/>
            <a:r>
              <a:t>Biết</a:t>
            </a:r>
          </a:p>
        </p:txBody>
      </p:sp>
      <p:sp>
        <p:nvSpPr>
          <p:cNvPr id="8" name="Rounded Rectangle 7"/>
          <p:cNvSpPr/>
          <p:nvPr/>
        </p:nvSpPr>
        <p:spPr>
          <a:xfrm>
            <a:off x="2893161" y="2331720"/>
            <a:ext cx="2051913" cy="123444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APPEAL</a:t>
            </a:r>
            <a:br/>
            <a:r>
              <a:t>Ấn tượng</a:t>
            </a:r>
          </a:p>
        </p:txBody>
      </p:sp>
      <p:sp>
        <p:nvSpPr>
          <p:cNvPr id="9" name="Rounded Rectangle 8"/>
          <p:cNvSpPr/>
          <p:nvPr/>
        </p:nvSpPr>
        <p:spPr>
          <a:xfrm>
            <a:off x="5054803" y="2331720"/>
            <a:ext cx="2051913" cy="123444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ASK</a:t>
            </a:r>
            <a:br/>
            <a:r>
              <a:t>Tìm hiểu</a:t>
            </a:r>
          </a:p>
        </p:txBody>
      </p:sp>
      <p:sp>
        <p:nvSpPr>
          <p:cNvPr id="10" name="Rounded Rectangle 9"/>
          <p:cNvSpPr/>
          <p:nvPr/>
        </p:nvSpPr>
        <p:spPr>
          <a:xfrm>
            <a:off x="7216444" y="2331720"/>
            <a:ext cx="2051913" cy="123444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ACT</a:t>
            </a:r>
            <a:br/>
            <a:r>
              <a:t>Mua</a:t>
            </a:r>
          </a:p>
        </p:txBody>
      </p:sp>
      <p:sp>
        <p:nvSpPr>
          <p:cNvPr id="11" name="Rounded Rectangle 10"/>
          <p:cNvSpPr/>
          <p:nvPr/>
        </p:nvSpPr>
        <p:spPr>
          <a:xfrm>
            <a:off x="9378086" y="2331720"/>
            <a:ext cx="2051913" cy="123444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ADVOCATE</a:t>
            </a:r>
            <a:br/>
            <a:r>
              <a:t>Ủng hộ</a:t>
            </a:r>
          </a:p>
        </p:txBody>
      </p:sp>
      <p:sp>
        <p:nvSpPr>
          <p:cNvPr id="12" name="TextBox 11"/>
          <p:cNvSpPr txBox="1"/>
          <p:nvPr/>
        </p:nvSpPr>
        <p:spPr>
          <a:xfrm>
            <a:off x="731520" y="3977639"/>
            <a:ext cx="10698480" cy="1828800"/>
          </a:xfrm>
          <a:prstGeom prst="rect">
            <a:avLst/>
          </a:prstGeom>
          <a:noFill/>
        </p:spPr>
        <p:txBody>
          <a:bodyPr wrap="square" lIns="0" rIns="0">
            <a:spAutoFit/>
          </a:bodyPr>
          <a:lstStyle/>
          <a:p>
            <a:pPr>
              <a:spcAft>
                <a:spcPts val="700"/>
              </a:spcAft>
              <a:defRPr sz="1500">
                <a:solidFill>
                  <a:srgbClr val="1F2937"/>
                </a:solidFill>
                <a:latin typeface="Aptos"/>
              </a:defRPr>
            </a:pPr>
            <a:r>
              <a:t>• Aware: video viral, content trending, KOL review.</a:t>
            </a:r>
          </a:p>
          <a:p>
            <a:pPr>
              <a:spcAft>
                <a:spcPts val="700"/>
              </a:spcAft>
              <a:defRPr sz="1500">
                <a:solidFill>
                  <a:srgbClr val="1F2937"/>
                </a:solidFill>
                <a:latin typeface="Aptos"/>
              </a:defRPr>
            </a:pPr>
            <a:r>
              <a:t>• Appeal: storytelling, how-to, tips, so sánh.</a:t>
            </a:r>
          </a:p>
          <a:p>
            <a:pPr>
              <a:spcAft>
                <a:spcPts val="700"/>
              </a:spcAft>
              <a:defRPr sz="1500">
                <a:solidFill>
                  <a:srgbClr val="1F2937"/>
                </a:solidFill>
                <a:latin typeface="Aptos"/>
              </a:defRPr>
            </a:pPr>
            <a:r>
              <a:t>• Ask: blog chuyên sâu, FAQ, review, SEO.</a:t>
            </a:r>
          </a:p>
          <a:p>
            <a:pPr>
              <a:spcAft>
                <a:spcPts val="700"/>
              </a:spcAft>
              <a:defRPr sz="1500">
                <a:solidFill>
                  <a:srgbClr val="1F2937"/>
                </a:solidFill>
                <a:latin typeface="Aptos"/>
              </a:defRPr>
            </a:pPr>
            <a:r>
              <a:t>• Act: landing page, ưu đãi, hướng dẫn sử dụng.</a:t>
            </a:r>
          </a:p>
          <a:p>
            <a:pPr>
              <a:spcAft>
                <a:spcPts val="700"/>
              </a:spcAft>
              <a:defRPr sz="1500">
                <a:solidFill>
                  <a:srgbClr val="1F2937"/>
                </a:solidFill>
                <a:latin typeface="Aptos"/>
              </a:defRPr>
            </a:pPr>
            <a:r>
              <a:t>• Advocate: UGC, referral, testimonial, cộng đồng.</a:t>
            </a:r>
          </a:p>
        </p:txBody>
      </p:sp>
      <p:sp>
        <p:nvSpPr>
          <p:cNvPr id="13" name="TextBox 1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1 • FUNNEL</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11</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TOFU → MOFU → BOFU → Loyalty</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Content phải đi cùng mục tiêu và KPI</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2148840"/>
            <a:ext cx="2651760" cy="347472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2148840"/>
            <a:ext cx="73152" cy="347472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304288"/>
            <a:ext cx="2286000" cy="411480"/>
          </a:xfrm>
          <a:prstGeom prst="rect">
            <a:avLst/>
          </a:prstGeom>
          <a:noFill/>
        </p:spPr>
        <p:txBody>
          <a:bodyPr wrap="none">
            <a:spAutoFit/>
          </a:bodyPr>
          <a:lstStyle/>
          <a:p>
            <a:pPr>
              <a:defRPr sz="1700" b="1">
                <a:solidFill>
                  <a:srgbClr val="111C2D"/>
                </a:solidFill>
                <a:latin typeface="Aptos Display"/>
              </a:defRPr>
            </a:pPr>
            <a:r>
              <a:t>TOFU</a:t>
            </a:r>
          </a:p>
        </p:txBody>
      </p:sp>
      <p:sp>
        <p:nvSpPr>
          <p:cNvPr id="10" name="TextBox 9"/>
          <p:cNvSpPr txBox="1"/>
          <p:nvPr/>
        </p:nvSpPr>
        <p:spPr>
          <a:xfrm>
            <a:off x="795528" y="2761488"/>
            <a:ext cx="2267712" cy="2724912"/>
          </a:xfrm>
          <a:prstGeom prst="rect">
            <a:avLst/>
          </a:prstGeom>
          <a:noFill/>
        </p:spPr>
        <p:txBody>
          <a:bodyPr wrap="square">
            <a:spAutoFit/>
          </a:bodyPr>
          <a:lstStyle/>
          <a:p>
            <a:pPr>
              <a:defRPr sz="1350">
                <a:solidFill>
                  <a:srgbClr val="1F2937"/>
                </a:solidFill>
                <a:latin typeface="Aptos"/>
              </a:defRPr>
            </a:pPr>
            <a:r>
              <a:t>Mục tiêu: Awareness</a:t>
            </a:r>
            <a:br/>
            <a:r>
              <a:t>Content: blog, short video, infographic, viral social</a:t>
            </a:r>
            <a:br/>
            <a:r>
              <a:t>KPI: Reach, Impressions, Traffic, Follow mới</a:t>
            </a:r>
          </a:p>
        </p:txBody>
      </p:sp>
      <p:sp>
        <p:nvSpPr>
          <p:cNvPr id="11" name="Rounded Rectangle 10"/>
          <p:cNvSpPr/>
          <p:nvPr/>
        </p:nvSpPr>
        <p:spPr>
          <a:xfrm>
            <a:off x="3429000" y="2148840"/>
            <a:ext cx="2651760" cy="347472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2148840"/>
            <a:ext cx="73152" cy="347472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2304288"/>
            <a:ext cx="2286000" cy="411480"/>
          </a:xfrm>
          <a:prstGeom prst="rect">
            <a:avLst/>
          </a:prstGeom>
          <a:noFill/>
        </p:spPr>
        <p:txBody>
          <a:bodyPr wrap="none">
            <a:spAutoFit/>
          </a:bodyPr>
          <a:lstStyle/>
          <a:p>
            <a:pPr>
              <a:defRPr sz="1700" b="1">
                <a:solidFill>
                  <a:srgbClr val="111C2D"/>
                </a:solidFill>
                <a:latin typeface="Aptos Display"/>
              </a:defRPr>
            </a:pPr>
            <a:r>
              <a:t>MOFU</a:t>
            </a:r>
          </a:p>
        </p:txBody>
      </p:sp>
      <p:sp>
        <p:nvSpPr>
          <p:cNvPr id="14" name="TextBox 13"/>
          <p:cNvSpPr txBox="1"/>
          <p:nvPr/>
        </p:nvSpPr>
        <p:spPr>
          <a:xfrm>
            <a:off x="3630168" y="2761488"/>
            <a:ext cx="2267712" cy="2724912"/>
          </a:xfrm>
          <a:prstGeom prst="rect">
            <a:avLst/>
          </a:prstGeom>
          <a:noFill/>
        </p:spPr>
        <p:txBody>
          <a:bodyPr wrap="square">
            <a:spAutoFit/>
          </a:bodyPr>
          <a:lstStyle/>
          <a:p>
            <a:pPr>
              <a:defRPr sz="1350">
                <a:solidFill>
                  <a:srgbClr val="1F2937"/>
                </a:solidFill>
                <a:latin typeface="Aptos"/>
              </a:defRPr>
            </a:pPr>
            <a:r>
              <a:t>Mục tiêu: Nuôi dưỡng &amp; niềm tin</a:t>
            </a:r>
            <a:br/>
            <a:r>
              <a:t>Content: Ebook, Case, Webinar, Email, Review</a:t>
            </a:r>
            <a:br/>
            <a:r>
              <a:t>KPI: Lead, Subscribe, Time on page, Download</a:t>
            </a:r>
          </a:p>
        </p:txBody>
      </p:sp>
      <p:sp>
        <p:nvSpPr>
          <p:cNvPr id="15" name="Rounded Rectangle 14"/>
          <p:cNvSpPr/>
          <p:nvPr/>
        </p:nvSpPr>
        <p:spPr>
          <a:xfrm>
            <a:off x="6263640" y="2148840"/>
            <a:ext cx="2651760" cy="347472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2148840"/>
            <a:ext cx="73152" cy="347472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2304288"/>
            <a:ext cx="2286000" cy="411480"/>
          </a:xfrm>
          <a:prstGeom prst="rect">
            <a:avLst/>
          </a:prstGeom>
          <a:noFill/>
        </p:spPr>
        <p:txBody>
          <a:bodyPr wrap="none">
            <a:spAutoFit/>
          </a:bodyPr>
          <a:lstStyle/>
          <a:p>
            <a:pPr>
              <a:defRPr sz="1700" b="1">
                <a:solidFill>
                  <a:srgbClr val="111C2D"/>
                </a:solidFill>
                <a:latin typeface="Aptos Display"/>
              </a:defRPr>
            </a:pPr>
            <a:r>
              <a:t>BOFU</a:t>
            </a:r>
          </a:p>
        </p:txBody>
      </p:sp>
      <p:sp>
        <p:nvSpPr>
          <p:cNvPr id="18" name="TextBox 17"/>
          <p:cNvSpPr txBox="1"/>
          <p:nvPr/>
        </p:nvSpPr>
        <p:spPr>
          <a:xfrm>
            <a:off x="6464807" y="2761488"/>
            <a:ext cx="2267712" cy="2724912"/>
          </a:xfrm>
          <a:prstGeom prst="rect">
            <a:avLst/>
          </a:prstGeom>
          <a:noFill/>
        </p:spPr>
        <p:txBody>
          <a:bodyPr wrap="square">
            <a:spAutoFit/>
          </a:bodyPr>
          <a:lstStyle/>
          <a:p>
            <a:pPr>
              <a:defRPr sz="1350">
                <a:solidFill>
                  <a:srgbClr val="1F2937"/>
                </a:solidFill>
                <a:latin typeface="Aptos"/>
              </a:defRPr>
            </a:pPr>
            <a:r>
              <a:t>Mục tiêu: Quyết định mua</a:t>
            </a:r>
            <a:br/>
            <a:r>
              <a:t>Content: Landing page, Demo, Testimonial, FAQ</a:t>
            </a:r>
            <a:br/>
            <a:r>
              <a:t>KPI: CVR, CTR, Sales, Add to cart</a:t>
            </a:r>
          </a:p>
        </p:txBody>
      </p:sp>
      <p:sp>
        <p:nvSpPr>
          <p:cNvPr id="19" name="Rounded Rectangle 18"/>
          <p:cNvSpPr/>
          <p:nvPr/>
        </p:nvSpPr>
        <p:spPr>
          <a:xfrm>
            <a:off x="9098280" y="2148840"/>
            <a:ext cx="2468880" cy="3474720"/>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2148840"/>
            <a:ext cx="73152" cy="3474720"/>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04288"/>
            <a:ext cx="2103120" cy="411480"/>
          </a:xfrm>
          <a:prstGeom prst="rect">
            <a:avLst/>
          </a:prstGeom>
          <a:noFill/>
        </p:spPr>
        <p:txBody>
          <a:bodyPr wrap="none">
            <a:spAutoFit/>
          </a:bodyPr>
          <a:lstStyle/>
          <a:p>
            <a:pPr>
              <a:defRPr sz="1700" b="1">
                <a:solidFill>
                  <a:srgbClr val="111C2D"/>
                </a:solidFill>
                <a:latin typeface="Aptos Display"/>
              </a:defRPr>
            </a:pPr>
            <a:r>
              <a:t>LOYALTY</a:t>
            </a:r>
          </a:p>
        </p:txBody>
      </p:sp>
      <p:sp>
        <p:nvSpPr>
          <p:cNvPr id="22" name="TextBox 21"/>
          <p:cNvSpPr txBox="1"/>
          <p:nvPr/>
        </p:nvSpPr>
        <p:spPr>
          <a:xfrm>
            <a:off x="9299448" y="2761488"/>
            <a:ext cx="2084832" cy="2724912"/>
          </a:xfrm>
          <a:prstGeom prst="rect">
            <a:avLst/>
          </a:prstGeom>
          <a:noFill/>
        </p:spPr>
        <p:txBody>
          <a:bodyPr wrap="square">
            <a:spAutoFit/>
          </a:bodyPr>
          <a:lstStyle/>
          <a:p>
            <a:pPr>
              <a:defRPr sz="1320">
                <a:solidFill>
                  <a:srgbClr val="1F2937"/>
                </a:solidFill>
                <a:latin typeface="Aptos"/>
              </a:defRPr>
            </a:pPr>
            <a:r>
              <a:t>Mục tiêu: Giữ chân &amp; Advocate</a:t>
            </a:r>
            <a:br/>
            <a:r>
              <a:t>Content: Chăm sóc sau bán, loyalty, UGC</a:t>
            </a:r>
            <a:br/>
            <a:r>
              <a:t>KPI: Retention, NPS, Referral</a:t>
            </a:r>
          </a:p>
        </p:txBody>
      </p:sp>
      <p:sp>
        <p:nvSpPr>
          <p:cNvPr id="23" name="TextBox 2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1 • CONTENT FORMATS</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Format Taxonomy</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Không có một format “tốt nhất” — chỉ có format phù hợp.</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874519"/>
          <a:ext cx="11155680" cy="4526280"/>
        </p:xfrm>
        <a:graphic>
          <a:graphicData uri="http://schemas.openxmlformats.org/drawingml/2006/table">
            <a:tbl>
              <a:tblPr firstRow="1" bandRow="1">
                <a:tableStyleId>{5C22544A-7EE6-4342-B048-85BDC9FD1C3A}</a:tableStyleId>
              </a:tblPr>
              <a:tblGrid>
                <a:gridCol w="2788920"/>
                <a:gridCol w="2788920"/>
                <a:gridCol w="2788920"/>
                <a:gridCol w="2788920"/>
              </a:tblGrid>
              <a:tr h="565785">
                <a:tc>
                  <a:txBody>
                    <a:bodyPr/>
                    <a:lstStyle/>
                    <a:p>
                      <a:pPr algn="ctr">
                        <a:defRPr sz="1080" b="1">
                          <a:solidFill>
                            <a:srgbClr val="FFFFFF"/>
                          </a:solidFill>
                          <a:latin typeface="Aptos"/>
                        </a:defRPr>
                      </a:pPr>
                      <a:r>
                        <a:t>Nhóm</a:t>
                      </a:r>
                    </a:p>
                  </a:txBody>
                  <a:tcPr>
                    <a:solidFill>
                      <a:srgbClr val="111C2D"/>
                    </a:solidFill>
                  </a:tcPr>
                </a:tc>
                <a:tc>
                  <a:txBody>
                    <a:bodyPr/>
                    <a:lstStyle/>
                    <a:p>
                      <a:pPr algn="ctr">
                        <a:defRPr sz="1080" b="1">
                          <a:solidFill>
                            <a:srgbClr val="FFFFFF"/>
                          </a:solidFill>
                          <a:latin typeface="Aptos"/>
                        </a:defRPr>
                      </a:pPr>
                      <a:r>
                        <a:t>Ví dụ</a:t>
                      </a:r>
                    </a:p>
                  </a:txBody>
                  <a:tcPr>
                    <a:solidFill>
                      <a:srgbClr val="111C2D"/>
                    </a:solidFill>
                  </a:tcPr>
                </a:tc>
                <a:tc>
                  <a:txBody>
                    <a:bodyPr/>
                    <a:lstStyle/>
                    <a:p>
                      <a:pPr algn="ctr">
                        <a:defRPr sz="1080" b="1">
                          <a:solidFill>
                            <a:srgbClr val="FFFFFF"/>
                          </a:solidFill>
                          <a:latin typeface="Aptos"/>
                        </a:defRPr>
                      </a:pPr>
                      <a:r>
                        <a:t>Kênh</a:t>
                      </a:r>
                    </a:p>
                  </a:txBody>
                  <a:tcPr>
                    <a:solidFill>
                      <a:srgbClr val="111C2D"/>
                    </a:solidFill>
                  </a:tcPr>
                </a:tc>
                <a:tc>
                  <a:txBody>
                    <a:bodyPr/>
                    <a:lstStyle/>
                    <a:p>
                      <a:pPr algn="ctr">
                        <a:defRPr sz="1080" b="1">
                          <a:solidFill>
                            <a:srgbClr val="FFFFFF"/>
                          </a:solidFill>
                          <a:latin typeface="Aptos"/>
                        </a:defRPr>
                      </a:pPr>
                      <a:r>
                        <a:t>Ưu điểm / Nhược điểm</a:t>
                      </a:r>
                    </a:p>
                  </a:txBody>
                  <a:tcPr>
                    <a:solidFill>
                      <a:srgbClr val="111C2D"/>
                    </a:solidFill>
                  </a:tcPr>
                </a:tc>
              </a:tr>
              <a:tr h="565785">
                <a:tc>
                  <a:txBody>
                    <a:bodyPr/>
                    <a:lstStyle/>
                    <a:p>
                      <a:pPr algn="ctr">
                        <a:defRPr sz="1030">
                          <a:solidFill>
                            <a:srgbClr val="1F2937"/>
                          </a:solidFill>
                          <a:latin typeface="Aptos"/>
                        </a:defRPr>
                      </a:pPr>
                      <a:r>
                        <a:t>Text</a:t>
                      </a:r>
                    </a:p>
                  </a:txBody>
                  <a:tcPr marL="73152" marR="54864" marT="45720" marB="45720">
                    <a:solidFill>
                      <a:srgbClr val="FFFFFF"/>
                    </a:solidFill>
                  </a:tcPr>
                </a:tc>
                <a:tc>
                  <a:txBody>
                    <a:bodyPr/>
                    <a:lstStyle/>
                    <a:p>
                      <a:pPr algn="l">
                        <a:defRPr sz="1030">
                          <a:solidFill>
                            <a:srgbClr val="1F2937"/>
                          </a:solidFill>
                          <a:latin typeface="Aptos"/>
                        </a:defRPr>
                      </a:pPr>
                      <a:r>
                        <a:t>Blog, SEO, ebook, email</a:t>
                      </a:r>
                    </a:p>
                  </a:txBody>
                  <a:tcPr marL="73152" marR="54864" marT="45720" marB="45720">
                    <a:solidFill>
                      <a:srgbClr val="FFFFFF"/>
                    </a:solidFill>
                  </a:tcPr>
                </a:tc>
                <a:tc>
                  <a:txBody>
                    <a:bodyPr/>
                    <a:lstStyle/>
                    <a:p>
                      <a:pPr algn="l">
                        <a:defRPr sz="1030">
                          <a:solidFill>
                            <a:srgbClr val="1F2937"/>
                          </a:solidFill>
                          <a:latin typeface="Aptos"/>
                        </a:defRPr>
                      </a:pPr>
                      <a:r>
                        <a:t>Website, LinkedIn, Email</a:t>
                      </a:r>
                    </a:p>
                  </a:txBody>
                  <a:tcPr marL="73152" marR="54864" marT="45720" marB="45720">
                    <a:solidFill>
                      <a:srgbClr val="FFFFFF"/>
                    </a:solidFill>
                  </a:tcPr>
                </a:tc>
                <a:tc>
                  <a:txBody>
                    <a:bodyPr/>
                    <a:lstStyle/>
                    <a:p>
                      <a:pPr algn="l">
                        <a:defRPr sz="1030">
                          <a:solidFill>
                            <a:srgbClr val="1F2937"/>
                          </a:solidFill>
                          <a:latin typeface="Aptos"/>
                        </a:defRPr>
                      </a:pPr>
                      <a:r>
                        <a:t>Rẻ, sâu, dễ SEO / cần thời gian đọc</a:t>
                      </a:r>
                    </a:p>
                  </a:txBody>
                  <a:tcPr marL="73152" marR="54864" marT="45720" marB="45720">
                    <a:solidFill>
                      <a:srgbClr val="FFFFFF"/>
                    </a:solidFill>
                  </a:tcPr>
                </a:tc>
              </a:tr>
              <a:tr h="565785">
                <a:tc>
                  <a:txBody>
                    <a:bodyPr/>
                    <a:lstStyle/>
                    <a:p>
                      <a:pPr algn="ctr">
                        <a:defRPr sz="1030">
                          <a:solidFill>
                            <a:srgbClr val="1F2937"/>
                          </a:solidFill>
                          <a:latin typeface="Aptos"/>
                        </a:defRPr>
                      </a:pPr>
                      <a:r>
                        <a:t>Visual</a:t>
                      </a:r>
                    </a:p>
                  </a:txBody>
                  <a:tcPr marL="73152" marR="54864" marT="45720" marB="45720">
                    <a:solidFill>
                      <a:srgbClr val="F2F5F8"/>
                    </a:solidFill>
                  </a:tcPr>
                </a:tc>
                <a:tc>
                  <a:txBody>
                    <a:bodyPr/>
                    <a:lstStyle/>
                    <a:p>
                      <a:pPr algn="l">
                        <a:defRPr sz="1030">
                          <a:solidFill>
                            <a:srgbClr val="1F2937"/>
                          </a:solidFill>
                          <a:latin typeface="Aptos"/>
                        </a:defRPr>
                      </a:pPr>
                      <a:r>
                        <a:t>Infographic, carousel, meme</a:t>
                      </a:r>
                    </a:p>
                  </a:txBody>
                  <a:tcPr marL="73152" marR="54864" marT="45720" marB="45720">
                    <a:solidFill>
                      <a:srgbClr val="F2F5F8"/>
                    </a:solidFill>
                  </a:tcPr>
                </a:tc>
                <a:tc>
                  <a:txBody>
                    <a:bodyPr/>
                    <a:lstStyle/>
                    <a:p>
                      <a:pPr algn="l">
                        <a:defRPr sz="1030">
                          <a:solidFill>
                            <a:srgbClr val="1F2937"/>
                          </a:solidFill>
                          <a:latin typeface="Aptos"/>
                        </a:defRPr>
                      </a:pPr>
                      <a:r>
                        <a:t>IG, FB, Pinterest</a:t>
                      </a:r>
                    </a:p>
                  </a:txBody>
                  <a:tcPr marL="73152" marR="54864" marT="45720" marB="45720">
                    <a:solidFill>
                      <a:srgbClr val="F2F5F8"/>
                    </a:solidFill>
                  </a:tcPr>
                </a:tc>
                <a:tc>
                  <a:txBody>
                    <a:bodyPr/>
                    <a:lstStyle/>
                    <a:p>
                      <a:pPr algn="l">
                        <a:defRPr sz="1030">
                          <a:solidFill>
                            <a:srgbClr val="1F2937"/>
                          </a:solidFill>
                          <a:latin typeface="Aptos"/>
                        </a:defRPr>
                      </a:pPr>
                      <a:r>
                        <a:t>Dễ tiếp cận / thông tin hạn chế</a:t>
                      </a:r>
                    </a:p>
                  </a:txBody>
                  <a:tcPr marL="73152" marR="54864" marT="45720" marB="45720">
                    <a:solidFill>
                      <a:srgbClr val="F2F5F8"/>
                    </a:solidFill>
                  </a:tcPr>
                </a:tc>
              </a:tr>
              <a:tr h="565785">
                <a:tc>
                  <a:txBody>
                    <a:bodyPr/>
                    <a:lstStyle/>
                    <a:p>
                      <a:pPr algn="ctr">
                        <a:defRPr sz="1030">
                          <a:solidFill>
                            <a:srgbClr val="1F2937"/>
                          </a:solidFill>
                          <a:latin typeface="Aptos"/>
                        </a:defRPr>
                      </a:pPr>
                      <a:r>
                        <a:t>Video</a:t>
                      </a:r>
                    </a:p>
                  </a:txBody>
                  <a:tcPr marL="73152" marR="54864" marT="45720" marB="45720">
                    <a:solidFill>
                      <a:srgbClr val="FFFFFF"/>
                    </a:solidFill>
                  </a:tcPr>
                </a:tc>
                <a:tc>
                  <a:txBody>
                    <a:bodyPr/>
                    <a:lstStyle/>
                    <a:p>
                      <a:pPr algn="l">
                        <a:defRPr sz="1030">
                          <a:solidFill>
                            <a:srgbClr val="1F2937"/>
                          </a:solidFill>
                          <a:latin typeface="Aptos"/>
                        </a:defRPr>
                      </a:pPr>
                      <a:r>
                        <a:t>Reels, TikTok, YouTube, live</a:t>
                      </a:r>
                    </a:p>
                  </a:txBody>
                  <a:tcPr marL="73152" marR="54864" marT="45720" marB="45720">
                    <a:solidFill>
                      <a:srgbClr val="FFFFFF"/>
                    </a:solidFill>
                  </a:tcPr>
                </a:tc>
                <a:tc>
                  <a:txBody>
                    <a:bodyPr/>
                    <a:lstStyle/>
                    <a:p>
                      <a:pPr algn="l">
                        <a:defRPr sz="1030">
                          <a:solidFill>
                            <a:srgbClr val="1F2937"/>
                          </a:solidFill>
                          <a:latin typeface="Aptos"/>
                        </a:defRPr>
                      </a:pPr>
                      <a:r>
                        <a:t>TikTok, YouTube, FB</a:t>
                      </a:r>
                    </a:p>
                  </a:txBody>
                  <a:tcPr marL="73152" marR="54864" marT="45720" marB="45720">
                    <a:solidFill>
                      <a:srgbClr val="FFFFFF"/>
                    </a:solidFill>
                  </a:tcPr>
                </a:tc>
                <a:tc>
                  <a:txBody>
                    <a:bodyPr/>
                    <a:lstStyle/>
                    <a:p>
                      <a:pPr algn="l">
                        <a:defRPr sz="1030">
                          <a:solidFill>
                            <a:srgbClr val="1F2937"/>
                          </a:solidFill>
                          <a:latin typeface="Aptos"/>
                        </a:defRPr>
                      </a:pPr>
                      <a:r>
                        <a:t>Tương tác cao / sản xuất tốn hơn</a:t>
                      </a:r>
                    </a:p>
                  </a:txBody>
                  <a:tcPr marL="73152" marR="54864" marT="45720" marB="45720">
                    <a:solidFill>
                      <a:srgbClr val="FFFFFF"/>
                    </a:solidFill>
                  </a:tcPr>
                </a:tc>
              </a:tr>
              <a:tr h="565785">
                <a:tc>
                  <a:txBody>
                    <a:bodyPr/>
                    <a:lstStyle/>
                    <a:p>
                      <a:pPr algn="ctr">
                        <a:defRPr sz="1030">
                          <a:solidFill>
                            <a:srgbClr val="1F2937"/>
                          </a:solidFill>
                          <a:latin typeface="Aptos"/>
                        </a:defRPr>
                      </a:pPr>
                      <a:r>
                        <a:t>Audio</a:t>
                      </a:r>
                    </a:p>
                  </a:txBody>
                  <a:tcPr marL="73152" marR="54864" marT="45720" marB="45720">
                    <a:solidFill>
                      <a:srgbClr val="F2F5F8"/>
                    </a:solidFill>
                  </a:tcPr>
                </a:tc>
                <a:tc>
                  <a:txBody>
                    <a:bodyPr/>
                    <a:lstStyle/>
                    <a:p>
                      <a:pPr algn="l">
                        <a:defRPr sz="1030">
                          <a:solidFill>
                            <a:srgbClr val="1F2937"/>
                          </a:solidFill>
                          <a:latin typeface="Aptos"/>
                        </a:defRPr>
                      </a:pPr>
                      <a:r>
                        <a:t>Podcast, audio ads</a:t>
                      </a:r>
                    </a:p>
                  </a:txBody>
                  <a:tcPr marL="73152" marR="54864" marT="45720" marB="45720">
                    <a:solidFill>
                      <a:srgbClr val="F2F5F8"/>
                    </a:solidFill>
                  </a:tcPr>
                </a:tc>
                <a:tc>
                  <a:txBody>
                    <a:bodyPr/>
                    <a:lstStyle/>
                    <a:p>
                      <a:pPr algn="l">
                        <a:defRPr sz="1030">
                          <a:solidFill>
                            <a:srgbClr val="1F2937"/>
                          </a:solidFill>
                          <a:latin typeface="Aptos"/>
                        </a:defRPr>
                      </a:pPr>
                      <a:r>
                        <a:t>Spotify, Apple Podcast</a:t>
                      </a:r>
                    </a:p>
                  </a:txBody>
                  <a:tcPr marL="73152" marR="54864" marT="45720" marB="45720">
                    <a:solidFill>
                      <a:srgbClr val="F2F5F8"/>
                    </a:solidFill>
                  </a:tcPr>
                </a:tc>
                <a:tc>
                  <a:txBody>
                    <a:bodyPr/>
                    <a:lstStyle/>
                    <a:p>
                      <a:pPr algn="l">
                        <a:defRPr sz="1030">
                          <a:solidFill>
                            <a:srgbClr val="1F2937"/>
                          </a:solidFill>
                          <a:latin typeface="Aptos"/>
                        </a:defRPr>
                      </a:pPr>
                      <a:r>
                        <a:t>Đa nhiệm / kén người nghe</a:t>
                      </a:r>
                    </a:p>
                  </a:txBody>
                  <a:tcPr marL="73152" marR="54864" marT="45720" marB="45720">
                    <a:solidFill>
                      <a:srgbClr val="F2F5F8"/>
                    </a:solidFill>
                  </a:tcPr>
                </a:tc>
              </a:tr>
              <a:tr h="565785">
                <a:tc>
                  <a:txBody>
                    <a:bodyPr/>
                    <a:lstStyle/>
                    <a:p>
                      <a:pPr algn="ctr">
                        <a:defRPr sz="1030">
                          <a:solidFill>
                            <a:srgbClr val="1F2937"/>
                          </a:solidFill>
                          <a:latin typeface="Aptos"/>
                        </a:defRPr>
                      </a:pPr>
                      <a:r>
                        <a:t>Interactive</a:t>
                      </a:r>
                    </a:p>
                  </a:txBody>
                  <a:tcPr marL="73152" marR="54864" marT="45720" marB="45720">
                    <a:solidFill>
                      <a:srgbClr val="FFFFFF"/>
                    </a:solidFill>
                  </a:tcPr>
                </a:tc>
                <a:tc>
                  <a:txBody>
                    <a:bodyPr/>
                    <a:lstStyle/>
                    <a:p>
                      <a:pPr algn="l">
                        <a:defRPr sz="1030">
                          <a:solidFill>
                            <a:srgbClr val="1F2937"/>
                          </a:solidFill>
                          <a:latin typeface="Aptos"/>
                        </a:defRPr>
                      </a:pPr>
                      <a:r>
                        <a:t>Quiz, survey, minigame, AR</a:t>
                      </a:r>
                    </a:p>
                  </a:txBody>
                  <a:tcPr marL="73152" marR="54864" marT="45720" marB="45720">
                    <a:solidFill>
                      <a:srgbClr val="FFFFFF"/>
                    </a:solidFill>
                  </a:tcPr>
                </a:tc>
                <a:tc>
                  <a:txBody>
                    <a:bodyPr/>
                    <a:lstStyle/>
                    <a:p>
                      <a:pPr algn="l">
                        <a:defRPr sz="1030">
                          <a:solidFill>
                            <a:srgbClr val="1F2937"/>
                          </a:solidFill>
                          <a:latin typeface="Aptos"/>
                        </a:defRPr>
                      </a:pPr>
                      <a:r>
                        <a:t>Web, IG, TikTok</a:t>
                      </a:r>
                    </a:p>
                  </a:txBody>
                  <a:tcPr marL="73152" marR="54864" marT="45720" marB="45720">
                    <a:solidFill>
                      <a:srgbClr val="FFFFFF"/>
                    </a:solidFill>
                  </a:tcPr>
                </a:tc>
                <a:tc>
                  <a:txBody>
                    <a:bodyPr/>
                    <a:lstStyle/>
                    <a:p>
                      <a:pPr algn="l">
                        <a:defRPr sz="1030">
                          <a:solidFill>
                            <a:srgbClr val="1F2937"/>
                          </a:solidFill>
                          <a:latin typeface="Aptos"/>
                        </a:defRPr>
                      </a:pPr>
                      <a:r>
                        <a:t>Tương tác + data / cần kỹ thuật</a:t>
                      </a:r>
                    </a:p>
                  </a:txBody>
                  <a:tcPr marL="73152" marR="54864" marT="45720" marB="45720">
                    <a:solidFill>
                      <a:srgbClr val="FFFFFF"/>
                    </a:solidFill>
                  </a:tcPr>
                </a:tc>
              </a:tr>
              <a:tr h="565785">
                <a:tc>
                  <a:txBody>
                    <a:bodyPr/>
                    <a:lstStyle/>
                    <a:p>
                      <a:pPr algn="ctr">
                        <a:defRPr sz="1030">
                          <a:solidFill>
                            <a:srgbClr val="1F2937"/>
                          </a:solidFill>
                          <a:latin typeface="Aptos"/>
                        </a:defRPr>
                      </a:pPr>
                      <a:r>
                        <a:t>UGC</a:t>
                      </a:r>
                    </a:p>
                  </a:txBody>
                  <a:tcPr marL="73152" marR="54864" marT="45720" marB="45720">
                    <a:solidFill>
                      <a:srgbClr val="F2F5F8"/>
                    </a:solidFill>
                  </a:tcPr>
                </a:tc>
                <a:tc>
                  <a:txBody>
                    <a:bodyPr/>
                    <a:lstStyle/>
                    <a:p>
                      <a:pPr algn="l">
                        <a:defRPr sz="1030">
                          <a:solidFill>
                            <a:srgbClr val="1F2937"/>
                          </a:solidFill>
                          <a:latin typeface="Aptos"/>
                        </a:defRPr>
                      </a:pPr>
                      <a:r>
                        <a:t>Review, unboxing, hashtag</a:t>
                      </a:r>
                    </a:p>
                  </a:txBody>
                  <a:tcPr marL="73152" marR="54864" marT="45720" marB="45720">
                    <a:solidFill>
                      <a:srgbClr val="F2F5F8"/>
                    </a:solidFill>
                  </a:tcPr>
                </a:tc>
                <a:tc>
                  <a:txBody>
                    <a:bodyPr/>
                    <a:lstStyle/>
                    <a:p>
                      <a:pPr algn="l">
                        <a:defRPr sz="1030">
                          <a:solidFill>
                            <a:srgbClr val="1F2937"/>
                          </a:solidFill>
                          <a:latin typeface="Aptos"/>
                        </a:defRPr>
                      </a:pPr>
                      <a:r>
                        <a:t>TikTok, IG, sàn TMĐT</a:t>
                      </a:r>
                    </a:p>
                  </a:txBody>
                  <a:tcPr marL="73152" marR="54864" marT="45720" marB="45720">
                    <a:solidFill>
                      <a:srgbClr val="F2F5F8"/>
                    </a:solidFill>
                  </a:tcPr>
                </a:tc>
                <a:tc>
                  <a:txBody>
                    <a:bodyPr/>
                    <a:lstStyle/>
                    <a:p>
                      <a:pPr algn="l">
                        <a:defRPr sz="1030">
                          <a:solidFill>
                            <a:srgbClr val="1F2937"/>
                          </a:solidFill>
                          <a:latin typeface="Aptos"/>
                        </a:defRPr>
                      </a:pPr>
                      <a:r>
                        <a:t>Tin cậy, rẻ / khó kiểm soát</a:t>
                      </a:r>
                    </a:p>
                  </a:txBody>
                  <a:tcPr marL="73152" marR="54864" marT="45720" marB="45720">
                    <a:solidFill>
                      <a:srgbClr val="F2F5F8"/>
                    </a:solidFill>
                  </a:tcPr>
                </a:tc>
              </a:tr>
              <a:tr h="565785">
                <a:tc>
                  <a:txBody>
                    <a:bodyPr/>
                    <a:lstStyle/>
                    <a:p>
                      <a:pPr algn="ctr">
                        <a:defRPr sz="1030">
                          <a:solidFill>
                            <a:srgbClr val="1F2937"/>
                          </a:solidFill>
                          <a:latin typeface="Aptos"/>
                        </a:defRPr>
                      </a:pPr>
                      <a:r>
                        <a:t>Live/Shoppertainment</a:t>
                      </a:r>
                    </a:p>
                  </a:txBody>
                  <a:tcPr marL="73152" marR="54864" marT="45720" marB="45720">
                    <a:solidFill>
                      <a:srgbClr val="FFFFFF"/>
                    </a:solidFill>
                  </a:tcPr>
                </a:tc>
                <a:tc>
                  <a:txBody>
                    <a:bodyPr/>
                    <a:lstStyle/>
                    <a:p>
                      <a:pPr algn="l">
                        <a:defRPr sz="1030">
                          <a:solidFill>
                            <a:srgbClr val="1F2937"/>
                          </a:solidFill>
                          <a:latin typeface="Aptos"/>
                        </a:defRPr>
                      </a:pPr>
                      <a:r>
                        <a:t>Livestream, gameshow</a:t>
                      </a:r>
                    </a:p>
                  </a:txBody>
                  <a:tcPr marL="73152" marR="54864" marT="45720" marB="45720">
                    <a:solidFill>
                      <a:srgbClr val="FFFFFF"/>
                    </a:solidFill>
                  </a:tcPr>
                </a:tc>
                <a:tc>
                  <a:txBody>
                    <a:bodyPr/>
                    <a:lstStyle/>
                    <a:p>
                      <a:pPr algn="l">
                        <a:defRPr sz="1030">
                          <a:solidFill>
                            <a:srgbClr val="1F2937"/>
                          </a:solidFill>
                          <a:latin typeface="Aptos"/>
                        </a:defRPr>
                      </a:pPr>
                      <a:r>
                        <a:t>TikTok Shop, FB, Shopee</a:t>
                      </a:r>
                    </a:p>
                  </a:txBody>
                  <a:tcPr marL="73152" marR="54864" marT="45720" marB="45720">
                    <a:solidFill>
                      <a:srgbClr val="FFFFFF"/>
                    </a:solidFill>
                  </a:tcPr>
                </a:tc>
                <a:tc>
                  <a:txBody>
                    <a:bodyPr/>
                    <a:lstStyle/>
                    <a:p>
                      <a:pPr algn="l">
                        <a:defRPr sz="1030">
                          <a:solidFill>
                            <a:srgbClr val="1F2937"/>
                          </a:solidFill>
                          <a:latin typeface="Aptos"/>
                        </a:defRPr>
                      </a:pPr>
                      <a:r>
                        <a:t>Chuyển đổi tức thì / cần kỹ năng &amp; thời gian</a:t>
                      </a:r>
                    </a:p>
                  </a:txBody>
                  <a:tcPr marL="73152" marR="54864" marT="45720" marB="45720">
                    <a:solidFill>
                      <a:srgbClr val="FFFFFF"/>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USP</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13</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USP — lý do khách hàng chọn bạn</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USP là nền tảng để content “nói đúng, nói trúng”.</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240280"/>
            <a:ext cx="2514600" cy="2514600"/>
          </a:xfrm>
          <a:prstGeom prst="ellipse">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ĐIỂM MẠNH</a:t>
            </a:r>
            <a:br/>
            <a:r>
              <a:t>THƯƠNG HIỆU</a:t>
            </a:r>
          </a:p>
        </p:txBody>
      </p:sp>
      <p:sp>
        <p:nvSpPr>
          <p:cNvPr id="8" name="Oval 7"/>
          <p:cNvSpPr/>
          <p:nvPr/>
        </p:nvSpPr>
        <p:spPr>
          <a:xfrm>
            <a:off x="3977639" y="2240280"/>
            <a:ext cx="2514600" cy="2514600"/>
          </a:xfrm>
          <a:prstGeom prst="ellipse">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NHU CẦU</a:t>
            </a:r>
            <a:br/>
            <a:r>
              <a:t>CHƯA ĐƯỢC ĐÁP ỨNG</a:t>
            </a:r>
          </a:p>
        </p:txBody>
      </p:sp>
      <p:sp>
        <p:nvSpPr>
          <p:cNvPr id="9" name="Oval 8"/>
          <p:cNvSpPr/>
          <p:nvPr/>
        </p:nvSpPr>
        <p:spPr>
          <a:xfrm>
            <a:off x="7040880" y="2240280"/>
            <a:ext cx="2514600" cy="2514600"/>
          </a:xfrm>
          <a:prstGeom prst="ellipse">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KHOẢNG TRỐNG</a:t>
            </a:r>
            <a:br/>
            <a:r>
              <a:t>ĐỐI THỦ</a:t>
            </a:r>
          </a:p>
        </p:txBody>
      </p:sp>
      <p:sp>
        <p:nvSpPr>
          <p:cNvPr id="10" name="Rounded Rectangle 9"/>
          <p:cNvSpPr/>
          <p:nvPr/>
        </p:nvSpPr>
        <p:spPr>
          <a:xfrm>
            <a:off x="8961120" y="2651760"/>
            <a:ext cx="2286000" cy="1691640"/>
          </a:xfrm>
          <a:prstGeom prst="roundRect">
            <a:avLst/>
          </a:prstGeom>
          <a:solidFill>
            <a:srgbClr val="11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ptos Display"/>
              </a:defRPr>
            </a:pPr>
            <a:r>
              <a:t>USP</a:t>
            </a:r>
          </a:p>
        </p:txBody>
      </p:sp>
      <p:sp>
        <p:nvSpPr>
          <p:cNvPr id="11" name="TextBox 10"/>
          <p:cNvSpPr txBox="1"/>
          <p:nvPr/>
        </p:nvSpPr>
        <p:spPr>
          <a:xfrm>
            <a:off x="914400" y="4892040"/>
            <a:ext cx="10058400" cy="1188720"/>
          </a:xfrm>
          <a:prstGeom prst="rect">
            <a:avLst/>
          </a:prstGeom>
          <a:noFill/>
        </p:spPr>
        <p:txBody>
          <a:bodyPr wrap="square" lIns="0" rIns="0">
            <a:spAutoFit/>
          </a:bodyPr>
          <a:lstStyle/>
          <a:p>
            <a:pPr>
              <a:spcAft>
                <a:spcPts val="700"/>
              </a:spcAft>
              <a:defRPr sz="1350">
                <a:solidFill>
                  <a:srgbClr val="1F2937"/>
                </a:solidFill>
                <a:latin typeface="Aptos"/>
              </a:defRPr>
            </a:pPr>
            <a:r>
              <a:t>• Sản phẩm giải quyết vấn đề gì mà đối thủ chưa giải quyết tốt?</a:t>
            </a:r>
          </a:p>
          <a:p>
            <a:pPr>
              <a:spcAft>
                <a:spcPts val="700"/>
              </a:spcAft>
              <a:defRPr sz="1350">
                <a:solidFill>
                  <a:srgbClr val="1F2937"/>
                </a:solidFill>
                <a:latin typeface="Aptos"/>
              </a:defRPr>
            </a:pPr>
            <a:r>
              <a:t>• Khách hàng khen bạn nhất ở điểm nào?</a:t>
            </a:r>
          </a:p>
          <a:p>
            <a:pPr>
              <a:spcAft>
                <a:spcPts val="700"/>
              </a:spcAft>
              <a:defRPr sz="1350">
                <a:solidFill>
                  <a:srgbClr val="1F2937"/>
                </a:solidFill>
                <a:latin typeface="Aptos"/>
              </a:defRPr>
            </a:pPr>
            <a:r>
              <a:t>• Nếu bỏ giá cả, vì sao họ vẫn chọn bạn?</a:t>
            </a:r>
          </a:p>
          <a:p>
            <a:pPr>
              <a:spcAft>
                <a:spcPts val="700"/>
              </a:spcAft>
              <a:defRPr sz="1350">
                <a:solidFill>
                  <a:srgbClr val="1F2937"/>
                </a:solidFill>
                <a:latin typeface="Aptos"/>
              </a:defRPr>
            </a:pPr>
            <a:r>
              <a:t>• Điều gì bạn có thể nói mà đối thủ không thể nói?</a:t>
            </a:r>
          </a:p>
        </p:txBody>
      </p:sp>
      <p:sp>
        <p:nvSpPr>
          <p:cNvPr id="12" name="TextBox 11"/>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7958D6"/>
                </a:solidFill>
                <a:latin typeface="Aptos"/>
              </a:defRPr>
            </a:pPr>
            <a:r>
              <a:t>MODULE 1 • GOLDEN CIRCLE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14</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Golden Circle: Why → How → What</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Thông điệp mạnh thường đi từ bên trong ra ngoài.</a:t>
            </a:r>
          </a:p>
        </p:txBody>
      </p:sp>
      <p:sp>
        <p:nvSpPr>
          <p:cNvPr id="6" name="Rectangle 5"/>
          <p:cNvSpPr/>
          <p:nvPr/>
        </p:nvSpPr>
        <p:spPr>
          <a:xfrm>
            <a:off x="594360" y="1792224"/>
            <a:ext cx="1051560" cy="64008"/>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057400"/>
            <a:ext cx="3383280" cy="3520440"/>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057400"/>
            <a:ext cx="73152" cy="3520440"/>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212848"/>
            <a:ext cx="3017520" cy="411480"/>
          </a:xfrm>
          <a:prstGeom prst="rect">
            <a:avLst/>
          </a:prstGeom>
          <a:noFill/>
        </p:spPr>
        <p:txBody>
          <a:bodyPr wrap="none">
            <a:spAutoFit/>
          </a:bodyPr>
          <a:lstStyle/>
          <a:p>
            <a:pPr>
              <a:defRPr sz="1900" b="1">
                <a:solidFill>
                  <a:srgbClr val="111C2D"/>
                </a:solidFill>
                <a:latin typeface="Aptos Display"/>
              </a:defRPr>
            </a:pPr>
            <a:r>
              <a:t>WHY</a:t>
            </a:r>
          </a:p>
        </p:txBody>
      </p:sp>
      <p:sp>
        <p:nvSpPr>
          <p:cNvPr id="10" name="TextBox 9"/>
          <p:cNvSpPr txBox="1"/>
          <p:nvPr/>
        </p:nvSpPr>
        <p:spPr>
          <a:xfrm>
            <a:off x="886968" y="2670048"/>
            <a:ext cx="2999232" cy="2770632"/>
          </a:xfrm>
          <a:prstGeom prst="rect">
            <a:avLst/>
          </a:prstGeom>
          <a:noFill/>
        </p:spPr>
        <p:txBody>
          <a:bodyPr wrap="square">
            <a:spAutoFit/>
          </a:bodyPr>
          <a:lstStyle/>
          <a:p>
            <a:pPr>
              <a:defRPr sz="1420">
                <a:solidFill>
                  <a:srgbClr val="1F2937"/>
                </a:solidFill>
                <a:latin typeface="Aptos"/>
              </a:defRPr>
            </a:pPr>
            <a:r>
              <a:t>Tại sao thương hiệu tồn tại?</a:t>
            </a:r>
            <a:br/>
            <a:r>
              <a:t>Niềm tin cốt lõi là gì?</a:t>
            </a:r>
            <a:br/>
            <a:br/>
            <a:r>
              <a:t>Ví dụ: Mọi người Việt xứng đáng được uống cà phê nguyên chất.</a:t>
            </a:r>
          </a:p>
        </p:txBody>
      </p:sp>
      <p:sp>
        <p:nvSpPr>
          <p:cNvPr id="11" name="Rounded Rectangle 10"/>
          <p:cNvSpPr/>
          <p:nvPr/>
        </p:nvSpPr>
        <p:spPr>
          <a:xfrm>
            <a:off x="4389120" y="2057400"/>
            <a:ext cx="3383280" cy="352044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057400"/>
            <a:ext cx="73152" cy="352044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212848"/>
            <a:ext cx="3017520" cy="411480"/>
          </a:xfrm>
          <a:prstGeom prst="rect">
            <a:avLst/>
          </a:prstGeom>
          <a:noFill/>
        </p:spPr>
        <p:txBody>
          <a:bodyPr wrap="none">
            <a:spAutoFit/>
          </a:bodyPr>
          <a:lstStyle/>
          <a:p>
            <a:pPr>
              <a:defRPr sz="1900" b="1">
                <a:solidFill>
                  <a:srgbClr val="111C2D"/>
                </a:solidFill>
                <a:latin typeface="Aptos Display"/>
              </a:defRPr>
            </a:pPr>
            <a:r>
              <a:t>HOW</a:t>
            </a:r>
          </a:p>
        </p:txBody>
      </p:sp>
      <p:sp>
        <p:nvSpPr>
          <p:cNvPr id="14" name="TextBox 13"/>
          <p:cNvSpPr txBox="1"/>
          <p:nvPr/>
        </p:nvSpPr>
        <p:spPr>
          <a:xfrm>
            <a:off x="4590288" y="2670048"/>
            <a:ext cx="2999232" cy="2770632"/>
          </a:xfrm>
          <a:prstGeom prst="rect">
            <a:avLst/>
          </a:prstGeom>
          <a:noFill/>
        </p:spPr>
        <p:txBody>
          <a:bodyPr wrap="square">
            <a:spAutoFit/>
          </a:bodyPr>
          <a:lstStyle/>
          <a:p>
            <a:pPr>
              <a:defRPr sz="1420">
                <a:solidFill>
                  <a:srgbClr val="1F2937"/>
                </a:solidFill>
                <a:latin typeface="Aptos"/>
              </a:defRPr>
            </a:pPr>
            <a:r>
              <a:t>Thực hiện niềm tin bằng cách nào?</a:t>
            </a:r>
            <a:br/>
            <a:br/>
            <a:r>
              <a:t>Ví dụ: Làm việc trực tiếp với nông dân, kiểm soát quy trình rang xay minh bạch.</a:t>
            </a:r>
          </a:p>
        </p:txBody>
      </p:sp>
      <p:sp>
        <p:nvSpPr>
          <p:cNvPr id="15" name="Rounded Rectangle 14"/>
          <p:cNvSpPr/>
          <p:nvPr/>
        </p:nvSpPr>
        <p:spPr>
          <a:xfrm>
            <a:off x="8092440" y="2057400"/>
            <a:ext cx="3383280" cy="352044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2057400"/>
            <a:ext cx="73152" cy="352044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212848"/>
            <a:ext cx="3017520" cy="411480"/>
          </a:xfrm>
          <a:prstGeom prst="rect">
            <a:avLst/>
          </a:prstGeom>
          <a:noFill/>
        </p:spPr>
        <p:txBody>
          <a:bodyPr wrap="none">
            <a:spAutoFit/>
          </a:bodyPr>
          <a:lstStyle/>
          <a:p>
            <a:pPr>
              <a:defRPr sz="1900" b="1">
                <a:solidFill>
                  <a:srgbClr val="111C2D"/>
                </a:solidFill>
                <a:latin typeface="Aptos Display"/>
              </a:defRPr>
            </a:pPr>
            <a:r>
              <a:t>WHAT</a:t>
            </a:r>
          </a:p>
        </p:txBody>
      </p:sp>
      <p:sp>
        <p:nvSpPr>
          <p:cNvPr id="18" name="TextBox 17"/>
          <p:cNvSpPr txBox="1"/>
          <p:nvPr/>
        </p:nvSpPr>
        <p:spPr>
          <a:xfrm>
            <a:off x="8293608" y="2670048"/>
            <a:ext cx="2999232" cy="2770632"/>
          </a:xfrm>
          <a:prstGeom prst="rect">
            <a:avLst/>
          </a:prstGeom>
          <a:noFill/>
        </p:spPr>
        <p:txBody>
          <a:bodyPr wrap="square">
            <a:spAutoFit/>
          </a:bodyPr>
          <a:lstStyle/>
          <a:p>
            <a:pPr>
              <a:defRPr sz="1420">
                <a:solidFill>
                  <a:srgbClr val="1F2937"/>
                </a:solidFill>
                <a:latin typeface="Aptos"/>
              </a:defRPr>
            </a:pPr>
            <a:r>
              <a:t>Sản phẩm/dịch vụ cụ thể là gì?</a:t>
            </a:r>
            <a:br/>
            <a:br/>
            <a:r>
              <a:t>Ví dụ: Cà phê rang xay nguyên chất 100% Robusta Đắk Lắk.</a:t>
            </a:r>
          </a:p>
        </p:txBody>
      </p:sp>
      <p:sp>
        <p:nvSpPr>
          <p:cNvPr id="19" name="TextBox 18"/>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1 • ATTENTION ECONOMY</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15</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Nền kinh tế chú ý — content đang cạnh tranh điều gì?</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Attention là tài nguyên hữu hạn.</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48840"/>
            <a:ext cx="10515600" cy="2926080"/>
          </a:xfrm>
          <a:prstGeom prst="rect">
            <a:avLst/>
          </a:prstGeom>
          <a:noFill/>
        </p:spPr>
        <p:txBody>
          <a:bodyPr wrap="square" lIns="0" rIns="0">
            <a:spAutoFit/>
          </a:bodyPr>
          <a:lstStyle/>
          <a:p>
            <a:pPr>
              <a:spcAft>
                <a:spcPts val="700"/>
              </a:spcAft>
              <a:defRPr sz="1900">
                <a:solidFill>
                  <a:srgbClr val="1F2937"/>
                </a:solidFill>
                <a:latin typeface="Aptos"/>
              </a:defRPr>
            </a:pPr>
            <a:r>
              <a:t>• Người dùng tiếp xúc với hàng nghìn thông điệp/nội dung mỗi ngày; khả năng chú ý là hữu hạn.</a:t>
            </a:r>
          </a:p>
          <a:p>
            <a:pPr>
              <a:spcAft>
                <a:spcPts val="700"/>
              </a:spcAft>
              <a:defRPr sz="1900">
                <a:solidFill>
                  <a:srgbClr val="1F2937"/>
                </a:solidFill>
                <a:latin typeface="Aptos"/>
              </a:defRPr>
            </a:pPr>
            <a:r>
              <a:t>• Giá trị phải xuất hiện ngay trong vài giây đầu — nếu không, người dùng lướt qua.</a:t>
            </a:r>
          </a:p>
          <a:p>
            <a:pPr>
              <a:spcAft>
                <a:spcPts val="700"/>
              </a:spcAft>
              <a:defRPr sz="1900">
                <a:solidFill>
                  <a:srgbClr val="1F2937"/>
                </a:solidFill>
                <a:latin typeface="Aptos"/>
              </a:defRPr>
            </a:pPr>
            <a:r>
              <a:t>• Số lượng không quan trọng bằng chất lượng và relevance với đúng đối tượng.</a:t>
            </a:r>
          </a:p>
          <a:p>
            <a:pPr>
              <a:spcAft>
                <a:spcPts val="700"/>
              </a:spcAft>
              <a:defRPr sz="1900">
                <a:solidFill>
                  <a:srgbClr val="1F2937"/>
                </a:solidFill>
                <a:latin typeface="Aptos"/>
              </a:defRPr>
            </a:pPr>
            <a:r>
              <a:t>• Liên tục đổi mới format/cách kể chuyện để tránh “banner blindness”.</a:t>
            </a:r>
          </a:p>
        </p:txBody>
      </p:sp>
      <p:sp>
        <p:nvSpPr>
          <p:cNvPr id="8" name="Rounded Rectangle 7"/>
          <p:cNvSpPr/>
          <p:nvPr/>
        </p:nvSpPr>
        <p:spPr>
          <a:xfrm>
            <a:off x="1920240" y="5212080"/>
            <a:ext cx="8321040" cy="77724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0240" y="5212080"/>
            <a:ext cx="73152" cy="77724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1408" y="5367528"/>
            <a:ext cx="7955279" cy="411480"/>
          </a:xfrm>
          <a:prstGeom prst="rect">
            <a:avLst/>
          </a:prstGeom>
          <a:noFill/>
        </p:spPr>
        <p:txBody>
          <a:bodyPr wrap="none">
            <a:spAutoFit/>
          </a:bodyPr>
          <a:lstStyle/>
          <a:p>
            <a:pPr>
              <a:defRPr sz="1500" b="1">
                <a:solidFill>
                  <a:srgbClr val="111C2D"/>
                </a:solidFill>
                <a:latin typeface="Aptos Display"/>
              </a:defRPr>
            </a:pPr>
            <a:r>
              <a:t>Câu hỏi cho lớp</a:t>
            </a:r>
          </a:p>
        </p:txBody>
      </p:sp>
      <p:sp>
        <p:nvSpPr>
          <p:cNvPr id="11" name="TextBox 10"/>
          <p:cNvSpPr txBox="1"/>
          <p:nvPr/>
        </p:nvSpPr>
        <p:spPr>
          <a:xfrm>
            <a:off x="2121408" y="5824728"/>
            <a:ext cx="7936992" cy="27432"/>
          </a:xfrm>
          <a:prstGeom prst="rect">
            <a:avLst/>
          </a:prstGeom>
          <a:noFill/>
        </p:spPr>
        <p:txBody>
          <a:bodyPr wrap="square">
            <a:spAutoFit/>
          </a:bodyPr>
          <a:lstStyle/>
          <a:p>
            <a:pPr>
              <a:defRPr sz="1300">
                <a:solidFill>
                  <a:srgbClr val="1F2937"/>
                </a:solidFill>
                <a:latin typeface="Aptos"/>
              </a:defRPr>
            </a:pPr>
            <a:r>
              <a:t>“Trong newsfeed hôm nay, điều gì khiến bạn dừng lại — và điều gì khiến bạn lướt ngay?”</a:t>
            </a:r>
          </a:p>
        </p:txBody>
      </p:sp>
      <p:sp>
        <p:nvSpPr>
          <p:cNvPr id="12" name="TextBox 11"/>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CF4C4C"/>
                </a:solidFill>
                <a:latin typeface="Aptos"/>
              </a:defRPr>
            </a:pPr>
            <a:r>
              <a:t>MODULE 1 • LỖI THƯỜNG GẶP</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16</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6 lỗi người mới hay mắc</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Mỗi lỗi đều có một “thuốc giải”.</a:t>
            </a:r>
          </a:p>
        </p:txBody>
      </p:sp>
      <p:sp>
        <p:nvSpPr>
          <p:cNvPr id="6" name="Rectangle 5"/>
          <p:cNvSpPr/>
          <p:nvPr/>
        </p:nvSpPr>
        <p:spPr>
          <a:xfrm>
            <a:off x="594360" y="1792224"/>
            <a:ext cx="1051560" cy="64008"/>
          </a:xfrm>
          <a:prstGeom prst="rect">
            <a:avLst/>
          </a:prstGeom>
          <a:solidFill>
            <a:srgbClr val="C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965960"/>
          <a:ext cx="10972800" cy="4251960"/>
        </p:xfrm>
        <a:graphic>
          <a:graphicData uri="http://schemas.openxmlformats.org/drawingml/2006/table">
            <a:tbl>
              <a:tblPr firstRow="1" bandRow="1">
                <a:tableStyleId>{5C22544A-7EE6-4342-B048-85BDC9FD1C3A}</a:tableStyleId>
              </a:tblPr>
              <a:tblGrid>
                <a:gridCol w="3657600"/>
                <a:gridCol w="3657600"/>
                <a:gridCol w="3657600"/>
              </a:tblGrid>
              <a:tr h="607422">
                <a:tc>
                  <a:txBody>
                    <a:bodyPr/>
                    <a:lstStyle/>
                    <a:p>
                      <a:pPr algn="ctr">
                        <a:defRPr sz="1250" b="1">
                          <a:solidFill>
                            <a:srgbClr val="FFFFFF"/>
                          </a:solidFill>
                          <a:latin typeface="Aptos"/>
                        </a:defRPr>
                      </a:pPr>
                      <a:r>
                        <a:t>Lỗi</a:t>
                      </a:r>
                    </a:p>
                  </a:txBody>
                  <a:tcPr>
                    <a:solidFill>
                      <a:srgbClr val="111C2D"/>
                    </a:solidFill>
                  </a:tcPr>
                </a:tc>
                <a:tc>
                  <a:txBody>
                    <a:bodyPr/>
                    <a:lstStyle/>
                    <a:p>
                      <a:pPr algn="ctr">
                        <a:defRPr sz="1250" b="1">
                          <a:solidFill>
                            <a:srgbClr val="FFFFFF"/>
                          </a:solidFill>
                          <a:latin typeface="Aptos"/>
                        </a:defRPr>
                      </a:pPr>
                      <a:r>
                        <a:t>Hậu quả</a:t>
                      </a:r>
                    </a:p>
                  </a:txBody>
                  <a:tcPr>
                    <a:solidFill>
                      <a:srgbClr val="111C2D"/>
                    </a:solidFill>
                  </a:tcPr>
                </a:tc>
                <a:tc>
                  <a:txBody>
                    <a:bodyPr/>
                    <a:lstStyle/>
                    <a:p>
                      <a:pPr algn="ctr">
                        <a:defRPr sz="1250" b="1">
                          <a:solidFill>
                            <a:srgbClr val="FFFFFF"/>
                          </a:solidFill>
                          <a:latin typeface="Aptos"/>
                        </a:defRPr>
                      </a:pPr>
                      <a:r>
                        <a:t>Cách khắc phục</a:t>
                      </a:r>
                    </a:p>
                  </a:txBody>
                  <a:tcPr>
                    <a:solidFill>
                      <a:srgbClr val="111C2D"/>
                    </a:solidFill>
                  </a:tcPr>
                </a:tc>
              </a:tr>
              <a:tr h="607422">
                <a:tc>
                  <a:txBody>
                    <a:bodyPr/>
                    <a:lstStyle/>
                    <a:p>
                      <a:pPr algn="ctr">
                        <a:defRPr sz="1200">
                          <a:solidFill>
                            <a:srgbClr val="1F2937"/>
                          </a:solidFill>
                          <a:latin typeface="Aptos"/>
                        </a:defRPr>
                      </a:pPr>
                      <a:r>
                        <a:t>Viết cảm tính, không persona</a:t>
                      </a:r>
                    </a:p>
                  </a:txBody>
                  <a:tcPr marL="73152" marR="54864" marT="45720" marB="45720">
                    <a:solidFill>
                      <a:srgbClr val="FFFFFF"/>
                    </a:solidFill>
                  </a:tcPr>
                </a:tc>
                <a:tc>
                  <a:txBody>
                    <a:bodyPr/>
                    <a:lstStyle/>
                    <a:p>
                      <a:pPr algn="l">
                        <a:defRPr sz="1200">
                          <a:solidFill>
                            <a:srgbClr val="1F2937"/>
                          </a:solidFill>
                          <a:latin typeface="Aptos"/>
                        </a:defRPr>
                      </a:pPr>
                      <a:r>
                        <a:t>Chung chung</a:t>
                      </a:r>
                    </a:p>
                  </a:txBody>
                  <a:tcPr marL="73152" marR="54864" marT="45720" marB="45720">
                    <a:solidFill>
                      <a:srgbClr val="FFFFFF"/>
                    </a:solidFill>
                  </a:tcPr>
                </a:tc>
                <a:tc>
                  <a:txBody>
                    <a:bodyPr/>
                    <a:lstStyle/>
                    <a:p>
                      <a:pPr algn="l">
                        <a:defRPr sz="1200">
                          <a:solidFill>
                            <a:srgbClr val="1F2937"/>
                          </a:solidFill>
                          <a:latin typeface="Aptos"/>
                        </a:defRPr>
                      </a:pPr>
                      <a:r>
                        <a:t>Viết cho 1 Persona</a:t>
                      </a:r>
                    </a:p>
                  </a:txBody>
                  <a:tcPr marL="73152" marR="54864" marT="45720" marB="45720">
                    <a:solidFill>
                      <a:srgbClr val="FFFFFF"/>
                    </a:solidFill>
                  </a:tcPr>
                </a:tc>
              </a:tr>
              <a:tr h="607422">
                <a:tc>
                  <a:txBody>
                    <a:bodyPr/>
                    <a:lstStyle/>
                    <a:p>
                      <a:pPr algn="ctr">
                        <a:defRPr sz="1200">
                          <a:solidFill>
                            <a:srgbClr val="1F2937"/>
                          </a:solidFill>
                          <a:latin typeface="Aptos"/>
                        </a:defRPr>
                      </a:pPr>
                      <a:r>
                        <a:t>100% BOFU</a:t>
                      </a:r>
                    </a:p>
                  </a:txBody>
                  <a:tcPr marL="73152" marR="54864" marT="45720" marB="45720">
                    <a:solidFill>
                      <a:srgbClr val="F2F5F8"/>
                    </a:solidFill>
                  </a:tcPr>
                </a:tc>
                <a:tc>
                  <a:txBody>
                    <a:bodyPr/>
                    <a:lstStyle/>
                    <a:p>
                      <a:pPr algn="l">
                        <a:defRPr sz="1200">
                          <a:solidFill>
                            <a:srgbClr val="1F2937"/>
                          </a:solidFill>
                          <a:latin typeface="Aptos"/>
                        </a:defRPr>
                      </a:pPr>
                      <a:r>
                        <a:t>Bị làm phiền, unfollow</a:t>
                      </a:r>
                    </a:p>
                  </a:txBody>
                  <a:tcPr marL="73152" marR="54864" marT="45720" marB="45720">
                    <a:solidFill>
                      <a:srgbClr val="F2F5F8"/>
                    </a:solidFill>
                  </a:tcPr>
                </a:tc>
                <a:tc>
                  <a:txBody>
                    <a:bodyPr/>
                    <a:lstStyle/>
                    <a:p>
                      <a:pPr algn="l">
                        <a:defRPr sz="1200">
                          <a:solidFill>
                            <a:srgbClr val="1F2937"/>
                          </a:solidFill>
                          <a:latin typeface="Aptos"/>
                        </a:defRPr>
                      </a:pPr>
                      <a:r>
                        <a:t>Cân bằng 3H + Funnel</a:t>
                      </a:r>
                    </a:p>
                  </a:txBody>
                  <a:tcPr marL="73152" marR="54864" marT="45720" marB="45720">
                    <a:solidFill>
                      <a:srgbClr val="F2F5F8"/>
                    </a:solidFill>
                  </a:tcPr>
                </a:tc>
              </a:tr>
              <a:tr h="607422">
                <a:tc>
                  <a:txBody>
                    <a:bodyPr/>
                    <a:lstStyle/>
                    <a:p>
                      <a:pPr algn="ctr">
                        <a:defRPr sz="1200">
                          <a:solidFill>
                            <a:srgbClr val="1F2937"/>
                          </a:solidFill>
                          <a:latin typeface="Aptos"/>
                        </a:defRPr>
                      </a:pPr>
                      <a:r>
                        <a:t>Copy đối thủ</a:t>
                      </a:r>
                    </a:p>
                  </a:txBody>
                  <a:tcPr marL="73152" marR="54864" marT="45720" marB="45720">
                    <a:solidFill>
                      <a:srgbClr val="FFFFFF"/>
                    </a:solidFill>
                  </a:tcPr>
                </a:tc>
                <a:tc>
                  <a:txBody>
                    <a:bodyPr/>
                    <a:lstStyle/>
                    <a:p>
                      <a:pPr algn="l">
                        <a:defRPr sz="1200">
                          <a:solidFill>
                            <a:srgbClr val="1F2937"/>
                          </a:solidFill>
                          <a:latin typeface="Aptos"/>
                        </a:defRPr>
                      </a:pPr>
                      <a:r>
                        <a:t>Mất bản sắc</a:t>
                      </a:r>
                    </a:p>
                  </a:txBody>
                  <a:tcPr marL="73152" marR="54864" marT="45720" marB="45720">
                    <a:solidFill>
                      <a:srgbClr val="FFFFFF"/>
                    </a:solidFill>
                  </a:tcPr>
                </a:tc>
                <a:tc>
                  <a:txBody>
                    <a:bodyPr/>
                    <a:lstStyle/>
                    <a:p>
                      <a:pPr algn="l">
                        <a:defRPr sz="1200">
                          <a:solidFill>
                            <a:srgbClr val="1F2937"/>
                          </a:solidFill>
                          <a:latin typeface="Aptos"/>
                        </a:defRPr>
                      </a:pPr>
                      <a:r>
                        <a:t>Góc nhìn/trải nghiệm riêng</a:t>
                      </a:r>
                    </a:p>
                  </a:txBody>
                  <a:tcPr marL="73152" marR="54864" marT="45720" marB="45720">
                    <a:solidFill>
                      <a:srgbClr val="FFFFFF"/>
                    </a:solidFill>
                  </a:tcPr>
                </a:tc>
              </a:tr>
              <a:tr h="607422">
                <a:tc>
                  <a:txBody>
                    <a:bodyPr/>
                    <a:lstStyle/>
                    <a:p>
                      <a:pPr algn="ctr">
                        <a:defRPr sz="1200">
                          <a:solidFill>
                            <a:srgbClr val="1F2937"/>
                          </a:solidFill>
                          <a:latin typeface="Aptos"/>
                        </a:defRPr>
                      </a:pPr>
                      <a:r>
                        <a:t>Không đo lường</a:t>
                      </a:r>
                    </a:p>
                  </a:txBody>
                  <a:tcPr marL="73152" marR="54864" marT="45720" marB="45720">
                    <a:solidFill>
                      <a:srgbClr val="F2F5F8"/>
                    </a:solidFill>
                  </a:tcPr>
                </a:tc>
                <a:tc>
                  <a:txBody>
                    <a:bodyPr/>
                    <a:lstStyle/>
                    <a:p>
                      <a:pPr algn="l">
                        <a:defRPr sz="1200">
                          <a:solidFill>
                            <a:srgbClr val="1F2937"/>
                          </a:solidFill>
                          <a:latin typeface="Aptos"/>
                        </a:defRPr>
                      </a:pPr>
                      <a:r>
                        <a:t>Không biết gì hiệu quả</a:t>
                      </a:r>
                    </a:p>
                  </a:txBody>
                  <a:tcPr marL="73152" marR="54864" marT="45720" marB="45720">
                    <a:solidFill>
                      <a:srgbClr val="F2F5F8"/>
                    </a:solidFill>
                  </a:tcPr>
                </a:tc>
                <a:tc>
                  <a:txBody>
                    <a:bodyPr/>
                    <a:lstStyle/>
                    <a:p>
                      <a:pPr algn="l">
                        <a:defRPr sz="1200">
                          <a:solidFill>
                            <a:srgbClr val="1F2937"/>
                          </a:solidFill>
                          <a:latin typeface="Aptos"/>
                        </a:defRPr>
                      </a:pPr>
                      <a:r>
                        <a:t>Đặt KPI</a:t>
                      </a:r>
                    </a:p>
                  </a:txBody>
                  <a:tcPr marL="73152" marR="54864" marT="45720" marB="45720">
                    <a:solidFill>
                      <a:srgbClr val="F2F5F8"/>
                    </a:solidFill>
                  </a:tcPr>
                </a:tc>
              </a:tr>
              <a:tr h="607422">
                <a:tc>
                  <a:txBody>
                    <a:bodyPr/>
                    <a:lstStyle/>
                    <a:p>
                      <a:pPr algn="ctr">
                        <a:defRPr sz="1200">
                          <a:solidFill>
                            <a:srgbClr val="1F2937"/>
                          </a:solidFill>
                          <a:latin typeface="Aptos"/>
                        </a:defRPr>
                      </a:pPr>
                      <a:r>
                        <a:t>Đăng không đều</a:t>
                      </a:r>
                    </a:p>
                  </a:txBody>
                  <a:tcPr marL="73152" marR="54864" marT="45720" marB="45720">
                    <a:solidFill>
                      <a:srgbClr val="FFFFFF"/>
                    </a:solidFill>
                  </a:tcPr>
                </a:tc>
                <a:tc>
                  <a:txBody>
                    <a:bodyPr/>
                    <a:lstStyle/>
                    <a:p>
                      <a:pPr algn="l">
                        <a:defRPr sz="1200">
                          <a:solidFill>
                            <a:srgbClr val="1F2937"/>
                          </a:solidFill>
                          <a:latin typeface="Aptos"/>
                        </a:defRPr>
                      </a:pPr>
                      <a:r>
                        <a:t>Mất đà tương tác</a:t>
                      </a:r>
                    </a:p>
                  </a:txBody>
                  <a:tcPr marL="73152" marR="54864" marT="45720" marB="45720">
                    <a:solidFill>
                      <a:srgbClr val="FFFFFF"/>
                    </a:solidFill>
                  </a:tcPr>
                </a:tc>
                <a:tc>
                  <a:txBody>
                    <a:bodyPr/>
                    <a:lstStyle/>
                    <a:p>
                      <a:pPr algn="l">
                        <a:defRPr sz="1200">
                          <a:solidFill>
                            <a:srgbClr val="1F2937"/>
                          </a:solidFill>
                          <a:latin typeface="Aptos"/>
                        </a:defRPr>
                      </a:pPr>
                      <a:r>
                        <a:t>Content Calendar</a:t>
                      </a:r>
                    </a:p>
                  </a:txBody>
                  <a:tcPr marL="73152" marR="54864" marT="45720" marB="45720">
                    <a:solidFill>
                      <a:srgbClr val="FFFFFF"/>
                    </a:solidFill>
                  </a:tcPr>
                </a:tc>
              </a:tr>
              <a:tr h="607428">
                <a:tc>
                  <a:txBody>
                    <a:bodyPr/>
                    <a:lstStyle/>
                    <a:p>
                      <a:pPr algn="ctr">
                        <a:defRPr sz="1200">
                          <a:solidFill>
                            <a:srgbClr val="1F2937"/>
                          </a:solidFill>
                          <a:latin typeface="Aptos"/>
                        </a:defRPr>
                      </a:pPr>
                      <a:r>
                        <a:t>Seeding/spam = Content</a:t>
                      </a:r>
                    </a:p>
                  </a:txBody>
                  <a:tcPr marL="73152" marR="54864" marT="45720" marB="45720">
                    <a:solidFill>
                      <a:srgbClr val="F2F5F8"/>
                    </a:solidFill>
                  </a:tcPr>
                </a:tc>
                <a:tc>
                  <a:txBody>
                    <a:bodyPr/>
                    <a:lstStyle/>
                    <a:p>
                      <a:pPr algn="l">
                        <a:defRPr sz="1200">
                          <a:solidFill>
                            <a:srgbClr val="1F2937"/>
                          </a:solidFill>
                          <a:latin typeface="Aptos"/>
                        </a:defRPr>
                      </a:pPr>
                      <a:r>
                        <a:t>Phản cảm, giảm uy tín</a:t>
                      </a:r>
                    </a:p>
                  </a:txBody>
                  <a:tcPr marL="73152" marR="54864" marT="45720" marB="45720">
                    <a:solidFill>
                      <a:srgbClr val="F2F5F8"/>
                    </a:solidFill>
                  </a:tcPr>
                </a:tc>
                <a:tc>
                  <a:txBody>
                    <a:bodyPr/>
                    <a:lstStyle/>
                    <a:p>
                      <a:pPr algn="l">
                        <a:defRPr sz="1200">
                          <a:solidFill>
                            <a:srgbClr val="1F2937"/>
                          </a:solidFill>
                          <a:latin typeface="Aptos"/>
                        </a:defRPr>
                      </a:pPr>
                      <a:r>
                        <a:t>Tạo giá trị trước</a:t>
                      </a: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CASE 1</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17</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Biti's Hunter — “Đi Để Trở Về”</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Content không nói về giày — content kể một câu chuyện đúng insight.</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Bối cảnh &amp; chiến lược</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Thương hiệu lâu đời, bị xem là “quê mùa”, cạnh tranh với Nike/Adidas.</a:t>
            </a:r>
          </a:p>
          <a:p>
            <a:pPr>
              <a:spcAft>
                <a:spcPts val="400"/>
              </a:spcAft>
              <a:defRPr sz="1420">
                <a:solidFill>
                  <a:srgbClr val="1F2937"/>
                </a:solidFill>
                <a:latin typeface="Aptos"/>
              </a:defRPr>
            </a:pPr>
            <a:r>
              <a:t>• MV “Lạc Trôi”, “Đi Để Trở Về”; Product Placement + Storytelling.</a:t>
            </a:r>
          </a:p>
          <a:p>
            <a:pPr>
              <a:spcAft>
                <a:spcPts val="400"/>
              </a:spcAft>
              <a:defRPr sz="1420">
                <a:solidFill>
                  <a:srgbClr val="1F2937"/>
                </a:solidFill>
                <a:latin typeface="Aptos"/>
              </a:defRPr>
            </a:pPr>
            <a:r>
              <a:t>• Insight: Gen Z muốn khám phá nhưng vẫn trân trọng gia đình.</a:t>
            </a:r>
          </a:p>
          <a:p>
            <a:pPr>
              <a:spcAft>
                <a:spcPts val="400"/>
              </a:spcAft>
              <a:defRPr sz="1420">
                <a:solidFill>
                  <a:srgbClr val="1F2937"/>
                </a:solidFill>
                <a:latin typeface="Aptos"/>
              </a:defRPr>
            </a:pPr>
            <a:r>
              <a:t>• Đa kênh: YouTube, Facebook, KOL, hashtag.</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Kết quả &amp; bài học</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MV đạt hàng chục triệu lượt xem; tạo hiện tượng dịp Tết.</a:t>
            </a:r>
          </a:p>
          <a:p>
            <a:pPr>
              <a:spcAft>
                <a:spcPts val="400"/>
              </a:spcAft>
              <a:defRPr sz="1420">
                <a:solidFill>
                  <a:srgbClr val="1F2937"/>
                </a:solidFill>
                <a:latin typeface="Aptos"/>
              </a:defRPr>
            </a:pPr>
            <a:r>
              <a:t>• Hình ảnh Biti's Hunter “lột xác”, nhiều mẫu cháy hàng.</a:t>
            </a:r>
          </a:p>
          <a:p>
            <a:pPr>
              <a:spcAft>
                <a:spcPts val="400"/>
              </a:spcAft>
              <a:defRPr sz="1420">
                <a:solidFill>
                  <a:srgbClr val="1F2937"/>
                </a:solidFill>
                <a:latin typeface="Aptos"/>
              </a:defRPr>
            </a:pPr>
            <a:r>
              <a:t>• Đừng chỉ nói sản phẩm; kể đúng câu chuyện.</a:t>
            </a:r>
          </a:p>
          <a:p>
            <a:pPr>
              <a:spcAft>
                <a:spcPts val="400"/>
              </a:spcAft>
              <a:defRPr sz="1420">
                <a:solidFill>
                  <a:srgbClr val="1F2937"/>
                </a:solidFill>
                <a:latin typeface="Aptos"/>
              </a:defRPr>
            </a:pPr>
            <a:r>
              <a:t>• Đúng thời điểm + đúng KOL/Influencer khuếch đại tự nhiên.</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1 • CASE 2</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18</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MoMo — giáo dục tài chính + gamification</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Content giáo dục có thể xây dựng niềm tin tốt hơn quảng cáo trực tiếp.</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Chiến lược</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Series “Mẹo tiết kiệm”, “Quản lý chi tiêu mùa dịch”.</a:t>
            </a:r>
          </a:p>
          <a:p>
            <a:pPr>
              <a:spcAft>
                <a:spcPts val="400"/>
              </a:spcAft>
              <a:defRPr sz="1420">
                <a:solidFill>
                  <a:srgbClr val="1F2937"/>
                </a:solidFill>
                <a:latin typeface="Aptos"/>
              </a:defRPr>
            </a:pPr>
            <a:r>
              <a:t>• Lồng ghép tính năng ví một cách tự nhiên.</a:t>
            </a:r>
          </a:p>
          <a:p>
            <a:pPr>
              <a:spcAft>
                <a:spcPts val="400"/>
              </a:spcAft>
              <a:defRPr sz="1420">
                <a:solidFill>
                  <a:srgbClr val="1F2937"/>
                </a:solidFill>
                <a:latin typeface="Aptos"/>
              </a:defRPr>
            </a:pPr>
            <a:r>
              <a:t>• Lắc Xì: gamification + văn hóa lì xì ngày Tết.</a:t>
            </a:r>
          </a:p>
          <a:p>
            <a:pPr>
              <a:spcAft>
                <a:spcPts val="400"/>
              </a:spcAft>
              <a:defRPr sz="1420">
                <a:solidFill>
                  <a:srgbClr val="1F2937"/>
                </a:solidFill>
                <a:latin typeface="Aptos"/>
              </a:defRPr>
            </a:pPr>
            <a:r>
              <a:t>• Đánh đúng insight: muốn tiết kiệm nhưng chưa biết cách.</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Kết quả &amp; bài học</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Lắc Xì thu hút hàng triệu lượt tham gia mỗi mùa Tết.</a:t>
            </a:r>
          </a:p>
          <a:p>
            <a:pPr>
              <a:spcAft>
                <a:spcPts val="400"/>
              </a:spcAft>
              <a:defRPr sz="1420">
                <a:solidFill>
                  <a:srgbClr val="1F2937"/>
                </a:solidFill>
                <a:latin typeface="Aptos"/>
              </a:defRPr>
            </a:pPr>
            <a:r>
              <a:t>• Tăng mạnh người dùng mới; hình ảnh thân thiện, gắn với Tết.</a:t>
            </a:r>
          </a:p>
          <a:p>
            <a:pPr>
              <a:spcAft>
                <a:spcPts val="400"/>
              </a:spcAft>
              <a:defRPr sz="1420">
                <a:solidFill>
                  <a:srgbClr val="1F2937"/>
                </a:solidFill>
                <a:latin typeface="Aptos"/>
              </a:defRPr>
            </a:pPr>
            <a:r>
              <a:t>• Educational content → trust.</a:t>
            </a:r>
          </a:p>
          <a:p>
            <a:pPr>
              <a:spcAft>
                <a:spcPts val="400"/>
              </a:spcAft>
              <a:defRPr sz="1420">
                <a:solidFill>
                  <a:srgbClr val="1F2937"/>
                </a:solidFill>
                <a:latin typeface="Aptos"/>
              </a:defRPr>
            </a:pPr>
            <a:r>
              <a:t>• Seasonal content + gamification → lan truyền tự nhiên.</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CF4C4C"/>
                </a:solidFill>
                <a:latin typeface="Aptos"/>
              </a:defRPr>
            </a:pPr>
            <a:r>
              <a:t>MODULE 1 • CASE 3</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19</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Local brand thất bại — “chỉ bán hàng”</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Một fanpage 50.000 follow vẫn có thể thất bại.</a:t>
            </a:r>
          </a:p>
        </p:txBody>
      </p:sp>
      <p:sp>
        <p:nvSpPr>
          <p:cNvPr id="6" name="Rectangle 5"/>
          <p:cNvSpPr/>
          <p:nvPr/>
        </p:nvSpPr>
        <p:spPr>
          <a:xfrm>
            <a:off x="594360" y="1792224"/>
            <a:ext cx="1051560" cy="64008"/>
          </a:xfrm>
          <a:prstGeom prst="rect">
            <a:avLst/>
          </a:prstGeom>
          <a:solidFill>
            <a:srgbClr val="C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103120"/>
            <a:ext cx="3474720" cy="3474720"/>
          </a:xfrm>
          <a:prstGeom prst="roundRect">
            <a:avLst/>
          </a:prstGeom>
          <a:solidFill>
            <a:srgbClr val="FBE9E9"/>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03120"/>
            <a:ext cx="73152" cy="3474720"/>
          </a:xfrm>
          <a:prstGeom prst="rect">
            <a:avLst/>
          </a:prstGeom>
          <a:solidFill>
            <a:srgbClr val="C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58568"/>
            <a:ext cx="3108960" cy="411480"/>
          </a:xfrm>
          <a:prstGeom prst="rect">
            <a:avLst/>
          </a:prstGeom>
          <a:noFill/>
        </p:spPr>
        <p:txBody>
          <a:bodyPr wrap="none">
            <a:spAutoFit/>
          </a:bodyPr>
          <a:lstStyle/>
          <a:p>
            <a:pPr>
              <a:defRPr sz="1800" b="1">
                <a:solidFill>
                  <a:srgbClr val="111C2D"/>
                </a:solidFill>
                <a:latin typeface="Aptos Display"/>
              </a:defRPr>
            </a:pPr>
            <a:r>
              <a:t>BỐI CẢNH</a:t>
            </a:r>
          </a:p>
        </p:txBody>
      </p:sp>
      <p:sp>
        <p:nvSpPr>
          <p:cNvPr id="10" name="TextBox 9"/>
          <p:cNvSpPr txBox="1"/>
          <p:nvPr/>
        </p:nvSpPr>
        <p:spPr>
          <a:xfrm>
            <a:off x="841247" y="2715768"/>
            <a:ext cx="3090672" cy="2724912"/>
          </a:xfrm>
          <a:prstGeom prst="rect">
            <a:avLst/>
          </a:prstGeom>
          <a:noFill/>
        </p:spPr>
        <p:txBody>
          <a:bodyPr wrap="square">
            <a:spAutoFit/>
          </a:bodyPr>
          <a:lstStyle/>
          <a:p>
            <a:pPr>
              <a:defRPr sz="1500">
                <a:solidFill>
                  <a:srgbClr val="1F2937"/>
                </a:solidFill>
                <a:latin typeface="Aptos"/>
              </a:defRPr>
            </a:pPr>
            <a:r>
              <a:t>Chỉ đăng ảnh sản phẩm + giá.</a:t>
            </a:r>
            <a:br/>
            <a:r>
              <a:t>Không content giá trị.</a:t>
            </a:r>
            <a:br/>
            <a:r>
              <a:t>Không câu chuyện thương hiệu.</a:t>
            </a:r>
          </a:p>
        </p:txBody>
      </p:sp>
      <p:sp>
        <p:nvSpPr>
          <p:cNvPr id="11" name="Rounded Rectangle 10"/>
          <p:cNvSpPr/>
          <p:nvPr/>
        </p:nvSpPr>
        <p:spPr>
          <a:xfrm>
            <a:off x="4343400" y="2103120"/>
            <a:ext cx="3474720" cy="347472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103120"/>
            <a:ext cx="73152" cy="347472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258568"/>
            <a:ext cx="3108960" cy="411480"/>
          </a:xfrm>
          <a:prstGeom prst="rect">
            <a:avLst/>
          </a:prstGeom>
          <a:noFill/>
        </p:spPr>
        <p:txBody>
          <a:bodyPr wrap="none">
            <a:spAutoFit/>
          </a:bodyPr>
          <a:lstStyle/>
          <a:p>
            <a:pPr>
              <a:defRPr sz="1800" b="1">
                <a:solidFill>
                  <a:srgbClr val="111C2D"/>
                </a:solidFill>
                <a:latin typeface="Aptos Display"/>
              </a:defRPr>
            </a:pPr>
            <a:r>
              <a:t>VẤN ĐỀ</a:t>
            </a:r>
          </a:p>
        </p:txBody>
      </p:sp>
      <p:sp>
        <p:nvSpPr>
          <p:cNvPr id="14" name="TextBox 13"/>
          <p:cNvSpPr txBox="1"/>
          <p:nvPr/>
        </p:nvSpPr>
        <p:spPr>
          <a:xfrm>
            <a:off x="4544568" y="2715768"/>
            <a:ext cx="3090672" cy="2724912"/>
          </a:xfrm>
          <a:prstGeom prst="rect">
            <a:avLst/>
          </a:prstGeom>
          <a:noFill/>
        </p:spPr>
        <p:txBody>
          <a:bodyPr wrap="square">
            <a:spAutoFit/>
          </a:bodyPr>
          <a:lstStyle/>
          <a:p>
            <a:pPr>
              <a:defRPr sz="1500">
                <a:solidFill>
                  <a:srgbClr val="1F2937"/>
                </a:solidFill>
                <a:latin typeface="Aptos"/>
              </a:defRPr>
            </a:pPr>
            <a:r>
              <a:t>50.000 follow nhưng mỗi bài chỉ 5–10 like.</a:t>
            </a:r>
            <a:br/>
            <a:r>
              <a:t>Khách chỉ nhớ “shop bán rẻ”.</a:t>
            </a:r>
            <a:br/>
            <a:r>
              <a:t>Phải liên tục giảm giá để có đơn.</a:t>
            </a:r>
          </a:p>
        </p:txBody>
      </p:sp>
      <p:sp>
        <p:nvSpPr>
          <p:cNvPr id="15" name="Rounded Rectangle 14"/>
          <p:cNvSpPr/>
          <p:nvPr/>
        </p:nvSpPr>
        <p:spPr>
          <a:xfrm>
            <a:off x="8046720" y="2103120"/>
            <a:ext cx="3474720" cy="347472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103120"/>
            <a:ext cx="73152" cy="347472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258568"/>
            <a:ext cx="3108960" cy="411480"/>
          </a:xfrm>
          <a:prstGeom prst="rect">
            <a:avLst/>
          </a:prstGeom>
          <a:noFill/>
        </p:spPr>
        <p:txBody>
          <a:bodyPr wrap="none">
            <a:spAutoFit/>
          </a:bodyPr>
          <a:lstStyle/>
          <a:p>
            <a:pPr>
              <a:defRPr sz="1800" b="1">
                <a:solidFill>
                  <a:srgbClr val="111C2D"/>
                </a:solidFill>
                <a:latin typeface="Aptos Display"/>
              </a:defRPr>
            </a:pPr>
            <a:r>
              <a:t>THẢO LUẬN</a:t>
            </a:r>
          </a:p>
        </p:txBody>
      </p:sp>
      <p:sp>
        <p:nvSpPr>
          <p:cNvPr id="18" name="TextBox 17"/>
          <p:cNvSpPr txBox="1"/>
          <p:nvPr/>
        </p:nvSpPr>
        <p:spPr>
          <a:xfrm>
            <a:off x="8247888" y="2715768"/>
            <a:ext cx="3090672" cy="2724912"/>
          </a:xfrm>
          <a:prstGeom prst="rect">
            <a:avLst/>
          </a:prstGeom>
          <a:noFill/>
        </p:spPr>
        <p:txBody>
          <a:bodyPr wrap="square">
            <a:spAutoFit/>
          </a:bodyPr>
          <a:lstStyle/>
          <a:p>
            <a:pPr>
              <a:defRPr sz="1500">
                <a:solidFill>
                  <a:srgbClr val="1F2937"/>
                </a:solidFill>
                <a:latin typeface="Aptos"/>
              </a:defRPr>
            </a:pPr>
            <a:r>
              <a:t>Thiếu Persona.</a:t>
            </a:r>
            <a:br/>
            <a:r>
              <a:t>Không Content Pillar.</a:t>
            </a:r>
            <a:br/>
            <a:r>
              <a:t>100% BOFU, bỏ qua TOFU–MOFU.</a:t>
            </a:r>
            <a:br/>
            <a:r>
              <a:t>→ Đề xuất 3 giải pháp.</a:t>
            </a:r>
          </a:p>
        </p:txBody>
      </p:sp>
      <p:sp>
        <p:nvSpPr>
          <p:cNvPr id="19" name="TextBox 18"/>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1 • CASE 4</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20</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Katinat — USP nằm ở trải nghiệm</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Khác biệt không nhất thiết nằm trong chính sản phẩm.</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0698480" cy="4114800"/>
          </a:xfrm>
          <a:prstGeom prst="rect">
            <a:avLst/>
          </a:prstGeom>
          <a:noFill/>
        </p:spPr>
        <p:txBody>
          <a:bodyPr wrap="square" lIns="0" rIns="0">
            <a:spAutoFit/>
          </a:bodyPr>
          <a:lstStyle/>
          <a:p>
            <a:pPr>
              <a:spcAft>
                <a:spcPts val="700"/>
              </a:spcAft>
              <a:defRPr sz="1700">
                <a:solidFill>
                  <a:srgbClr val="1F2937"/>
                </a:solidFill>
                <a:latin typeface="Aptos"/>
              </a:defRPr>
            </a:pPr>
            <a:r>
              <a:t>• Thị trường trà/cà phê cạnh tranh cao; khó khác biệt chỉ bằng đồ uống.</a:t>
            </a:r>
          </a:p>
          <a:p>
            <a:pPr>
              <a:spcAft>
                <a:spcPts val="700"/>
              </a:spcAft>
              <a:defRPr sz="1700">
                <a:solidFill>
                  <a:srgbClr val="1F2937"/>
                </a:solidFill>
                <a:latin typeface="Aptos"/>
              </a:defRPr>
            </a:pPr>
            <a:r>
              <a:t>• USP: “không gian sống ảo” + trải nghiệm lifestyle coffee.</a:t>
            </a:r>
          </a:p>
          <a:p>
            <a:pPr>
              <a:spcAft>
                <a:spcPts val="700"/>
              </a:spcAft>
              <a:defRPr sz="1700">
                <a:solidFill>
                  <a:srgbClr val="1F2937"/>
                </a:solidFill>
                <a:latin typeface="Aptos"/>
              </a:defRPr>
            </a:pPr>
            <a:r>
              <a:t>• UGC tự nhiên từ khách hàng: check-in, story, Instagram.</a:t>
            </a:r>
          </a:p>
          <a:p>
            <a:pPr>
              <a:spcAft>
                <a:spcPts val="700"/>
              </a:spcAft>
              <a:defRPr sz="1700">
                <a:solidFill>
                  <a:srgbClr val="1F2937"/>
                </a:solidFill>
                <a:latin typeface="Aptos"/>
              </a:defRPr>
            </a:pPr>
            <a:r>
              <a:t>• KOL/Influencer trẻ tạo hiệu ứng lan tỏa.</a:t>
            </a:r>
          </a:p>
          <a:p>
            <a:pPr>
              <a:spcAft>
                <a:spcPts val="700"/>
              </a:spcAft>
              <a:defRPr sz="1700">
                <a:solidFill>
                  <a:srgbClr val="1F2937"/>
                </a:solidFill>
                <a:latin typeface="Aptos"/>
              </a:defRPr>
            </a:pPr>
            <a:r>
              <a:t>• Kết quả: mở rộng nhanh, trở thành điểm đến quen thuộc dù giá không rẻ hơn đối thủ.</a:t>
            </a:r>
          </a:p>
          <a:p>
            <a:pPr>
              <a:spcAft>
                <a:spcPts val="700"/>
              </a:spcAft>
              <a:defRPr sz="1700">
                <a:solidFill>
                  <a:srgbClr val="1F2937"/>
                </a:solidFill>
                <a:latin typeface="Aptos"/>
              </a:defRPr>
            </a:pPr>
            <a:r>
              <a:t>• Bài học: USP có thể nằm ở không gian, cảm xúc và khả năng chia sẻ.</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THỰC HÀNH</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21</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Bài tập Module 1 — làm ngay trong lớp</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Từ lý thuyết → quan sát → phân tích → xây USP.</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3520440" cy="356616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56616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3154680" cy="411480"/>
          </a:xfrm>
          <a:prstGeom prst="rect">
            <a:avLst/>
          </a:prstGeom>
          <a:noFill/>
        </p:spPr>
        <p:txBody>
          <a:bodyPr wrap="none">
            <a:spAutoFit/>
          </a:bodyPr>
          <a:lstStyle/>
          <a:p>
            <a:pPr>
              <a:defRPr sz="1700" b="1">
                <a:solidFill>
                  <a:srgbClr val="111C2D"/>
                </a:solidFill>
                <a:latin typeface="Aptos Display"/>
              </a:defRPr>
            </a:pPr>
            <a:r>
              <a:t>BT1 • 20 PHÚT</a:t>
            </a:r>
          </a:p>
        </p:txBody>
      </p:sp>
      <p:sp>
        <p:nvSpPr>
          <p:cNvPr id="10" name="TextBox 9"/>
          <p:cNvSpPr txBox="1"/>
          <p:nvPr/>
        </p:nvSpPr>
        <p:spPr>
          <a:xfrm>
            <a:off x="841247" y="2670048"/>
            <a:ext cx="3136392" cy="2816352"/>
          </a:xfrm>
          <a:prstGeom prst="rect">
            <a:avLst/>
          </a:prstGeom>
          <a:noFill/>
        </p:spPr>
        <p:txBody>
          <a:bodyPr wrap="square">
            <a:spAutoFit/>
          </a:bodyPr>
          <a:lstStyle/>
          <a:p>
            <a:pPr>
              <a:defRPr sz="1400">
                <a:solidFill>
                  <a:srgbClr val="1F2937"/>
                </a:solidFill>
                <a:latin typeface="Aptos"/>
              </a:defRPr>
            </a:pPr>
            <a:r>
              <a:t>Chọn 3 fanpage/thương hiệu.</a:t>
            </a:r>
            <a:br/>
            <a:r>
              <a:t>Phân loại: Content Marketing / Advertising / chỉ đăng bán hàng.</a:t>
            </a:r>
            <a:br/>
            <a:r>
              <a:t>Xác định giai đoạn 5A đối với bạn.</a:t>
            </a:r>
          </a:p>
        </p:txBody>
      </p:sp>
      <p:sp>
        <p:nvSpPr>
          <p:cNvPr id="11" name="Rounded Rectangle 10"/>
          <p:cNvSpPr/>
          <p:nvPr/>
        </p:nvSpPr>
        <p:spPr>
          <a:xfrm>
            <a:off x="4343400" y="2057400"/>
            <a:ext cx="3520440" cy="356616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057400"/>
            <a:ext cx="73152" cy="356616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212848"/>
            <a:ext cx="3154680" cy="411480"/>
          </a:xfrm>
          <a:prstGeom prst="rect">
            <a:avLst/>
          </a:prstGeom>
          <a:noFill/>
        </p:spPr>
        <p:txBody>
          <a:bodyPr wrap="none">
            <a:spAutoFit/>
          </a:bodyPr>
          <a:lstStyle/>
          <a:p>
            <a:pPr>
              <a:defRPr sz="1700" b="1">
                <a:solidFill>
                  <a:srgbClr val="111C2D"/>
                </a:solidFill>
                <a:latin typeface="Aptos Display"/>
              </a:defRPr>
            </a:pPr>
            <a:r>
              <a:t>BT2 • VỀ NHÀ</a:t>
            </a:r>
          </a:p>
        </p:txBody>
      </p:sp>
      <p:sp>
        <p:nvSpPr>
          <p:cNvPr id="14" name="TextBox 13"/>
          <p:cNvSpPr txBox="1"/>
          <p:nvPr/>
        </p:nvSpPr>
        <p:spPr>
          <a:xfrm>
            <a:off x="4544568" y="2670048"/>
            <a:ext cx="3136392" cy="2816352"/>
          </a:xfrm>
          <a:prstGeom prst="rect">
            <a:avLst/>
          </a:prstGeom>
          <a:noFill/>
        </p:spPr>
        <p:txBody>
          <a:bodyPr wrap="square">
            <a:spAutoFit/>
          </a:bodyPr>
          <a:lstStyle/>
          <a:p>
            <a:pPr>
              <a:defRPr sz="1400">
                <a:solidFill>
                  <a:srgbClr val="1F2937"/>
                </a:solidFill>
                <a:latin typeface="Aptos"/>
              </a:defRPr>
            </a:pPr>
            <a:r>
              <a:t>Chọn thương hiệu đồ án.</a:t>
            </a:r>
            <a:br/>
            <a:r>
              <a:t>Mô tả ≤200 từ.</a:t>
            </a:r>
            <a:br/>
            <a:r>
              <a:t>3 đối thủ.</a:t>
            </a:r>
            <a:br/>
            <a:r>
              <a:t>USP theo 3 vòng tròn.</a:t>
            </a:r>
            <a:br/>
            <a:r>
              <a:t>Đánh giá format content.</a:t>
            </a:r>
          </a:p>
        </p:txBody>
      </p:sp>
      <p:sp>
        <p:nvSpPr>
          <p:cNvPr id="15" name="Rounded Rectangle 14"/>
          <p:cNvSpPr/>
          <p:nvPr/>
        </p:nvSpPr>
        <p:spPr>
          <a:xfrm>
            <a:off x="8046720" y="2057400"/>
            <a:ext cx="3520440" cy="356616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057400"/>
            <a:ext cx="73152" cy="356616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212848"/>
            <a:ext cx="3154680" cy="411480"/>
          </a:xfrm>
          <a:prstGeom prst="rect">
            <a:avLst/>
          </a:prstGeom>
          <a:noFill/>
        </p:spPr>
        <p:txBody>
          <a:bodyPr wrap="none">
            <a:spAutoFit/>
          </a:bodyPr>
          <a:lstStyle/>
          <a:p>
            <a:pPr>
              <a:defRPr sz="1700" b="1">
                <a:solidFill>
                  <a:srgbClr val="111C2D"/>
                </a:solidFill>
                <a:latin typeface="Aptos Display"/>
              </a:defRPr>
            </a:pPr>
            <a:r>
              <a:t>BT3–5</a:t>
            </a:r>
          </a:p>
        </p:txBody>
      </p:sp>
      <p:sp>
        <p:nvSpPr>
          <p:cNvPr id="18" name="TextBox 17"/>
          <p:cNvSpPr txBox="1"/>
          <p:nvPr/>
        </p:nvSpPr>
        <p:spPr>
          <a:xfrm>
            <a:off x="8247888" y="2670048"/>
            <a:ext cx="3136392" cy="2816352"/>
          </a:xfrm>
          <a:prstGeom prst="rect">
            <a:avLst/>
          </a:prstGeom>
          <a:noFill/>
        </p:spPr>
        <p:txBody>
          <a:bodyPr wrap="square">
            <a:spAutoFit/>
          </a:bodyPr>
          <a:lstStyle/>
          <a:p>
            <a:pPr>
              <a:defRPr sz="1400">
                <a:solidFill>
                  <a:srgbClr val="1F2937"/>
                </a:solidFill>
                <a:latin typeface="Aptos"/>
              </a:defRPr>
            </a:pPr>
            <a:r>
              <a:t>Nhóm: phân tích case thất bại.</a:t>
            </a:r>
            <a:br/>
            <a:r>
              <a:t>Về nhà: thu thập ≥10 review.</a:t>
            </a:r>
            <a:br/>
            <a:r>
              <a:t>Mở rộng: viết Golden Circle Why–How–What.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WORKED EXAMPLE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Xanh Garden — áp dụng trọn Module 1</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Ví dụ mẫu để học viên dùng làm khuôn tham chiếu.</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1–3 • Từ sản phẩm → USP</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Rau hữu cơ VietGAP, giao nội thành trong 4 giờ.</a:t>
            </a:r>
          </a:p>
          <a:p>
            <a:pPr>
              <a:spcAft>
                <a:spcPts val="400"/>
              </a:spcAft>
              <a:defRPr sz="1420">
                <a:solidFill>
                  <a:srgbClr val="1F2937"/>
                </a:solidFill>
                <a:latin typeface="Aptos"/>
              </a:defRPr>
            </a:pPr>
            <a:r>
              <a:t>• Đối thủ: cửa hàng thực phẩm sạch, sàn TMĐT, chợ/siêu thị.</a:t>
            </a:r>
          </a:p>
          <a:p>
            <a:pPr>
              <a:spcAft>
                <a:spcPts val="400"/>
              </a:spcAft>
              <a:defRPr sz="1420">
                <a:solidFill>
                  <a:srgbClr val="1F2937"/>
                </a:solidFill>
                <a:latin typeface="Aptos"/>
              </a:defRPr>
            </a:pPr>
            <a:r>
              <a:t>• Điểm mạnh: QR truy xuất nguồn gốc.</a:t>
            </a:r>
          </a:p>
          <a:p>
            <a:pPr>
              <a:spcAft>
                <a:spcPts val="400"/>
              </a:spcAft>
              <a:defRPr sz="1420">
                <a:solidFill>
                  <a:srgbClr val="1F2937"/>
                </a:solidFill>
                <a:latin typeface="Aptos"/>
              </a:defRPr>
            </a:pPr>
            <a:r>
              <a:t>• Nhu cầu: phụ huynh lo dư lượng thuốc + thiếu thời gian.</a:t>
            </a:r>
          </a:p>
          <a:p>
            <a:pPr>
              <a:spcAft>
                <a:spcPts val="400"/>
              </a:spcAft>
              <a:defRPr sz="1420">
                <a:solidFill>
                  <a:srgbClr val="1F2937"/>
                </a:solidFill>
                <a:latin typeface="Aptos"/>
              </a:defRPr>
            </a:pPr>
            <a:r>
              <a:t>• Khoảng trống: chưa minh bạch quy trình realtime.</a:t>
            </a:r>
          </a:p>
          <a:p>
            <a:pPr>
              <a:spcAft>
                <a:spcPts val="400"/>
              </a:spcAft>
              <a:defRPr sz="1420">
                <a:solidFill>
                  <a:srgbClr val="1F2937"/>
                </a:solidFill>
                <a:latin typeface="Aptos"/>
              </a:defRPr>
            </a:pPr>
            <a:r>
              <a:t>• USP: “Rau củ hữu cơ minh bạch từng lô hàng — quét mã là biết nguồn gốc, giao tận nhà trong 4 giờ.”</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4–6 • Từ USP → Content</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WHY: gia đình xứng đáng ăn sạch, minh bạch.</a:t>
            </a:r>
          </a:p>
          <a:p>
            <a:pPr>
              <a:spcAft>
                <a:spcPts val="400"/>
              </a:spcAft>
              <a:defRPr sz="1420">
                <a:solidFill>
                  <a:srgbClr val="1F2937"/>
                </a:solidFill>
                <a:latin typeface="Aptos"/>
              </a:defRPr>
            </a:pPr>
            <a:r>
              <a:t>• HOW: hợp tác nông trại VietGAP, QR, kiểm định.</a:t>
            </a:r>
          </a:p>
          <a:p>
            <a:pPr>
              <a:spcAft>
                <a:spcPts val="400"/>
              </a:spcAft>
              <a:defRPr sz="1420">
                <a:solidFill>
                  <a:srgbClr val="1F2937"/>
                </a:solidFill>
                <a:latin typeface="Aptos"/>
              </a:defRPr>
            </a:pPr>
            <a:r>
              <a:t>• WHAT: rau củ giao 4 giờ, truy xuất qua app.</a:t>
            </a:r>
          </a:p>
          <a:p>
            <a:pPr>
              <a:spcAft>
                <a:spcPts val="400"/>
              </a:spcAft>
              <a:defRPr sz="1420">
                <a:solidFill>
                  <a:srgbClr val="1F2937"/>
                </a:solidFill>
                <a:latin typeface="Aptos"/>
              </a:defRPr>
            </a:pPr>
            <a:r>
              <a:t>• TOFU: video 3 dấu hiệu rau ngậm hóa chất.</a:t>
            </a:r>
          </a:p>
          <a:p>
            <a:pPr>
              <a:spcAft>
                <a:spcPts val="400"/>
              </a:spcAft>
              <a:defRPr sz="1420">
                <a:solidFill>
                  <a:srgbClr val="1F2937"/>
                </a:solidFill>
                <a:latin typeface="Aptos"/>
              </a:defRPr>
            </a:pPr>
            <a:r>
              <a:t>• MOFU: so sánh VietGAP vs rau thường.</a:t>
            </a:r>
          </a:p>
          <a:p>
            <a:pPr>
              <a:spcAft>
                <a:spcPts val="400"/>
              </a:spcAft>
              <a:defRPr sz="1420">
                <a:solidFill>
                  <a:srgbClr val="1F2937"/>
                </a:solidFill>
                <a:latin typeface="Aptos"/>
              </a:defRPr>
            </a:pPr>
            <a:r>
              <a:t>• BOFU: demo quy trình quét QR.</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7958D6"/>
                </a:solidFill>
                <a:latin typeface="Aptos"/>
              </a:defRPr>
            </a:pPr>
            <a:r>
              <a:t>MODULE 1 • SELF-CHECK</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23</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15 câu hỏi tự đánh giá</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Dùng để kiểm tra mức độ nắm bài trước Module 2.</a:t>
            </a:r>
          </a:p>
        </p:txBody>
      </p:sp>
      <p:sp>
        <p:nvSpPr>
          <p:cNvPr id="6" name="Rectangle 5"/>
          <p:cNvSpPr/>
          <p:nvPr/>
        </p:nvSpPr>
        <p:spPr>
          <a:xfrm>
            <a:off x="594360" y="1792224"/>
            <a:ext cx="1051560" cy="64008"/>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920240"/>
          <a:ext cx="10972800" cy="4434840"/>
        </p:xfrm>
        <a:graphic>
          <a:graphicData uri="http://schemas.openxmlformats.org/drawingml/2006/table">
            <a:tbl>
              <a:tblPr firstRow="1" bandRow="1">
                <a:tableStyleId>{5C22544A-7EE6-4342-B048-85BDC9FD1C3A}</a:tableStyleId>
              </a:tblPr>
              <a:tblGrid>
                <a:gridCol w="5486400"/>
                <a:gridCol w="5486400"/>
              </a:tblGrid>
              <a:tr h="492760">
                <a:tc>
                  <a:txBody>
                    <a:bodyPr/>
                    <a:lstStyle/>
                    <a:p>
                      <a:pPr algn="ctr">
                        <a:defRPr sz="1120" b="1">
                          <a:solidFill>
                            <a:srgbClr val="FFFFFF"/>
                          </a:solidFill>
                          <a:latin typeface="Aptos"/>
                        </a:defRPr>
                      </a:pPr>
                      <a:r>
                        <a:t>Câu hỏi 1–8</a:t>
                      </a:r>
                    </a:p>
                  </a:txBody>
                  <a:tcPr>
                    <a:solidFill>
                      <a:srgbClr val="111C2D"/>
                    </a:solidFill>
                  </a:tcPr>
                </a:tc>
                <a:tc>
                  <a:txBody>
                    <a:bodyPr/>
                    <a:lstStyle/>
                    <a:p>
                      <a:pPr algn="ctr">
                        <a:defRPr sz="1120" b="1">
                          <a:solidFill>
                            <a:srgbClr val="FFFFFF"/>
                          </a:solidFill>
                          <a:latin typeface="Aptos"/>
                        </a:defRPr>
                      </a:pPr>
                      <a:r>
                        <a:t>Câu hỏi 9–15</a:t>
                      </a:r>
                    </a:p>
                  </a:txBody>
                  <a:tcPr>
                    <a:solidFill>
                      <a:srgbClr val="111C2D"/>
                    </a:solidFill>
                  </a:tcPr>
                </a:tc>
              </a:tr>
              <a:tr h="492760">
                <a:tc>
                  <a:txBody>
                    <a:bodyPr/>
                    <a:lstStyle/>
                    <a:p>
                      <a:pPr algn="ctr">
                        <a:defRPr sz="1070">
                          <a:solidFill>
                            <a:srgbClr val="1F2937"/>
                          </a:solidFill>
                          <a:latin typeface="Aptos"/>
                        </a:defRPr>
                      </a:pPr>
                      <a:r>
                        <a:t>1. Content Marketing khác Advertising ở đâu?</a:t>
                      </a:r>
                    </a:p>
                  </a:txBody>
                  <a:tcPr marL="73152" marR="54864" marT="45720" marB="45720">
                    <a:solidFill>
                      <a:srgbClr val="FFFFFF"/>
                    </a:solidFill>
                  </a:tcPr>
                </a:tc>
                <a:tc>
                  <a:txBody>
                    <a:bodyPr/>
                    <a:lstStyle/>
                    <a:p>
                      <a:pPr algn="l">
                        <a:defRPr sz="1070">
                          <a:solidFill>
                            <a:srgbClr val="1F2937"/>
                          </a:solidFill>
                          <a:latin typeface="Aptos"/>
                        </a:defRPr>
                      </a:pPr>
                      <a:r>
                        <a:t>9. Owned / Earned / Paid khác nhau?</a:t>
                      </a:r>
                    </a:p>
                  </a:txBody>
                  <a:tcPr marL="73152" marR="54864" marT="45720" marB="45720">
                    <a:solidFill>
                      <a:srgbClr val="FFFFFF"/>
                    </a:solidFill>
                  </a:tcPr>
                </a:tc>
              </a:tr>
              <a:tr h="492760">
                <a:tc>
                  <a:txBody>
                    <a:bodyPr/>
                    <a:lstStyle/>
                    <a:p>
                      <a:pPr algn="ctr">
                        <a:defRPr sz="1070">
                          <a:solidFill>
                            <a:srgbClr val="1F2937"/>
                          </a:solidFill>
                          <a:latin typeface="Aptos"/>
                        </a:defRPr>
                      </a:pPr>
                      <a:r>
                        <a:t>2. 4 từ khóa của định nghĩa CMI?</a:t>
                      </a:r>
                    </a:p>
                  </a:txBody>
                  <a:tcPr marL="73152" marR="54864" marT="45720" marB="45720">
                    <a:solidFill>
                      <a:srgbClr val="F2F5F8"/>
                    </a:solidFill>
                  </a:tcPr>
                </a:tc>
                <a:tc>
                  <a:txBody>
                    <a:bodyPr/>
                    <a:lstStyle/>
                    <a:p>
                      <a:pPr algn="l">
                        <a:defRPr sz="1070">
                          <a:solidFill>
                            <a:srgbClr val="1F2937"/>
                          </a:solidFill>
                          <a:latin typeface="Aptos"/>
                        </a:defRPr>
                      </a:pPr>
                      <a:r>
                        <a:t>10. Vì sao 50.000 follow vẫn thất bại?</a:t>
                      </a:r>
                    </a:p>
                  </a:txBody>
                  <a:tcPr marL="73152" marR="54864" marT="45720" marB="45720">
                    <a:solidFill>
                      <a:srgbClr val="F2F5F8"/>
                    </a:solidFill>
                  </a:tcPr>
                </a:tc>
              </a:tr>
              <a:tr h="492760">
                <a:tc>
                  <a:txBody>
                    <a:bodyPr/>
                    <a:lstStyle/>
                    <a:p>
                      <a:pPr algn="ctr">
                        <a:defRPr sz="1070">
                          <a:solidFill>
                            <a:srgbClr val="1F2937"/>
                          </a:solidFill>
                          <a:latin typeface="Aptos"/>
                        </a:defRPr>
                      </a:pPr>
                      <a:r>
                        <a:t>3. Marketing 4.0 khác 3.0?</a:t>
                      </a:r>
                    </a:p>
                  </a:txBody>
                  <a:tcPr marL="73152" marR="54864" marT="45720" marB="45720">
                    <a:solidFill>
                      <a:srgbClr val="FFFFFF"/>
                    </a:solidFill>
                  </a:tcPr>
                </a:tc>
                <a:tc>
                  <a:txBody>
                    <a:bodyPr/>
                    <a:lstStyle/>
                    <a:p>
                      <a:pPr algn="l">
                        <a:defRPr sz="1070">
                          <a:solidFill>
                            <a:srgbClr val="1F2937"/>
                          </a:solidFill>
                          <a:latin typeface="Aptos"/>
                        </a:defRPr>
                      </a:pPr>
                      <a:r>
                        <a:t>11. Golden Circle gồm gì? Ưu tiên vòng nào?</a:t>
                      </a:r>
                    </a:p>
                  </a:txBody>
                  <a:tcPr marL="73152" marR="54864" marT="45720" marB="45720">
                    <a:solidFill>
                      <a:srgbClr val="FFFFFF"/>
                    </a:solidFill>
                  </a:tcPr>
                </a:tc>
              </a:tr>
              <a:tr h="492760">
                <a:tc>
                  <a:txBody>
                    <a:bodyPr/>
                    <a:lstStyle/>
                    <a:p>
                      <a:pPr algn="ctr">
                        <a:defRPr sz="1070">
                          <a:solidFill>
                            <a:srgbClr val="1F2937"/>
                          </a:solidFill>
                          <a:latin typeface="Aptos"/>
                        </a:defRPr>
                      </a:pPr>
                      <a:r>
                        <a:t>4. 5A theo đúng thứ tự?</a:t>
                      </a:r>
                    </a:p>
                  </a:txBody>
                  <a:tcPr marL="73152" marR="54864" marT="45720" marB="45720">
                    <a:solidFill>
                      <a:srgbClr val="F2F5F8"/>
                    </a:solidFill>
                  </a:tcPr>
                </a:tc>
                <a:tc>
                  <a:txBody>
                    <a:bodyPr/>
                    <a:lstStyle/>
                    <a:p>
                      <a:pPr algn="l">
                        <a:defRPr sz="1070">
                          <a:solidFill>
                            <a:srgbClr val="1F2937"/>
                          </a:solidFill>
                          <a:latin typeface="Aptos"/>
                        </a:defRPr>
                      </a:pPr>
                      <a:r>
                        <a:t>12. Attention Economy và 2 hệ quả?</a:t>
                      </a:r>
                    </a:p>
                  </a:txBody>
                  <a:tcPr marL="73152" marR="54864" marT="45720" marB="45720">
                    <a:solidFill>
                      <a:srgbClr val="F2F5F8"/>
                    </a:solidFill>
                  </a:tcPr>
                </a:tc>
              </a:tr>
              <a:tr h="492760">
                <a:tc>
                  <a:txBody>
                    <a:bodyPr/>
                    <a:lstStyle/>
                    <a:p>
                      <a:pPr algn="ctr">
                        <a:defRPr sz="1070">
                          <a:solidFill>
                            <a:srgbClr val="1F2937"/>
                          </a:solidFill>
                          <a:latin typeface="Aptos"/>
                        </a:defRPr>
                      </a:pPr>
                      <a:r>
                        <a:t>5. TOFU là gì? Content phù hợp?</a:t>
                      </a:r>
                    </a:p>
                  </a:txBody>
                  <a:tcPr marL="73152" marR="54864" marT="45720" marB="45720">
                    <a:solidFill>
                      <a:srgbClr val="FFFFFF"/>
                    </a:solidFill>
                  </a:tcPr>
                </a:tc>
                <a:tc>
                  <a:txBody>
                    <a:bodyPr/>
                    <a:lstStyle/>
                    <a:p>
                      <a:pPr algn="l">
                        <a:defRPr sz="1070">
                          <a:solidFill>
                            <a:srgbClr val="1F2937"/>
                          </a:solidFill>
                          <a:latin typeface="Aptos"/>
                        </a:defRPr>
                      </a:pPr>
                      <a:r>
                        <a:t>13. 3 lỗi người mới + cách khắc phục?</a:t>
                      </a:r>
                    </a:p>
                  </a:txBody>
                  <a:tcPr marL="73152" marR="54864" marT="45720" marB="45720">
                    <a:solidFill>
                      <a:srgbClr val="FFFFFF"/>
                    </a:solidFill>
                  </a:tcPr>
                </a:tc>
              </a:tr>
              <a:tr h="492760">
                <a:tc>
                  <a:txBody>
                    <a:bodyPr/>
                    <a:lstStyle/>
                    <a:p>
                      <a:pPr algn="ctr">
                        <a:defRPr sz="1070">
                          <a:solidFill>
                            <a:srgbClr val="1F2937"/>
                          </a:solidFill>
                          <a:latin typeface="Aptos"/>
                        </a:defRPr>
                      </a:pPr>
                      <a:r>
                        <a:t>6. 3 ví dụ UGC?</a:t>
                      </a:r>
                    </a:p>
                  </a:txBody>
                  <a:tcPr marL="73152" marR="54864" marT="45720" marB="45720">
                    <a:solidFill>
                      <a:srgbClr val="F2F5F8"/>
                    </a:solidFill>
                  </a:tcPr>
                </a:tc>
                <a:tc>
                  <a:txBody>
                    <a:bodyPr/>
                    <a:lstStyle/>
                    <a:p>
                      <a:pPr algn="l">
                        <a:defRPr sz="1070">
                          <a:solidFill>
                            <a:srgbClr val="1F2937"/>
                          </a:solidFill>
                          <a:latin typeface="Aptos"/>
                        </a:defRPr>
                      </a:pPr>
                      <a:r>
                        <a:t>14. Vì sao USP Katinat dựa trên trải nghiệm?</a:t>
                      </a:r>
                    </a:p>
                  </a:txBody>
                  <a:tcPr marL="73152" marR="54864" marT="45720" marB="45720">
                    <a:solidFill>
                      <a:srgbClr val="F2F5F8"/>
                    </a:solidFill>
                  </a:tcPr>
                </a:tc>
              </a:tr>
              <a:tr h="492760">
                <a:tc>
                  <a:txBody>
                    <a:bodyPr/>
                    <a:lstStyle/>
                    <a:p>
                      <a:pPr algn="ctr">
                        <a:defRPr sz="1070">
                          <a:solidFill>
                            <a:srgbClr val="1F2937"/>
                          </a:solidFill>
                          <a:latin typeface="Aptos"/>
                        </a:defRPr>
                      </a:pPr>
                      <a:r>
                        <a:t>7. USP = giao điểm của 3 yếu tố nào?</a:t>
                      </a:r>
                    </a:p>
                  </a:txBody>
                  <a:tcPr marL="73152" marR="54864" marT="45720" marB="45720">
                    <a:solidFill>
                      <a:srgbClr val="FFFFFF"/>
                    </a:solidFill>
                  </a:tcPr>
                </a:tc>
                <a:tc>
                  <a:txBody>
                    <a:bodyPr/>
                    <a:lstStyle/>
                    <a:p>
                      <a:pPr algn="l">
                        <a:defRPr sz="1070">
                          <a:solidFill>
                            <a:srgbClr val="1F2937"/>
                          </a:solidFill>
                          <a:latin typeface="Aptos"/>
                        </a:defRPr>
                      </a:pPr>
                      <a:r>
                        <a:t>15. Banner blindness liên quan Attention Economy?</a:t>
                      </a:r>
                    </a:p>
                  </a:txBody>
                  <a:tcPr marL="73152" marR="54864" marT="45720" marB="45720">
                    <a:solidFill>
                      <a:srgbClr val="FFFFFF"/>
                    </a:solidFill>
                  </a:tcPr>
                </a:tc>
              </a:tr>
              <a:tr h="492760">
                <a:tc>
                  <a:txBody>
                    <a:bodyPr/>
                    <a:lstStyle/>
                    <a:p>
                      <a:pPr algn="ctr">
                        <a:defRPr sz="1070">
                          <a:solidFill>
                            <a:srgbClr val="1F2937"/>
                          </a:solidFill>
                          <a:latin typeface="Aptos"/>
                        </a:defRPr>
                      </a:pPr>
                      <a:r>
                        <a:t>8. Vì sao “Đi Để Trở Về” thành công?</a:t>
                      </a:r>
                    </a:p>
                  </a:txBody>
                  <a:tcPr marL="73152" marR="54864" marT="45720" marB="45720">
                    <a:solidFill>
                      <a:srgbClr val="F2F5F8"/>
                    </a:solidFill>
                  </a:tcPr>
                </a:tc>
                <a:tc>
                  <a:txBody>
                    <a:bodyPr/>
                    <a:lstStyle/>
                    <a:p>
                      <a:pPr algn="l">
                        <a:defRPr sz="1070">
                          <a:solidFill>
                            <a:srgbClr val="1F2937"/>
                          </a:solidFill>
                          <a:latin typeface="Aptos"/>
                        </a:defRPr>
                      </a:pP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1 • QUICK REFERENCE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24</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Flashcard Module 1</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6 dòng cần nhớ khi làm bài.</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286000"/>
            <a:ext cx="1691639" cy="132588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CMI</a:t>
            </a:r>
            <a:br/>
            <a:r>
              <a:t>4 TỪ KHÓA</a:t>
            </a:r>
          </a:p>
        </p:txBody>
      </p:sp>
      <p:sp>
        <p:nvSpPr>
          <p:cNvPr id="8" name="Rounded Rectangle 7"/>
          <p:cNvSpPr/>
          <p:nvPr/>
        </p:nvSpPr>
        <p:spPr>
          <a:xfrm>
            <a:off x="2532887" y="2286000"/>
            <a:ext cx="1691639" cy="132588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5A</a:t>
            </a:r>
            <a:br/>
            <a:r>
              <a:t>A→A→A→A→A</a:t>
            </a:r>
          </a:p>
        </p:txBody>
      </p:sp>
      <p:sp>
        <p:nvSpPr>
          <p:cNvPr id="9" name="Rounded Rectangle 8"/>
          <p:cNvSpPr/>
          <p:nvPr/>
        </p:nvSpPr>
        <p:spPr>
          <a:xfrm>
            <a:off x="4334255" y="2286000"/>
            <a:ext cx="1691639" cy="132588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FUNNEL</a:t>
            </a:r>
            <a:br/>
            <a:r>
              <a:t>TOFU→MOFU→BOFU</a:t>
            </a:r>
          </a:p>
        </p:txBody>
      </p:sp>
      <p:sp>
        <p:nvSpPr>
          <p:cNvPr id="10" name="Rounded Rectangle 9"/>
          <p:cNvSpPr/>
          <p:nvPr/>
        </p:nvSpPr>
        <p:spPr>
          <a:xfrm>
            <a:off x="6135623" y="2286000"/>
            <a:ext cx="1691639" cy="132588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USP</a:t>
            </a:r>
            <a:br/>
            <a:r>
              <a:t>3 GIAO ĐIỂM</a:t>
            </a:r>
          </a:p>
        </p:txBody>
      </p:sp>
      <p:sp>
        <p:nvSpPr>
          <p:cNvPr id="11" name="Rounded Rectangle 10"/>
          <p:cNvSpPr/>
          <p:nvPr/>
        </p:nvSpPr>
        <p:spPr>
          <a:xfrm>
            <a:off x="7936992" y="2286000"/>
            <a:ext cx="1691639" cy="1325880"/>
          </a:xfrm>
          <a:prstGeom prst="roundRect">
            <a:avLst/>
          </a:prstGeom>
          <a:solidFill>
            <a:srgbClr val="389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WHY→HOW→WHAT</a:t>
            </a:r>
          </a:p>
        </p:txBody>
      </p:sp>
      <p:sp>
        <p:nvSpPr>
          <p:cNvPr id="12" name="Rounded Rectangle 11"/>
          <p:cNvSpPr/>
          <p:nvPr/>
        </p:nvSpPr>
        <p:spPr>
          <a:xfrm>
            <a:off x="9738359" y="2286000"/>
            <a:ext cx="1691639" cy="132588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OWNED / EARNED / PAID</a:t>
            </a:r>
          </a:p>
        </p:txBody>
      </p:sp>
      <p:sp>
        <p:nvSpPr>
          <p:cNvPr id="13" name="TextBox 12"/>
          <p:cNvSpPr txBox="1"/>
          <p:nvPr/>
        </p:nvSpPr>
        <p:spPr>
          <a:xfrm>
            <a:off x="822960" y="3977639"/>
            <a:ext cx="10424160" cy="1828800"/>
          </a:xfrm>
          <a:prstGeom prst="rect">
            <a:avLst/>
          </a:prstGeom>
          <a:noFill/>
        </p:spPr>
        <p:txBody>
          <a:bodyPr wrap="square" lIns="0" rIns="0">
            <a:spAutoFit/>
          </a:bodyPr>
          <a:lstStyle/>
          <a:p>
            <a:pPr>
              <a:spcAft>
                <a:spcPts val="700"/>
              </a:spcAft>
              <a:defRPr sz="1450">
                <a:solidFill>
                  <a:srgbClr val="1F2937"/>
                </a:solidFill>
                <a:latin typeface="Aptos"/>
              </a:defRPr>
            </a:pPr>
            <a:r>
              <a:t>• CMI: Chiến lược – Giá trị – Nhất quán – Đối tượng xác định.</a:t>
            </a:r>
          </a:p>
          <a:p>
            <a:pPr>
              <a:spcAft>
                <a:spcPts val="700"/>
              </a:spcAft>
              <a:defRPr sz="1450">
                <a:solidFill>
                  <a:srgbClr val="1F2937"/>
                </a:solidFill>
                <a:latin typeface="Aptos"/>
              </a:defRPr>
            </a:pPr>
            <a:r>
              <a:t>• 5A: Aware → Appeal → Ask → Act → Advocate.</a:t>
            </a:r>
          </a:p>
          <a:p>
            <a:pPr>
              <a:spcAft>
                <a:spcPts val="700"/>
              </a:spcAft>
              <a:defRPr sz="1450">
                <a:solidFill>
                  <a:srgbClr val="1F2937"/>
                </a:solidFill>
                <a:latin typeface="Aptos"/>
              </a:defRPr>
            </a:pPr>
            <a:r>
              <a:t>• Funnel: TOFU → MOFU → BOFU; thêm Loyalty.</a:t>
            </a:r>
          </a:p>
          <a:p>
            <a:pPr>
              <a:spcAft>
                <a:spcPts val="700"/>
              </a:spcAft>
              <a:defRPr sz="1450">
                <a:solidFill>
                  <a:srgbClr val="1F2937"/>
                </a:solidFill>
                <a:latin typeface="Aptos"/>
              </a:defRPr>
            </a:pPr>
            <a:r>
              <a:t>• USP = Điểm mạnh ∩ Nhu cầu khách hàng ∩ Khoảng trống đối thủ.</a:t>
            </a:r>
          </a:p>
          <a:p>
            <a:pPr>
              <a:spcAft>
                <a:spcPts val="700"/>
              </a:spcAft>
              <a:defRPr sz="1450">
                <a:solidFill>
                  <a:srgbClr val="1F2937"/>
                </a:solidFill>
                <a:latin typeface="Aptos"/>
              </a:defRPr>
            </a:pPr>
            <a:r>
              <a:t>• Golden Circle: Why → How → What.</a:t>
            </a:r>
          </a:p>
          <a:p>
            <a:pPr>
              <a:spcAft>
                <a:spcPts val="700"/>
              </a:spcAft>
              <a:defRPr sz="1450">
                <a:solidFill>
                  <a:srgbClr val="1F2937"/>
                </a:solidFill>
                <a:latin typeface="Aptos"/>
              </a:defRPr>
            </a:pPr>
            <a:r>
              <a:t>• Media: Owned – Earned – Paid.</a:t>
            </a:r>
          </a:p>
        </p:txBody>
      </p:sp>
      <p:sp>
        <p:nvSpPr>
          <p:cNvPr id="14" name="TextBox 13"/>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C2D"/>
        </a:solidFill>
        <a:effectLst/>
      </p:bgPr>
    </p:bg>
    <p:spTree>
      <p:nvGrpSpPr>
        <p:cNvPr id="1" name=""/>
        <p:cNvGrpSpPr/>
        <p:nvPr/>
      </p:nvGrpSpPr>
      <p:grpSpPr/>
      <p:sp>
        <p:nvSpPr>
          <p:cNvPr id="2" name="Oval 1"/>
          <p:cNvSpPr/>
          <p:nvPr/>
        </p:nvSpPr>
        <p:spPr>
          <a:xfrm>
            <a:off x="8961120" y="-457200"/>
            <a:ext cx="3017520" cy="3017520"/>
          </a:xfrm>
          <a:prstGeom prst="ellipse">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5120640"/>
            <a:ext cx="2011680" cy="20116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CONTENT MARKETING</a:t>
            </a:r>
          </a:p>
        </p:txBody>
      </p:sp>
      <p:sp>
        <p:nvSpPr>
          <p:cNvPr id="5" name="TextBox 4"/>
          <p:cNvSpPr txBox="1"/>
          <p:nvPr/>
        </p:nvSpPr>
        <p:spPr>
          <a:xfrm>
            <a:off x="11201400" y="246888"/>
            <a:ext cx="411480" cy="274320"/>
          </a:xfrm>
          <a:prstGeom prst="rect">
            <a:avLst/>
          </a:prstGeom>
          <a:noFill/>
        </p:spPr>
        <p:txBody>
          <a:bodyPr wrap="none">
            <a:spAutoFit/>
          </a:bodyPr>
          <a:lstStyle/>
          <a:p>
            <a:pPr algn="r">
              <a:defRPr sz="1000">
                <a:solidFill>
                  <a:srgbClr val="BEC8D2"/>
                </a:solidFill>
                <a:latin typeface="Aptos"/>
              </a:defRPr>
            </a:pPr>
            <a:r>
              <a:t>25</a:t>
            </a:r>
          </a:p>
        </p:txBody>
      </p:sp>
      <p:sp>
        <p:nvSpPr>
          <p:cNvPr id="6" name="TextBox 5"/>
          <p:cNvSpPr txBox="1"/>
          <p:nvPr/>
        </p:nvSpPr>
        <p:spPr>
          <a:xfrm>
            <a:off x="685800" y="1463040"/>
            <a:ext cx="8961120" cy="1371600"/>
          </a:xfrm>
          <a:prstGeom prst="rect">
            <a:avLst/>
          </a:prstGeom>
          <a:noFill/>
        </p:spPr>
        <p:txBody>
          <a:bodyPr wrap="none">
            <a:spAutoFit/>
          </a:bodyPr>
          <a:lstStyle/>
          <a:p>
            <a:pPr>
              <a:defRPr sz="1800" b="1">
                <a:solidFill>
                  <a:srgbClr val="2D66DB"/>
                </a:solidFill>
                <a:latin typeface="Aptos"/>
              </a:defRPr>
            </a:pPr>
            <a:r>
              <a:t>MODULE 2</a:t>
            </a:r>
          </a:p>
          <a:p>
            <a:pPr>
              <a:defRPr sz="4000" b="1">
                <a:solidFill>
                  <a:srgbClr val="FFFFFF"/>
                </a:solidFill>
                <a:latin typeface="Aptos Display"/>
              </a:defRPr>
            </a:pPr>
            <a:r>
              <a:t>Chiến lược nội dung</a:t>
            </a:r>
          </a:p>
        </p:txBody>
      </p:sp>
      <p:sp>
        <p:nvSpPr>
          <p:cNvPr id="7" name="TextBox 6"/>
          <p:cNvSpPr txBox="1"/>
          <p:nvPr/>
        </p:nvSpPr>
        <p:spPr>
          <a:xfrm>
            <a:off x="731520" y="3200400"/>
            <a:ext cx="8046720" cy="1005840"/>
          </a:xfrm>
          <a:prstGeom prst="rect">
            <a:avLst/>
          </a:prstGeom>
          <a:noFill/>
        </p:spPr>
        <p:txBody>
          <a:bodyPr wrap="none">
            <a:spAutoFit/>
          </a:bodyPr>
          <a:lstStyle/>
          <a:p>
            <a:pPr>
              <a:defRPr sz="1800">
                <a:solidFill>
                  <a:srgbClr val="CDD7E1"/>
                </a:solidFill>
                <a:latin typeface="Aptos"/>
              </a:defRPr>
            </a:pPr>
            <a:r>
              <a:t>Buổi 3–4 • 6 giờ • Biến insight khách hàng thành hệ thống content có thể vận hành.</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Bộ slide giảng dạy • Dựa trên Module 1 &amp; Module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MỤC TIÊU</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26</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Sau Module 2, học viên phải làm được gì?</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6 năng lực đầu ra</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10607040" cy="4114800"/>
          </a:xfrm>
          <a:prstGeom prst="rect">
            <a:avLst/>
          </a:prstGeom>
          <a:noFill/>
        </p:spPr>
        <p:txBody>
          <a:bodyPr wrap="square" lIns="0" rIns="0">
            <a:spAutoFit/>
          </a:bodyPr>
          <a:lstStyle/>
          <a:p>
            <a:pPr>
              <a:spcAft>
                <a:spcPts val="700"/>
              </a:spcAft>
              <a:defRPr sz="1900">
                <a:solidFill>
                  <a:srgbClr val="1F2937"/>
                </a:solidFill>
                <a:latin typeface="Aptos"/>
              </a:defRPr>
            </a:pPr>
            <a:r>
              <a:t>• Xây dựng Buyer Persona dựa trên dữ liệu thực tế.</a:t>
            </a:r>
          </a:p>
          <a:p>
            <a:pPr>
              <a:spcAft>
                <a:spcPts val="700"/>
              </a:spcAft>
              <a:defRPr sz="1900">
                <a:solidFill>
                  <a:srgbClr val="1F2937"/>
                </a:solidFill>
                <a:latin typeface="Aptos"/>
              </a:defRPr>
            </a:pPr>
            <a:r>
              <a:t>• Vẽ Customer Journey Map 5 giai đoạn, gắn content vào từng touchpoint.</a:t>
            </a:r>
          </a:p>
          <a:p>
            <a:pPr>
              <a:spcAft>
                <a:spcPts val="700"/>
              </a:spcAft>
              <a:defRPr sz="1900">
                <a:solidFill>
                  <a:srgbClr val="1F2937"/>
                </a:solidFill>
                <a:latin typeface="Aptos"/>
              </a:defRPr>
            </a:pPr>
            <a:r>
              <a:t>• Xây Content Pillar và Topic Cluster.</a:t>
            </a:r>
          </a:p>
          <a:p>
            <a:pPr>
              <a:spcAft>
                <a:spcPts val="700"/>
              </a:spcAft>
              <a:defRPr sz="1900">
                <a:solidFill>
                  <a:srgbClr val="1F2937"/>
                </a:solidFill>
                <a:latin typeface="Aptos"/>
              </a:defRPr>
            </a:pPr>
            <a:r>
              <a:t>• Áp dụng Content Mix 3H: Hero – Hub – Hygiene.</a:t>
            </a:r>
          </a:p>
          <a:p>
            <a:pPr>
              <a:spcAft>
                <a:spcPts val="700"/>
              </a:spcAft>
              <a:defRPr sz="1900">
                <a:solidFill>
                  <a:srgbClr val="1F2937"/>
                </a:solidFill>
                <a:latin typeface="Aptos"/>
              </a:defRPr>
            </a:pPr>
            <a:r>
              <a:t>• Lập Content Calendar 1 tháng trên đa kênh.</a:t>
            </a:r>
          </a:p>
          <a:p>
            <a:pPr>
              <a:spcAft>
                <a:spcPts val="700"/>
              </a:spcAft>
              <a:defRPr sz="1900">
                <a:solidFill>
                  <a:srgbClr val="1F2937"/>
                </a:solidFill>
                <a:latin typeface="Aptos"/>
              </a:defRPr>
            </a:pPr>
            <a:r>
              <a:t>• Xây Content Brief chuẩn để giao việc/sản xuất nhất quán.</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BUYER PERSONA</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27</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Buyer Persona — viết cho một người cụ thể</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Persona là hồ sơ bán hư cấu dựa trên dữ liệu thật + suy luận có căn cứ.</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057400"/>
            <a:ext cx="3429000" cy="352044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057400"/>
            <a:ext cx="73152" cy="352044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212848"/>
            <a:ext cx="3063240" cy="411480"/>
          </a:xfrm>
          <a:prstGeom prst="rect">
            <a:avLst/>
          </a:prstGeom>
          <a:noFill/>
        </p:spPr>
        <p:txBody>
          <a:bodyPr wrap="none">
            <a:spAutoFit/>
          </a:bodyPr>
          <a:lstStyle/>
          <a:p>
            <a:pPr>
              <a:defRPr sz="1800" b="1">
                <a:solidFill>
                  <a:srgbClr val="111C2D"/>
                </a:solidFill>
                <a:latin typeface="Aptos Display"/>
              </a:defRPr>
            </a:pPr>
            <a:r>
              <a:t>TẠI SAO QUAN TRỌNG?</a:t>
            </a:r>
          </a:p>
        </p:txBody>
      </p:sp>
      <p:sp>
        <p:nvSpPr>
          <p:cNvPr id="10" name="TextBox 9"/>
          <p:cNvSpPr txBox="1"/>
          <p:nvPr/>
        </p:nvSpPr>
        <p:spPr>
          <a:xfrm>
            <a:off x="886968" y="2670048"/>
            <a:ext cx="3044952" cy="2770632"/>
          </a:xfrm>
          <a:prstGeom prst="rect">
            <a:avLst/>
          </a:prstGeom>
          <a:noFill/>
        </p:spPr>
        <p:txBody>
          <a:bodyPr wrap="square">
            <a:spAutoFit/>
          </a:bodyPr>
          <a:lstStyle/>
          <a:p>
            <a:pPr>
              <a:spcAft>
                <a:spcPts val="400"/>
              </a:spcAft>
              <a:defRPr sz="1450">
                <a:solidFill>
                  <a:srgbClr val="1F2937"/>
                </a:solidFill>
                <a:latin typeface="Aptos"/>
              </a:defRPr>
            </a:pPr>
            <a:r>
              <a:t>• Viết cho một người cụ thể → trúng đích hơn.</a:t>
            </a:r>
          </a:p>
          <a:p>
            <a:pPr>
              <a:spcAft>
                <a:spcPts val="400"/>
              </a:spcAft>
              <a:defRPr sz="1450">
                <a:solidFill>
                  <a:srgbClr val="1F2937"/>
                </a:solidFill>
                <a:latin typeface="Aptos"/>
              </a:defRPr>
            </a:pPr>
            <a:r>
              <a:t>• Chọn kênh phân phối.</a:t>
            </a:r>
          </a:p>
          <a:p>
            <a:pPr>
              <a:spcAft>
                <a:spcPts val="400"/>
              </a:spcAft>
              <a:defRPr sz="1450">
                <a:solidFill>
                  <a:srgbClr val="1F2937"/>
                </a:solidFill>
                <a:latin typeface="Aptos"/>
              </a:defRPr>
            </a:pPr>
            <a:r>
              <a:t>• Chọn tone, format, thời điểm đăng.</a:t>
            </a:r>
          </a:p>
        </p:txBody>
      </p:sp>
      <p:sp>
        <p:nvSpPr>
          <p:cNvPr id="11" name="Rounded Rectangle 10"/>
          <p:cNvSpPr/>
          <p:nvPr/>
        </p:nvSpPr>
        <p:spPr>
          <a:xfrm>
            <a:off x="4389120" y="2057400"/>
            <a:ext cx="3429000" cy="352044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057400"/>
            <a:ext cx="73152" cy="352044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212848"/>
            <a:ext cx="3063240" cy="411480"/>
          </a:xfrm>
          <a:prstGeom prst="rect">
            <a:avLst/>
          </a:prstGeom>
          <a:noFill/>
        </p:spPr>
        <p:txBody>
          <a:bodyPr wrap="none">
            <a:spAutoFit/>
          </a:bodyPr>
          <a:lstStyle/>
          <a:p>
            <a:pPr>
              <a:defRPr sz="1800" b="1">
                <a:solidFill>
                  <a:srgbClr val="111C2D"/>
                </a:solidFill>
                <a:latin typeface="Aptos Display"/>
              </a:defRPr>
            </a:pPr>
            <a:r>
              <a:t>DỮ LIỆU TỐI THIỂU</a:t>
            </a:r>
          </a:p>
        </p:txBody>
      </p:sp>
      <p:sp>
        <p:nvSpPr>
          <p:cNvPr id="14" name="TextBox 13"/>
          <p:cNvSpPr txBox="1"/>
          <p:nvPr/>
        </p:nvSpPr>
        <p:spPr>
          <a:xfrm>
            <a:off x="4590288" y="2670048"/>
            <a:ext cx="3044952" cy="2770632"/>
          </a:xfrm>
          <a:prstGeom prst="rect">
            <a:avLst/>
          </a:prstGeom>
          <a:noFill/>
        </p:spPr>
        <p:txBody>
          <a:bodyPr wrap="square">
            <a:spAutoFit/>
          </a:bodyPr>
          <a:lstStyle/>
          <a:p>
            <a:pPr>
              <a:spcAft>
                <a:spcPts val="400"/>
              </a:spcAft>
              <a:defRPr sz="1450">
                <a:solidFill>
                  <a:srgbClr val="1F2937"/>
                </a:solidFill>
                <a:latin typeface="Aptos"/>
              </a:defRPr>
            </a:pPr>
            <a:r>
              <a:t>• Phỏng vấn/khảo sát khách hàng.</a:t>
            </a:r>
          </a:p>
          <a:p>
            <a:pPr>
              <a:spcAft>
                <a:spcPts val="400"/>
              </a:spcAft>
              <a:defRPr sz="1450">
                <a:solidFill>
                  <a:srgbClr val="1F2937"/>
                </a:solidFill>
                <a:latin typeface="Aptos"/>
              </a:defRPr>
            </a:pPr>
            <a:r>
              <a:t>• Phân tích bình luận/review.</a:t>
            </a:r>
          </a:p>
          <a:p>
            <a:pPr>
              <a:spcAft>
                <a:spcPts val="400"/>
              </a:spcAft>
              <a:defRPr sz="1450">
                <a:solidFill>
                  <a:srgbClr val="1F2937"/>
                </a:solidFill>
                <a:latin typeface="Aptos"/>
              </a:defRPr>
            </a:pPr>
            <a:r>
              <a:t>• Insight từ nền tảng quảng cáo.</a:t>
            </a:r>
          </a:p>
        </p:txBody>
      </p:sp>
      <p:sp>
        <p:nvSpPr>
          <p:cNvPr id="15" name="Rounded Rectangle 14"/>
          <p:cNvSpPr/>
          <p:nvPr/>
        </p:nvSpPr>
        <p:spPr>
          <a:xfrm>
            <a:off x="8092440" y="2057400"/>
            <a:ext cx="3429000" cy="352044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2057400"/>
            <a:ext cx="73152" cy="352044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212848"/>
            <a:ext cx="3063240" cy="411480"/>
          </a:xfrm>
          <a:prstGeom prst="rect">
            <a:avLst/>
          </a:prstGeom>
          <a:noFill/>
        </p:spPr>
        <p:txBody>
          <a:bodyPr wrap="none">
            <a:spAutoFit/>
          </a:bodyPr>
          <a:lstStyle/>
          <a:p>
            <a:pPr>
              <a:defRPr sz="1800" b="1">
                <a:solidFill>
                  <a:srgbClr val="111C2D"/>
                </a:solidFill>
                <a:latin typeface="Aptos Display"/>
              </a:defRPr>
            </a:pPr>
            <a:r>
              <a:t>QUY MÔ HỢP LÝ</a:t>
            </a:r>
          </a:p>
        </p:txBody>
      </p:sp>
      <p:sp>
        <p:nvSpPr>
          <p:cNvPr id="18" name="TextBox 17"/>
          <p:cNvSpPr txBox="1"/>
          <p:nvPr/>
        </p:nvSpPr>
        <p:spPr>
          <a:xfrm>
            <a:off x="8293608" y="2670048"/>
            <a:ext cx="3044952" cy="2770632"/>
          </a:xfrm>
          <a:prstGeom prst="rect">
            <a:avLst/>
          </a:prstGeom>
          <a:noFill/>
        </p:spPr>
        <p:txBody>
          <a:bodyPr wrap="square">
            <a:spAutoFit/>
          </a:bodyPr>
          <a:lstStyle/>
          <a:p>
            <a:pPr>
              <a:spcAft>
                <a:spcPts val="400"/>
              </a:spcAft>
              <a:defRPr sz="1450">
                <a:solidFill>
                  <a:srgbClr val="1F2937"/>
                </a:solidFill>
                <a:latin typeface="Aptos"/>
              </a:defRPr>
            </a:pPr>
            <a:r>
              <a:t>• 2–4 Persona chính.</a:t>
            </a:r>
          </a:p>
          <a:p>
            <a:pPr>
              <a:spcAft>
                <a:spcPts val="400"/>
              </a:spcAft>
              <a:defRPr sz="1450">
                <a:solidFill>
                  <a:srgbClr val="1F2937"/>
                </a:solidFill>
                <a:latin typeface="Aptos"/>
              </a:defRPr>
            </a:pPr>
            <a:r>
              <a:t>• Quá nhiều → loãng chiến lược.</a:t>
            </a:r>
          </a:p>
          <a:p>
            <a:pPr>
              <a:spcAft>
                <a:spcPts val="400"/>
              </a:spcAft>
              <a:defRPr sz="1450">
                <a:solidFill>
                  <a:srgbClr val="1F2937"/>
                </a:solidFill>
                <a:latin typeface="Aptos"/>
              </a:defRPr>
            </a:pPr>
            <a:r>
              <a:t>• Persona phải có căn cứ dữ liệu.</a:t>
            </a:r>
          </a:p>
        </p:txBody>
      </p:sp>
      <p:sp>
        <p:nvSpPr>
          <p:cNvPr id="19" name="TextBox 18"/>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PERSONA CANVAS</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28</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Persona Canvas — 8 thành phần bắt buộc</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Ví dụ ngành F&amp;B / trà sữa</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874519"/>
          <a:ext cx="11064240" cy="4526280"/>
        </p:xfrm>
        <a:graphic>
          <a:graphicData uri="http://schemas.openxmlformats.org/drawingml/2006/table">
            <a:tbl>
              <a:tblPr firstRow="1" bandRow="1">
                <a:tableStyleId>{5C22544A-7EE6-4342-B048-85BDC9FD1C3A}</a:tableStyleId>
              </a:tblPr>
              <a:tblGrid>
                <a:gridCol w="3688080"/>
                <a:gridCol w="3688080"/>
                <a:gridCol w="3688080"/>
              </a:tblGrid>
              <a:tr h="502920">
                <a:tc>
                  <a:txBody>
                    <a:bodyPr/>
                    <a:lstStyle/>
                    <a:p>
                      <a:pPr algn="ctr">
                        <a:defRPr sz="1080" b="1">
                          <a:solidFill>
                            <a:srgbClr val="FFFFFF"/>
                          </a:solidFill>
                          <a:latin typeface="Aptos"/>
                        </a:defRPr>
                      </a:pPr>
                      <a:r>
                        <a:t>#</a:t>
                      </a:r>
                    </a:p>
                  </a:txBody>
                  <a:tcPr>
                    <a:solidFill>
                      <a:srgbClr val="111C2D"/>
                    </a:solidFill>
                  </a:tcPr>
                </a:tc>
                <a:tc>
                  <a:txBody>
                    <a:bodyPr/>
                    <a:lstStyle/>
                    <a:p>
                      <a:pPr algn="ctr">
                        <a:defRPr sz="1080" b="1">
                          <a:solidFill>
                            <a:srgbClr val="FFFFFF"/>
                          </a:solidFill>
                          <a:latin typeface="Aptos"/>
                        </a:defRPr>
                      </a:pPr>
                      <a:r>
                        <a:t>Thành phần</a:t>
                      </a:r>
                    </a:p>
                  </a:txBody>
                  <a:tcPr>
                    <a:solidFill>
                      <a:srgbClr val="111C2D"/>
                    </a:solidFill>
                  </a:tcPr>
                </a:tc>
                <a:tc>
                  <a:txBody>
                    <a:bodyPr/>
                    <a:lstStyle/>
                    <a:p>
                      <a:pPr algn="ctr">
                        <a:defRPr sz="1080" b="1">
                          <a:solidFill>
                            <a:srgbClr val="FFFFFF"/>
                          </a:solidFill>
                          <a:latin typeface="Aptos"/>
                        </a:defRPr>
                      </a:pPr>
                      <a:r>
                        <a:t>Ví dụ</a:t>
                      </a:r>
                    </a:p>
                  </a:txBody>
                  <a:tcPr>
                    <a:solidFill>
                      <a:srgbClr val="111C2D"/>
                    </a:solidFill>
                  </a:tcPr>
                </a:tc>
              </a:tr>
              <a:tr h="502920">
                <a:tc>
                  <a:txBody>
                    <a:bodyPr/>
                    <a:lstStyle/>
                    <a:p>
                      <a:pPr algn="ctr">
                        <a:defRPr sz="1030">
                          <a:solidFill>
                            <a:srgbClr val="1F2937"/>
                          </a:solidFill>
                          <a:latin typeface="Aptos"/>
                        </a:defRPr>
                      </a:pPr>
                      <a:r>
                        <a:t>1</a:t>
                      </a:r>
                    </a:p>
                  </a:txBody>
                  <a:tcPr marL="73152" marR="54864" marT="45720" marB="45720">
                    <a:solidFill>
                      <a:srgbClr val="FFFFFF"/>
                    </a:solidFill>
                  </a:tcPr>
                </a:tc>
                <a:tc>
                  <a:txBody>
                    <a:bodyPr/>
                    <a:lstStyle/>
                    <a:p>
                      <a:pPr algn="l">
                        <a:defRPr sz="1030">
                          <a:solidFill>
                            <a:srgbClr val="1F2937"/>
                          </a:solidFill>
                          <a:latin typeface="Aptos"/>
                        </a:defRPr>
                      </a:pPr>
                      <a:r>
                        <a:t>Nhân khẩu học</a:t>
                      </a:r>
                    </a:p>
                  </a:txBody>
                  <a:tcPr marL="73152" marR="54864" marT="45720" marB="45720">
                    <a:solidFill>
                      <a:srgbClr val="FFFFFF"/>
                    </a:solidFill>
                  </a:tcPr>
                </a:tc>
                <a:tc>
                  <a:txBody>
                    <a:bodyPr/>
                    <a:lstStyle/>
                    <a:p>
                      <a:pPr algn="l">
                        <a:defRPr sz="1030">
                          <a:solidFill>
                            <a:srgbClr val="1F2937"/>
                          </a:solidFill>
                          <a:latin typeface="Aptos"/>
                        </a:defRPr>
                      </a:pPr>
                      <a:r>
                        <a:t>Nữ 18–24, SV/nhân viên mới đi làm, 5–10tr, thành phố</a:t>
                      </a:r>
                    </a:p>
                  </a:txBody>
                  <a:tcPr marL="73152" marR="54864" marT="45720" marB="45720">
                    <a:solidFill>
                      <a:srgbClr val="FFFFFF"/>
                    </a:solidFill>
                  </a:tcPr>
                </a:tc>
              </a:tr>
              <a:tr h="502920">
                <a:tc>
                  <a:txBody>
                    <a:bodyPr/>
                    <a:lstStyle/>
                    <a:p>
                      <a:pPr algn="ctr">
                        <a:defRPr sz="1030">
                          <a:solidFill>
                            <a:srgbClr val="1F2937"/>
                          </a:solidFill>
                          <a:latin typeface="Aptos"/>
                        </a:defRPr>
                      </a:pPr>
                      <a:r>
                        <a:t>2</a:t>
                      </a:r>
                    </a:p>
                  </a:txBody>
                  <a:tcPr marL="73152" marR="54864" marT="45720" marB="45720">
                    <a:solidFill>
                      <a:srgbClr val="F2F5F8"/>
                    </a:solidFill>
                  </a:tcPr>
                </a:tc>
                <a:tc>
                  <a:txBody>
                    <a:bodyPr/>
                    <a:lstStyle/>
                    <a:p>
                      <a:pPr algn="l">
                        <a:defRPr sz="1030">
                          <a:solidFill>
                            <a:srgbClr val="1F2937"/>
                          </a:solidFill>
                          <a:latin typeface="Aptos"/>
                        </a:defRPr>
                      </a:pPr>
                      <a:r>
                        <a:t>Goals</a:t>
                      </a:r>
                    </a:p>
                  </a:txBody>
                  <a:tcPr marL="73152" marR="54864" marT="45720" marB="45720">
                    <a:solidFill>
                      <a:srgbClr val="F2F5F8"/>
                    </a:solidFill>
                  </a:tcPr>
                </a:tc>
                <a:tc>
                  <a:txBody>
                    <a:bodyPr/>
                    <a:lstStyle/>
                    <a:p>
                      <a:pPr algn="l">
                        <a:defRPr sz="1030">
                          <a:solidFill>
                            <a:srgbClr val="1F2937"/>
                          </a:solidFill>
                          <a:latin typeface="Aptos"/>
                        </a:defRPr>
                      </a:pPr>
                      <a:r>
                        <a:t>Thư giãn; có ảnh đẹp đăng story</a:t>
                      </a:r>
                    </a:p>
                  </a:txBody>
                  <a:tcPr marL="73152" marR="54864" marT="45720" marB="45720">
                    <a:solidFill>
                      <a:srgbClr val="F2F5F8"/>
                    </a:solidFill>
                  </a:tcPr>
                </a:tc>
              </a:tr>
              <a:tr h="502920">
                <a:tc>
                  <a:txBody>
                    <a:bodyPr/>
                    <a:lstStyle/>
                    <a:p>
                      <a:pPr algn="ctr">
                        <a:defRPr sz="1030">
                          <a:solidFill>
                            <a:srgbClr val="1F2937"/>
                          </a:solidFill>
                          <a:latin typeface="Aptos"/>
                        </a:defRPr>
                      </a:pPr>
                      <a:r>
                        <a:t>3</a:t>
                      </a:r>
                    </a:p>
                  </a:txBody>
                  <a:tcPr marL="73152" marR="54864" marT="45720" marB="45720">
                    <a:solidFill>
                      <a:srgbClr val="FFFFFF"/>
                    </a:solidFill>
                  </a:tcPr>
                </a:tc>
                <a:tc>
                  <a:txBody>
                    <a:bodyPr/>
                    <a:lstStyle/>
                    <a:p>
                      <a:pPr algn="l">
                        <a:defRPr sz="1030">
                          <a:solidFill>
                            <a:srgbClr val="1F2937"/>
                          </a:solidFill>
                          <a:latin typeface="Aptos"/>
                        </a:defRPr>
                      </a:pPr>
                      <a:r>
                        <a:t>Pain Points</a:t>
                      </a:r>
                    </a:p>
                  </a:txBody>
                  <a:tcPr marL="73152" marR="54864" marT="45720" marB="45720">
                    <a:solidFill>
                      <a:srgbClr val="FFFFFF"/>
                    </a:solidFill>
                  </a:tcPr>
                </a:tc>
                <a:tc>
                  <a:txBody>
                    <a:bodyPr/>
                    <a:lstStyle/>
                    <a:p>
                      <a:pPr algn="l">
                        <a:defRPr sz="1030">
                          <a:solidFill>
                            <a:srgbClr val="1F2937"/>
                          </a:solidFill>
                          <a:latin typeface="Aptos"/>
                        </a:defRPr>
                      </a:pPr>
                      <a:r>
                        <a:t>Ít tiền nhưng muốn “sang”; sợ tăng cân; ngại xếp hàng</a:t>
                      </a:r>
                    </a:p>
                  </a:txBody>
                  <a:tcPr marL="73152" marR="54864" marT="45720" marB="45720">
                    <a:solidFill>
                      <a:srgbClr val="FFFFFF"/>
                    </a:solidFill>
                  </a:tcPr>
                </a:tc>
              </a:tr>
              <a:tr h="502920">
                <a:tc>
                  <a:txBody>
                    <a:bodyPr/>
                    <a:lstStyle/>
                    <a:p>
                      <a:pPr algn="ctr">
                        <a:defRPr sz="1030">
                          <a:solidFill>
                            <a:srgbClr val="1F2937"/>
                          </a:solidFill>
                          <a:latin typeface="Aptos"/>
                        </a:defRPr>
                      </a:pPr>
                      <a:r>
                        <a:t>4</a:t>
                      </a:r>
                    </a:p>
                  </a:txBody>
                  <a:tcPr marL="73152" marR="54864" marT="45720" marB="45720">
                    <a:solidFill>
                      <a:srgbClr val="F2F5F8"/>
                    </a:solidFill>
                  </a:tcPr>
                </a:tc>
                <a:tc>
                  <a:txBody>
                    <a:bodyPr/>
                    <a:lstStyle/>
                    <a:p>
                      <a:pPr algn="l">
                        <a:defRPr sz="1030">
                          <a:solidFill>
                            <a:srgbClr val="1F2937"/>
                          </a:solidFill>
                          <a:latin typeface="Aptos"/>
                        </a:defRPr>
                      </a:pPr>
                      <a:r>
                        <a:t>Hành vi</a:t>
                      </a:r>
                    </a:p>
                  </a:txBody>
                  <a:tcPr marL="73152" marR="54864" marT="45720" marB="45720">
                    <a:solidFill>
                      <a:srgbClr val="F2F5F8"/>
                    </a:solidFill>
                  </a:tcPr>
                </a:tc>
                <a:tc>
                  <a:txBody>
                    <a:bodyPr/>
                    <a:lstStyle/>
                    <a:p>
                      <a:pPr algn="l">
                        <a:defRPr sz="1030">
                          <a:solidFill>
                            <a:srgbClr val="1F2937"/>
                          </a:solidFill>
                          <a:latin typeface="Aptos"/>
                        </a:defRPr>
                      </a:pPr>
                      <a:r>
                        <a:t>Xem TikTok review; đặt GrabFood/ShopeeFood</a:t>
                      </a:r>
                    </a:p>
                  </a:txBody>
                  <a:tcPr marL="73152" marR="54864" marT="45720" marB="45720">
                    <a:solidFill>
                      <a:srgbClr val="F2F5F8"/>
                    </a:solidFill>
                  </a:tcPr>
                </a:tc>
              </a:tr>
              <a:tr h="502920">
                <a:tc>
                  <a:txBody>
                    <a:bodyPr/>
                    <a:lstStyle/>
                    <a:p>
                      <a:pPr algn="ctr">
                        <a:defRPr sz="1030">
                          <a:solidFill>
                            <a:srgbClr val="1F2937"/>
                          </a:solidFill>
                          <a:latin typeface="Aptos"/>
                        </a:defRPr>
                      </a:pPr>
                      <a:r>
                        <a:t>5</a:t>
                      </a:r>
                    </a:p>
                  </a:txBody>
                  <a:tcPr marL="73152" marR="54864" marT="45720" marB="45720">
                    <a:solidFill>
                      <a:srgbClr val="FFFFFF"/>
                    </a:solidFill>
                  </a:tcPr>
                </a:tc>
                <a:tc>
                  <a:txBody>
                    <a:bodyPr/>
                    <a:lstStyle/>
                    <a:p>
                      <a:pPr algn="l">
                        <a:defRPr sz="1030">
                          <a:solidFill>
                            <a:srgbClr val="1F2937"/>
                          </a:solidFill>
                          <a:latin typeface="Aptos"/>
                        </a:defRPr>
                      </a:pPr>
                      <a:r>
                        <a:t>Kênh ưa thích</a:t>
                      </a:r>
                    </a:p>
                  </a:txBody>
                  <a:tcPr marL="73152" marR="54864" marT="45720" marB="45720">
                    <a:solidFill>
                      <a:srgbClr val="FFFFFF"/>
                    </a:solidFill>
                  </a:tcPr>
                </a:tc>
                <a:tc>
                  <a:txBody>
                    <a:bodyPr/>
                    <a:lstStyle/>
                    <a:p>
                      <a:pPr algn="l">
                        <a:defRPr sz="1030">
                          <a:solidFill>
                            <a:srgbClr val="1F2937"/>
                          </a:solidFill>
                          <a:latin typeface="Aptos"/>
                        </a:defRPr>
                      </a:pPr>
                      <a:r>
                        <a:t>TikTok, Instagram, group review FB</a:t>
                      </a:r>
                    </a:p>
                  </a:txBody>
                  <a:tcPr marL="73152" marR="54864" marT="45720" marB="45720">
                    <a:solidFill>
                      <a:srgbClr val="FFFFFF"/>
                    </a:solidFill>
                  </a:tcPr>
                </a:tc>
              </a:tr>
              <a:tr h="502920">
                <a:tc>
                  <a:txBody>
                    <a:bodyPr/>
                    <a:lstStyle/>
                    <a:p>
                      <a:pPr algn="ctr">
                        <a:defRPr sz="1030">
                          <a:solidFill>
                            <a:srgbClr val="1F2937"/>
                          </a:solidFill>
                          <a:latin typeface="Aptos"/>
                        </a:defRPr>
                      </a:pPr>
                      <a:r>
                        <a:t>6</a:t>
                      </a:r>
                    </a:p>
                  </a:txBody>
                  <a:tcPr marL="73152" marR="54864" marT="45720" marB="45720">
                    <a:solidFill>
                      <a:srgbClr val="F2F5F8"/>
                    </a:solidFill>
                  </a:tcPr>
                </a:tc>
                <a:tc>
                  <a:txBody>
                    <a:bodyPr/>
                    <a:lstStyle/>
                    <a:p>
                      <a:pPr algn="l">
                        <a:defRPr sz="1030">
                          <a:solidFill>
                            <a:srgbClr val="1F2937"/>
                          </a:solidFill>
                          <a:latin typeface="Aptos"/>
                        </a:defRPr>
                      </a:pPr>
                      <a:r>
                        <a:t>Objections</a:t>
                      </a:r>
                    </a:p>
                  </a:txBody>
                  <a:tcPr marL="73152" marR="54864" marT="45720" marB="45720">
                    <a:solidFill>
                      <a:srgbClr val="F2F5F8"/>
                    </a:solidFill>
                  </a:tcPr>
                </a:tc>
                <a:tc>
                  <a:txBody>
                    <a:bodyPr/>
                    <a:lstStyle/>
                    <a:p>
                      <a:pPr algn="l">
                        <a:defRPr sz="1030">
                          <a:solidFill>
                            <a:srgbClr val="1F2937"/>
                          </a:solidFill>
                          <a:latin typeface="Aptos"/>
                        </a:defRPr>
                      </a:pPr>
                      <a:r>
                        <a:t>Giá cao; không tin review seeding</a:t>
                      </a:r>
                    </a:p>
                  </a:txBody>
                  <a:tcPr marL="73152" marR="54864" marT="45720" marB="45720">
                    <a:solidFill>
                      <a:srgbClr val="F2F5F8"/>
                    </a:solidFill>
                  </a:tcPr>
                </a:tc>
              </a:tr>
              <a:tr h="502920">
                <a:tc>
                  <a:txBody>
                    <a:bodyPr/>
                    <a:lstStyle/>
                    <a:p>
                      <a:pPr algn="ctr">
                        <a:defRPr sz="1030">
                          <a:solidFill>
                            <a:srgbClr val="1F2937"/>
                          </a:solidFill>
                          <a:latin typeface="Aptos"/>
                        </a:defRPr>
                      </a:pPr>
                      <a:r>
                        <a:t>7</a:t>
                      </a:r>
                    </a:p>
                  </a:txBody>
                  <a:tcPr marL="73152" marR="54864" marT="45720" marB="45720">
                    <a:solidFill>
                      <a:srgbClr val="FFFFFF"/>
                    </a:solidFill>
                  </a:tcPr>
                </a:tc>
                <a:tc>
                  <a:txBody>
                    <a:bodyPr/>
                    <a:lstStyle/>
                    <a:p>
                      <a:pPr algn="l">
                        <a:defRPr sz="1030">
                          <a:solidFill>
                            <a:srgbClr val="1F2937"/>
                          </a:solidFill>
                          <a:latin typeface="Aptos"/>
                        </a:defRPr>
                      </a:pPr>
                      <a:r>
                        <a:t>Quote</a:t>
                      </a:r>
                    </a:p>
                  </a:txBody>
                  <a:tcPr marL="73152" marR="54864" marT="45720" marB="45720">
                    <a:solidFill>
                      <a:srgbClr val="FFFFFF"/>
                    </a:solidFill>
                  </a:tcPr>
                </a:tc>
                <a:tc>
                  <a:txBody>
                    <a:bodyPr/>
                    <a:lstStyle/>
                    <a:p>
                      <a:pPr algn="l">
                        <a:defRPr sz="1030">
                          <a:solidFill>
                            <a:srgbClr val="1F2937"/>
                          </a:solidFill>
                          <a:latin typeface="Aptos"/>
                        </a:defRPr>
                      </a:pPr>
                      <a:r>
                        <a:t>“Đồ uống ngon thì phải đẹp nữa…”</a:t>
                      </a:r>
                    </a:p>
                  </a:txBody>
                  <a:tcPr marL="73152" marR="54864" marT="45720" marB="45720">
                    <a:solidFill>
                      <a:srgbClr val="FFFFFF"/>
                    </a:solidFill>
                  </a:tcPr>
                </a:tc>
              </a:tr>
              <a:tr h="502920">
                <a:tc>
                  <a:txBody>
                    <a:bodyPr/>
                    <a:lstStyle/>
                    <a:p>
                      <a:pPr algn="ctr">
                        <a:defRPr sz="1030">
                          <a:solidFill>
                            <a:srgbClr val="1F2937"/>
                          </a:solidFill>
                          <a:latin typeface="Aptos"/>
                        </a:defRPr>
                      </a:pPr>
                      <a:r>
                        <a:t>8</a:t>
                      </a:r>
                    </a:p>
                  </a:txBody>
                  <a:tcPr marL="73152" marR="54864" marT="45720" marB="45720">
                    <a:solidFill>
                      <a:srgbClr val="F2F5F8"/>
                    </a:solidFill>
                  </a:tcPr>
                </a:tc>
                <a:tc>
                  <a:txBody>
                    <a:bodyPr/>
                    <a:lstStyle/>
                    <a:p>
                      <a:pPr algn="l">
                        <a:defRPr sz="1030">
                          <a:solidFill>
                            <a:srgbClr val="1F2937"/>
                          </a:solidFill>
                          <a:latin typeface="Aptos"/>
                        </a:defRPr>
                      </a:pPr>
                      <a:r>
                        <a:t>Tên &amp; ảnh</a:t>
                      </a:r>
                    </a:p>
                  </a:txBody>
                  <a:tcPr marL="73152" marR="54864" marT="45720" marB="45720">
                    <a:solidFill>
                      <a:srgbClr val="F2F5F8"/>
                    </a:solidFill>
                  </a:tcPr>
                </a:tc>
                <a:tc>
                  <a:txBody>
                    <a:bodyPr/>
                    <a:lstStyle/>
                    <a:p>
                      <a:pPr algn="l">
                        <a:defRPr sz="1030">
                          <a:solidFill>
                            <a:srgbClr val="1F2937"/>
                          </a:solidFill>
                          <a:latin typeface="Aptos"/>
                        </a:defRPr>
                      </a:pPr>
                      <a:r>
                        <a:t>“Chi — Nàng công sở mê trà sữa”</a:t>
                      </a: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CUSTOMER JOURNEY</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29</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Customer Journey Map — gắn content vào từng điểm chạm</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5 giai đoạn mapping với mô hình 5A.</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240280"/>
            <a:ext cx="2051913" cy="114300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AWARENESS</a:t>
            </a:r>
          </a:p>
        </p:txBody>
      </p:sp>
      <p:sp>
        <p:nvSpPr>
          <p:cNvPr id="8" name="Rounded Rectangle 7"/>
          <p:cNvSpPr/>
          <p:nvPr/>
        </p:nvSpPr>
        <p:spPr>
          <a:xfrm>
            <a:off x="2893161" y="2240280"/>
            <a:ext cx="2051913" cy="114300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CONSIDERATION</a:t>
            </a:r>
          </a:p>
        </p:txBody>
      </p:sp>
      <p:sp>
        <p:nvSpPr>
          <p:cNvPr id="9" name="Rounded Rectangle 8"/>
          <p:cNvSpPr/>
          <p:nvPr/>
        </p:nvSpPr>
        <p:spPr>
          <a:xfrm>
            <a:off x="5054803" y="2240280"/>
            <a:ext cx="2051913" cy="114300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DECISION</a:t>
            </a:r>
          </a:p>
        </p:txBody>
      </p:sp>
      <p:sp>
        <p:nvSpPr>
          <p:cNvPr id="10" name="Rounded Rectangle 9"/>
          <p:cNvSpPr/>
          <p:nvPr/>
        </p:nvSpPr>
        <p:spPr>
          <a:xfrm>
            <a:off x="7216444" y="2240280"/>
            <a:ext cx="2051913" cy="114300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PURCHASE</a:t>
            </a:r>
          </a:p>
        </p:txBody>
      </p:sp>
      <p:sp>
        <p:nvSpPr>
          <p:cNvPr id="11" name="Rounded Rectangle 10"/>
          <p:cNvSpPr/>
          <p:nvPr/>
        </p:nvSpPr>
        <p:spPr>
          <a:xfrm>
            <a:off x="9378086" y="2240280"/>
            <a:ext cx="2051913" cy="114300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RETENTION /</a:t>
            </a:r>
            <a:br/>
            <a:r>
              <a:t>ADVOCACY</a:t>
            </a:r>
          </a:p>
        </p:txBody>
      </p:sp>
      <p:sp>
        <p:nvSpPr>
          <p:cNvPr id="12" name="TextBox 11"/>
          <p:cNvSpPr txBox="1"/>
          <p:nvPr/>
        </p:nvSpPr>
        <p:spPr>
          <a:xfrm>
            <a:off x="731520" y="3840480"/>
            <a:ext cx="10607040" cy="1920240"/>
          </a:xfrm>
          <a:prstGeom prst="rect">
            <a:avLst/>
          </a:prstGeom>
          <a:noFill/>
        </p:spPr>
        <p:txBody>
          <a:bodyPr wrap="square" lIns="0" rIns="0">
            <a:spAutoFit/>
          </a:bodyPr>
          <a:lstStyle/>
          <a:p>
            <a:pPr>
              <a:spcAft>
                <a:spcPts val="700"/>
              </a:spcAft>
              <a:defRPr sz="1450">
                <a:solidFill>
                  <a:srgbClr val="1F2937"/>
                </a:solidFill>
                <a:latin typeface="Aptos"/>
              </a:defRPr>
            </a:pPr>
            <a:r>
              <a:t>• Awareness → tò mò/thích thú: short video, giải trí/giáo dục.</a:t>
            </a:r>
          </a:p>
          <a:p>
            <a:pPr>
              <a:spcAft>
                <a:spcPts val="700"/>
              </a:spcAft>
              <a:defRPr sz="1450">
                <a:solidFill>
                  <a:srgbClr val="1F2937"/>
                </a:solidFill>
                <a:latin typeface="Aptos"/>
              </a:defRPr>
            </a:pPr>
            <a:r>
              <a:t>• Consideration → tin tưởng/an tâm: blog so sánh, review, infographic.</a:t>
            </a:r>
          </a:p>
          <a:p>
            <a:pPr>
              <a:spcAft>
                <a:spcPts val="700"/>
              </a:spcAft>
              <a:defRPr sz="1450">
                <a:solidFill>
                  <a:srgbClr val="1F2937"/>
                </a:solidFill>
                <a:latin typeface="Aptos"/>
              </a:defRPr>
            </a:pPr>
            <a:r>
              <a:t>• Decision → tự tin/chắc chắn: case study, testimonial, ưu đãi, demo.</a:t>
            </a:r>
          </a:p>
          <a:p>
            <a:pPr>
              <a:spcAft>
                <a:spcPts val="700"/>
              </a:spcAft>
              <a:defRPr sz="1450">
                <a:solidFill>
                  <a:srgbClr val="1F2937"/>
                </a:solidFill>
                <a:latin typeface="Aptos"/>
              </a:defRPr>
            </a:pPr>
            <a:r>
              <a:t>• Purchase → thuận tiện/an toàn: hướng dẫn, FAQ, đổi trả.</a:t>
            </a:r>
          </a:p>
          <a:p>
            <a:pPr>
              <a:spcAft>
                <a:spcPts val="700"/>
              </a:spcAft>
              <a:defRPr sz="1450">
                <a:solidFill>
                  <a:srgbClr val="1F2937"/>
                </a:solidFill>
                <a:latin typeface="Aptos"/>
              </a:defRPr>
            </a:pPr>
            <a:r>
              <a:t>• Retention → được trân trọng/tự hào: cảm ơn, thành viên, khảo sát.</a:t>
            </a:r>
          </a:p>
        </p:txBody>
      </p:sp>
      <p:sp>
        <p:nvSpPr>
          <p:cNvPr id="13" name="TextBox 1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JOURNEY EXAMPLE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30</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Ví dụ Customer Journey — ngành mỹ phẩm</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Một hành trình = câu hỏi + touchpoint + content + KPI.</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874519"/>
          <a:ext cx="11155680" cy="4526280"/>
        </p:xfrm>
        <a:graphic>
          <a:graphicData uri="http://schemas.openxmlformats.org/drawingml/2006/table">
            <a:tbl>
              <a:tblPr firstRow="1" bandRow="1">
                <a:tableStyleId>{5C22544A-7EE6-4342-B048-85BDC9FD1C3A}</a:tableStyleId>
              </a:tblPr>
              <a:tblGrid>
                <a:gridCol w="2231136"/>
                <a:gridCol w="2231136"/>
                <a:gridCol w="2231136"/>
                <a:gridCol w="2231136"/>
                <a:gridCol w="2231136"/>
              </a:tblGrid>
              <a:tr h="754380">
                <a:tc>
                  <a:txBody>
                    <a:bodyPr/>
                    <a:lstStyle/>
                    <a:p>
                      <a:pPr algn="ctr">
                        <a:defRPr sz="1050" b="1">
                          <a:solidFill>
                            <a:srgbClr val="FFFFFF"/>
                          </a:solidFill>
                          <a:latin typeface="Aptos"/>
                        </a:defRPr>
                      </a:pPr>
                      <a:r>
                        <a:t>Giai đoạn</a:t>
                      </a:r>
                    </a:p>
                  </a:txBody>
                  <a:tcPr>
                    <a:solidFill>
                      <a:srgbClr val="111C2D"/>
                    </a:solidFill>
                  </a:tcPr>
                </a:tc>
                <a:tc>
                  <a:txBody>
                    <a:bodyPr/>
                    <a:lstStyle/>
                    <a:p>
                      <a:pPr algn="ctr">
                        <a:defRPr sz="1050" b="1">
                          <a:solidFill>
                            <a:srgbClr val="FFFFFF"/>
                          </a:solidFill>
                          <a:latin typeface="Aptos"/>
                        </a:defRPr>
                      </a:pPr>
                      <a:r>
                        <a:t>Suy nghĩ</a:t>
                      </a:r>
                    </a:p>
                  </a:txBody>
                  <a:tcPr>
                    <a:solidFill>
                      <a:srgbClr val="111C2D"/>
                    </a:solidFill>
                  </a:tcPr>
                </a:tc>
                <a:tc>
                  <a:txBody>
                    <a:bodyPr/>
                    <a:lstStyle/>
                    <a:p>
                      <a:pPr algn="ctr">
                        <a:defRPr sz="1050" b="1">
                          <a:solidFill>
                            <a:srgbClr val="FFFFFF"/>
                          </a:solidFill>
                          <a:latin typeface="Aptos"/>
                        </a:defRPr>
                      </a:pPr>
                      <a:r>
                        <a:t>Touchpoint</a:t>
                      </a:r>
                    </a:p>
                  </a:txBody>
                  <a:tcPr>
                    <a:solidFill>
                      <a:srgbClr val="111C2D"/>
                    </a:solidFill>
                  </a:tcPr>
                </a:tc>
                <a:tc>
                  <a:txBody>
                    <a:bodyPr/>
                    <a:lstStyle/>
                    <a:p>
                      <a:pPr algn="ctr">
                        <a:defRPr sz="1050" b="1">
                          <a:solidFill>
                            <a:srgbClr val="FFFFFF"/>
                          </a:solidFill>
                          <a:latin typeface="Aptos"/>
                        </a:defRPr>
                      </a:pPr>
                      <a:r>
                        <a:t>Content</a:t>
                      </a:r>
                    </a:p>
                  </a:txBody>
                  <a:tcPr>
                    <a:solidFill>
                      <a:srgbClr val="111C2D"/>
                    </a:solidFill>
                  </a:tcPr>
                </a:tc>
                <a:tc>
                  <a:txBody>
                    <a:bodyPr/>
                    <a:lstStyle/>
                    <a:p>
                      <a:pPr algn="ctr">
                        <a:defRPr sz="1050" b="1">
                          <a:solidFill>
                            <a:srgbClr val="FFFFFF"/>
                          </a:solidFill>
                          <a:latin typeface="Aptos"/>
                        </a:defRPr>
                      </a:pPr>
                      <a:r>
                        <a:t>KPI</a:t>
                      </a:r>
                    </a:p>
                  </a:txBody>
                  <a:tcPr>
                    <a:solidFill>
                      <a:srgbClr val="111C2D"/>
                    </a:solidFill>
                  </a:tcPr>
                </a:tc>
              </a:tr>
              <a:tr h="754380">
                <a:tc>
                  <a:txBody>
                    <a:bodyPr/>
                    <a:lstStyle/>
                    <a:p>
                      <a:pPr algn="ctr">
                        <a:defRPr sz="1000">
                          <a:solidFill>
                            <a:srgbClr val="1F2937"/>
                          </a:solidFill>
                          <a:latin typeface="Aptos"/>
                        </a:defRPr>
                      </a:pPr>
                      <a:r>
                        <a:t>Awareness</a:t>
                      </a:r>
                    </a:p>
                  </a:txBody>
                  <a:tcPr marL="73152" marR="54864" marT="45720" marB="45720">
                    <a:solidFill>
                      <a:srgbClr val="FFFFFF"/>
                    </a:solidFill>
                  </a:tcPr>
                </a:tc>
                <a:tc>
                  <a:txBody>
                    <a:bodyPr/>
                    <a:lstStyle/>
                    <a:p>
                      <a:pPr algn="l">
                        <a:defRPr sz="1000">
                          <a:solidFill>
                            <a:srgbClr val="1F2937"/>
                          </a:solidFill>
                          <a:latin typeface="Aptos"/>
                        </a:defRPr>
                      </a:pPr>
                      <a:r>
                        <a:t>“Da mình xỉn màu”</a:t>
                      </a:r>
                    </a:p>
                  </a:txBody>
                  <a:tcPr marL="73152" marR="54864" marT="45720" marB="45720">
                    <a:solidFill>
                      <a:srgbClr val="FFFFFF"/>
                    </a:solidFill>
                  </a:tcPr>
                </a:tc>
                <a:tc>
                  <a:txBody>
                    <a:bodyPr/>
                    <a:lstStyle/>
                    <a:p>
                      <a:pPr algn="l">
                        <a:defRPr sz="1000">
                          <a:solidFill>
                            <a:srgbClr val="1F2937"/>
                          </a:solidFill>
                          <a:latin typeface="Aptos"/>
                        </a:defRPr>
                      </a:pPr>
                      <a:r>
                        <a:t>TikTok, bạn bè</a:t>
                      </a:r>
                    </a:p>
                  </a:txBody>
                  <a:tcPr marL="73152" marR="54864" marT="45720" marB="45720">
                    <a:solidFill>
                      <a:srgbClr val="FFFFFF"/>
                    </a:solidFill>
                  </a:tcPr>
                </a:tc>
                <a:tc>
                  <a:txBody>
                    <a:bodyPr/>
                    <a:lstStyle/>
                    <a:p>
                      <a:pPr algn="l">
                        <a:defRPr sz="1000">
                          <a:solidFill>
                            <a:srgbClr val="1F2937"/>
                          </a:solidFill>
                          <a:latin typeface="Aptos"/>
                        </a:defRPr>
                      </a:pPr>
                      <a:r>
                        <a:t>Video 5 dấu hiệu da cần detox</a:t>
                      </a:r>
                    </a:p>
                  </a:txBody>
                  <a:tcPr marL="73152" marR="54864" marT="45720" marB="45720">
                    <a:solidFill>
                      <a:srgbClr val="FFFFFF"/>
                    </a:solidFill>
                  </a:tcPr>
                </a:tc>
                <a:tc>
                  <a:txBody>
                    <a:bodyPr/>
                    <a:lstStyle/>
                    <a:p>
                      <a:pPr algn="l">
                        <a:defRPr sz="1000">
                          <a:solidFill>
                            <a:srgbClr val="1F2937"/>
                          </a:solidFill>
                          <a:latin typeface="Aptos"/>
                        </a:defRPr>
                      </a:pPr>
                      <a:r>
                        <a:t>Views, Reach</a:t>
                      </a:r>
                    </a:p>
                  </a:txBody>
                  <a:tcPr marL="73152" marR="54864" marT="45720" marB="45720">
                    <a:solidFill>
                      <a:srgbClr val="FFFFFF"/>
                    </a:solidFill>
                  </a:tcPr>
                </a:tc>
              </a:tr>
              <a:tr h="754380">
                <a:tc>
                  <a:txBody>
                    <a:bodyPr/>
                    <a:lstStyle/>
                    <a:p>
                      <a:pPr algn="ctr">
                        <a:defRPr sz="1000">
                          <a:solidFill>
                            <a:srgbClr val="1F2937"/>
                          </a:solidFill>
                          <a:latin typeface="Aptos"/>
                        </a:defRPr>
                      </a:pPr>
                      <a:r>
                        <a:t>Consideration</a:t>
                      </a:r>
                    </a:p>
                  </a:txBody>
                  <a:tcPr marL="73152" marR="54864" marT="45720" marB="45720">
                    <a:solidFill>
                      <a:srgbClr val="F2F5F8"/>
                    </a:solidFill>
                  </a:tcPr>
                </a:tc>
                <a:tc>
                  <a:txBody>
                    <a:bodyPr/>
                    <a:lstStyle/>
                    <a:p>
                      <a:pPr algn="l">
                        <a:defRPr sz="1000">
                          <a:solidFill>
                            <a:srgbClr val="1F2937"/>
                          </a:solidFill>
                          <a:latin typeface="Aptos"/>
                        </a:defRPr>
                      </a:pPr>
                      <a:r>
                        <a:t>“Serum nào an toàn?”</a:t>
                      </a:r>
                    </a:p>
                  </a:txBody>
                  <a:tcPr marL="73152" marR="54864" marT="45720" marB="45720">
                    <a:solidFill>
                      <a:srgbClr val="F2F5F8"/>
                    </a:solidFill>
                  </a:tcPr>
                </a:tc>
                <a:tc>
                  <a:txBody>
                    <a:bodyPr/>
                    <a:lstStyle/>
                    <a:p>
                      <a:pPr algn="l">
                        <a:defRPr sz="1000">
                          <a:solidFill>
                            <a:srgbClr val="1F2937"/>
                          </a:solidFill>
                          <a:latin typeface="Aptos"/>
                        </a:defRPr>
                      </a:pPr>
                      <a:r>
                        <a:t>Google, review</a:t>
                      </a:r>
                    </a:p>
                  </a:txBody>
                  <a:tcPr marL="73152" marR="54864" marT="45720" marB="45720">
                    <a:solidFill>
                      <a:srgbClr val="F2F5F8"/>
                    </a:solidFill>
                  </a:tcPr>
                </a:tc>
                <a:tc>
                  <a:txBody>
                    <a:bodyPr/>
                    <a:lstStyle/>
                    <a:p>
                      <a:pPr algn="l">
                        <a:defRPr sz="1000">
                          <a:solidFill>
                            <a:srgbClr val="1F2937"/>
                          </a:solidFill>
                          <a:latin typeface="Aptos"/>
                        </a:defRPr>
                      </a:pPr>
                      <a:r>
                        <a:t>Blog so sánh 5 serum vitamin C</a:t>
                      </a:r>
                    </a:p>
                  </a:txBody>
                  <a:tcPr marL="73152" marR="54864" marT="45720" marB="45720">
                    <a:solidFill>
                      <a:srgbClr val="F2F5F8"/>
                    </a:solidFill>
                  </a:tcPr>
                </a:tc>
                <a:tc>
                  <a:txBody>
                    <a:bodyPr/>
                    <a:lstStyle/>
                    <a:p>
                      <a:pPr algn="l">
                        <a:defRPr sz="1000">
                          <a:solidFill>
                            <a:srgbClr val="1F2937"/>
                          </a:solidFill>
                          <a:latin typeface="Aptos"/>
                        </a:defRPr>
                      </a:pPr>
                      <a:r>
                        <a:t>Traffic, Time</a:t>
                      </a:r>
                    </a:p>
                  </a:txBody>
                  <a:tcPr marL="73152" marR="54864" marT="45720" marB="45720">
                    <a:solidFill>
                      <a:srgbClr val="F2F5F8"/>
                    </a:solidFill>
                  </a:tcPr>
                </a:tc>
              </a:tr>
              <a:tr h="754380">
                <a:tc>
                  <a:txBody>
                    <a:bodyPr/>
                    <a:lstStyle/>
                    <a:p>
                      <a:pPr algn="ctr">
                        <a:defRPr sz="1000">
                          <a:solidFill>
                            <a:srgbClr val="1F2937"/>
                          </a:solidFill>
                          <a:latin typeface="Aptos"/>
                        </a:defRPr>
                      </a:pPr>
                      <a:r>
                        <a:t>Decision</a:t>
                      </a:r>
                    </a:p>
                  </a:txBody>
                  <a:tcPr marL="73152" marR="54864" marT="45720" marB="45720">
                    <a:solidFill>
                      <a:srgbClr val="FFFFFF"/>
                    </a:solidFill>
                  </a:tcPr>
                </a:tc>
                <a:tc>
                  <a:txBody>
                    <a:bodyPr/>
                    <a:lstStyle/>
                    <a:p>
                      <a:pPr algn="l">
                        <a:defRPr sz="1000">
                          <a:solidFill>
                            <a:srgbClr val="1F2937"/>
                          </a:solidFill>
                          <a:latin typeface="Aptos"/>
                        </a:defRPr>
                      </a:pPr>
                      <a:r>
                        <a:t>“Shop A hay B?”</a:t>
                      </a:r>
                    </a:p>
                  </a:txBody>
                  <a:tcPr marL="73152" marR="54864" marT="45720" marB="45720">
                    <a:solidFill>
                      <a:srgbClr val="FFFFFF"/>
                    </a:solidFill>
                  </a:tcPr>
                </a:tc>
                <a:tc>
                  <a:txBody>
                    <a:bodyPr/>
                    <a:lstStyle/>
                    <a:p>
                      <a:pPr algn="l">
                        <a:defRPr sz="1000">
                          <a:solidFill>
                            <a:srgbClr val="1F2937"/>
                          </a:solidFill>
                          <a:latin typeface="Aptos"/>
                        </a:defRPr>
                      </a:pPr>
                      <a:r>
                        <a:t>Website, fanpage</a:t>
                      </a:r>
                    </a:p>
                  </a:txBody>
                  <a:tcPr marL="73152" marR="54864" marT="45720" marB="45720">
                    <a:solidFill>
                      <a:srgbClr val="FFFFFF"/>
                    </a:solidFill>
                  </a:tcPr>
                </a:tc>
                <a:tc>
                  <a:txBody>
                    <a:bodyPr/>
                    <a:lstStyle/>
                    <a:p>
                      <a:pPr algn="l">
                        <a:defRPr sz="1000">
                          <a:solidFill>
                            <a:srgbClr val="1F2937"/>
                          </a:solidFill>
                          <a:latin typeface="Aptos"/>
                        </a:defRPr>
                      </a:pPr>
                      <a:r>
                        <a:t>Case, chứng nhận</a:t>
                      </a:r>
                    </a:p>
                  </a:txBody>
                  <a:tcPr marL="73152" marR="54864" marT="45720" marB="45720">
                    <a:solidFill>
                      <a:srgbClr val="FFFFFF"/>
                    </a:solidFill>
                  </a:tcPr>
                </a:tc>
                <a:tc>
                  <a:txBody>
                    <a:bodyPr/>
                    <a:lstStyle/>
                    <a:p>
                      <a:pPr algn="l">
                        <a:defRPr sz="1000">
                          <a:solidFill>
                            <a:srgbClr val="1F2937"/>
                          </a:solidFill>
                          <a:latin typeface="Aptos"/>
                        </a:defRPr>
                      </a:pPr>
                      <a:r>
                        <a:t>CTR, Add to cart</a:t>
                      </a:r>
                    </a:p>
                  </a:txBody>
                  <a:tcPr marL="73152" marR="54864" marT="45720" marB="45720">
                    <a:solidFill>
                      <a:srgbClr val="FFFFFF"/>
                    </a:solidFill>
                  </a:tcPr>
                </a:tc>
              </a:tr>
              <a:tr h="754380">
                <a:tc>
                  <a:txBody>
                    <a:bodyPr/>
                    <a:lstStyle/>
                    <a:p>
                      <a:pPr algn="ctr">
                        <a:defRPr sz="1000">
                          <a:solidFill>
                            <a:srgbClr val="1F2937"/>
                          </a:solidFill>
                          <a:latin typeface="Aptos"/>
                        </a:defRPr>
                      </a:pPr>
                      <a:r>
                        <a:t>Purchase</a:t>
                      </a:r>
                    </a:p>
                  </a:txBody>
                  <a:tcPr marL="73152" marR="54864" marT="45720" marB="45720">
                    <a:solidFill>
                      <a:srgbClr val="F2F5F8"/>
                    </a:solidFill>
                  </a:tcPr>
                </a:tc>
                <a:tc>
                  <a:txBody>
                    <a:bodyPr/>
                    <a:lstStyle/>
                    <a:p>
                      <a:pPr algn="l">
                        <a:defRPr sz="1000">
                          <a:solidFill>
                            <a:srgbClr val="1F2937"/>
                          </a:solidFill>
                          <a:latin typeface="Aptos"/>
                        </a:defRPr>
                      </a:pPr>
                      <a:r>
                        <a:t>“Đặt thế nào?”</a:t>
                      </a:r>
                    </a:p>
                  </a:txBody>
                  <a:tcPr marL="73152" marR="54864" marT="45720" marB="45720">
                    <a:solidFill>
                      <a:srgbClr val="F2F5F8"/>
                    </a:solidFill>
                  </a:tcPr>
                </a:tc>
                <a:tc>
                  <a:txBody>
                    <a:bodyPr/>
                    <a:lstStyle/>
                    <a:p>
                      <a:pPr algn="l">
                        <a:defRPr sz="1000">
                          <a:solidFill>
                            <a:srgbClr val="1F2937"/>
                          </a:solidFill>
                          <a:latin typeface="Aptos"/>
                        </a:defRPr>
                      </a:pPr>
                      <a:r>
                        <a:t>Shopee/Web</a:t>
                      </a:r>
                    </a:p>
                  </a:txBody>
                  <a:tcPr marL="73152" marR="54864" marT="45720" marB="45720">
                    <a:solidFill>
                      <a:srgbClr val="F2F5F8"/>
                    </a:solidFill>
                  </a:tcPr>
                </a:tc>
                <a:tc>
                  <a:txBody>
                    <a:bodyPr/>
                    <a:lstStyle/>
                    <a:p>
                      <a:pPr algn="l">
                        <a:defRPr sz="1000">
                          <a:solidFill>
                            <a:srgbClr val="1F2937"/>
                          </a:solidFill>
                          <a:latin typeface="Aptos"/>
                        </a:defRPr>
                      </a:pPr>
                      <a:r>
                        <a:t>FAQ, đổi trả</a:t>
                      </a:r>
                    </a:p>
                  </a:txBody>
                  <a:tcPr marL="73152" marR="54864" marT="45720" marB="45720">
                    <a:solidFill>
                      <a:srgbClr val="F2F5F8"/>
                    </a:solidFill>
                  </a:tcPr>
                </a:tc>
                <a:tc>
                  <a:txBody>
                    <a:bodyPr/>
                    <a:lstStyle/>
                    <a:p>
                      <a:pPr algn="l">
                        <a:defRPr sz="1000">
                          <a:solidFill>
                            <a:srgbClr val="1F2937"/>
                          </a:solidFill>
                          <a:latin typeface="Aptos"/>
                        </a:defRPr>
                      </a:pPr>
                      <a:r>
                        <a:t>Conversion</a:t>
                      </a:r>
                    </a:p>
                  </a:txBody>
                  <a:tcPr marL="73152" marR="54864" marT="45720" marB="45720">
                    <a:solidFill>
                      <a:srgbClr val="F2F5F8"/>
                    </a:solidFill>
                  </a:tcPr>
                </a:tc>
              </a:tr>
              <a:tr h="754380">
                <a:tc>
                  <a:txBody>
                    <a:bodyPr/>
                    <a:lstStyle/>
                    <a:p>
                      <a:pPr algn="ctr">
                        <a:defRPr sz="1000">
                          <a:solidFill>
                            <a:srgbClr val="1F2937"/>
                          </a:solidFill>
                          <a:latin typeface="Aptos"/>
                        </a:defRPr>
                      </a:pPr>
                      <a:r>
                        <a:t>Retention</a:t>
                      </a:r>
                    </a:p>
                  </a:txBody>
                  <a:tcPr marL="73152" marR="54864" marT="45720" marB="45720">
                    <a:solidFill>
                      <a:srgbClr val="FFFFFF"/>
                    </a:solidFill>
                  </a:tcPr>
                </a:tc>
                <a:tc>
                  <a:txBody>
                    <a:bodyPr/>
                    <a:lstStyle/>
                    <a:p>
                      <a:pPr algn="l">
                        <a:defRPr sz="1000">
                          <a:solidFill>
                            <a:srgbClr val="1F2937"/>
                          </a:solidFill>
                          <a:latin typeface="Aptos"/>
                        </a:defRPr>
                      </a:pPr>
                      <a:r>
                        <a:t>“Có hiệu quả không?”</a:t>
                      </a:r>
                    </a:p>
                  </a:txBody>
                  <a:tcPr marL="73152" marR="54864" marT="45720" marB="45720">
                    <a:solidFill>
                      <a:srgbClr val="FFFFFF"/>
                    </a:solidFill>
                  </a:tcPr>
                </a:tc>
                <a:tc>
                  <a:txBody>
                    <a:bodyPr/>
                    <a:lstStyle/>
                    <a:p>
                      <a:pPr algn="l">
                        <a:defRPr sz="1000">
                          <a:solidFill>
                            <a:srgbClr val="1F2937"/>
                          </a:solidFill>
                          <a:latin typeface="Aptos"/>
                        </a:defRPr>
                      </a:pPr>
                      <a:r>
                        <a:t>Email, Zalo</a:t>
                      </a:r>
                    </a:p>
                  </a:txBody>
                  <a:tcPr marL="73152" marR="54864" marT="45720" marB="45720">
                    <a:solidFill>
                      <a:srgbClr val="FFFFFF"/>
                    </a:solidFill>
                  </a:tcPr>
                </a:tc>
                <a:tc>
                  <a:txBody>
                    <a:bodyPr/>
                    <a:lstStyle/>
                    <a:p>
                      <a:pPr algn="l">
                        <a:defRPr sz="1000">
                          <a:solidFill>
                            <a:srgbClr val="1F2937"/>
                          </a:solidFill>
                          <a:latin typeface="Aptos"/>
                        </a:defRPr>
                      </a:pPr>
                      <a:r>
                        <a:t>Hướng dẫn + ưu đãi mua lại</a:t>
                      </a:r>
                    </a:p>
                  </a:txBody>
                  <a:tcPr marL="73152" marR="54864" marT="45720" marB="45720">
                    <a:solidFill>
                      <a:srgbClr val="FFFFFF"/>
                    </a:solidFill>
                  </a:tcPr>
                </a:tc>
                <a:tc>
                  <a:txBody>
                    <a:bodyPr/>
                    <a:lstStyle/>
                    <a:p>
                      <a:pPr algn="l">
                        <a:defRPr sz="1000">
                          <a:solidFill>
                            <a:srgbClr val="1F2937"/>
                          </a:solidFill>
                          <a:latin typeface="Aptos"/>
                        </a:defRPr>
                      </a:pPr>
                      <a:r>
                        <a:t>Repeat purchase</a:t>
                      </a:r>
                    </a:p>
                  </a:txBody>
                  <a:tcPr marL="73152" marR="54864" marT="45720" marB="45720">
                    <a:solidFill>
                      <a:srgbClr val="FFFFFF"/>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PILLAR &amp; CLUSTER</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31</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Pillar &amp; Topic Cluster</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Pillar = chủ đề lớn • Cluster = các nội dung con liên kết về Pillar Page</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43400" y="2331720"/>
            <a:ext cx="3520440" cy="1097280"/>
          </a:xfrm>
          <a:prstGeom prst="roundRect">
            <a:avLst/>
          </a:prstGeom>
          <a:solidFill>
            <a:srgbClr val="11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ptos"/>
              </a:defRPr>
            </a:pPr>
            <a:r>
              <a:t>PILLAR PAGE</a:t>
            </a:r>
            <a:br/>
            <a:r>
              <a:t>Hướng dẫn chăm sóc da toàn diện</a:t>
            </a:r>
          </a:p>
        </p:txBody>
      </p:sp>
      <p:sp>
        <p:nvSpPr>
          <p:cNvPr id="8" name="Rounded Rectangle 7"/>
          <p:cNvSpPr/>
          <p:nvPr/>
        </p:nvSpPr>
        <p:spPr>
          <a:xfrm>
            <a:off x="685800" y="2011680"/>
            <a:ext cx="2468880" cy="777240"/>
          </a:xfrm>
          <a:prstGeom prst="roundRect">
            <a:avLst/>
          </a:prstGeom>
          <a:solidFill>
            <a:srgbClr val="E2F6F5"/>
          </a:solidFill>
          <a:ln>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2937"/>
                </a:solidFill>
                <a:latin typeface="Aptos"/>
              </a:defRPr>
            </a:pPr>
            <a:r>
              <a:t>Da dầu mụn</a:t>
            </a:r>
          </a:p>
        </p:txBody>
      </p:sp>
      <p:sp>
        <p:nvSpPr>
          <p:cNvPr id="9" name="Rounded Rectangle 8"/>
          <p:cNvSpPr/>
          <p:nvPr/>
        </p:nvSpPr>
        <p:spPr>
          <a:xfrm>
            <a:off x="8915400" y="2011680"/>
            <a:ext cx="2468880" cy="777240"/>
          </a:xfrm>
          <a:prstGeom prst="roundRect">
            <a:avLst/>
          </a:prstGeom>
          <a:solidFill>
            <a:srgbClr val="E2F6F5"/>
          </a:solidFill>
          <a:ln>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2937"/>
                </a:solidFill>
                <a:latin typeface="Aptos"/>
              </a:defRPr>
            </a:pPr>
            <a:r>
              <a:t>Da khô</a:t>
            </a:r>
          </a:p>
        </p:txBody>
      </p:sp>
      <p:sp>
        <p:nvSpPr>
          <p:cNvPr id="10" name="Rounded Rectangle 9"/>
          <p:cNvSpPr/>
          <p:nvPr/>
        </p:nvSpPr>
        <p:spPr>
          <a:xfrm>
            <a:off x="685800" y="4069080"/>
            <a:ext cx="2468880" cy="777240"/>
          </a:xfrm>
          <a:prstGeom prst="roundRect">
            <a:avLst/>
          </a:prstGeom>
          <a:solidFill>
            <a:srgbClr val="E2F6F5"/>
          </a:solidFill>
          <a:ln>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2937"/>
                </a:solidFill>
                <a:latin typeface="Aptos"/>
              </a:defRPr>
            </a:pPr>
            <a:r>
              <a:t>Routine sáng</a:t>
            </a:r>
          </a:p>
        </p:txBody>
      </p:sp>
      <p:sp>
        <p:nvSpPr>
          <p:cNvPr id="11" name="Rounded Rectangle 10"/>
          <p:cNvSpPr/>
          <p:nvPr/>
        </p:nvSpPr>
        <p:spPr>
          <a:xfrm>
            <a:off x="8915400" y="4069080"/>
            <a:ext cx="2468880" cy="777240"/>
          </a:xfrm>
          <a:prstGeom prst="roundRect">
            <a:avLst/>
          </a:prstGeom>
          <a:solidFill>
            <a:srgbClr val="E2F6F5"/>
          </a:solidFill>
          <a:ln>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2937"/>
                </a:solidFill>
                <a:latin typeface="Aptos"/>
              </a:defRPr>
            </a:pPr>
            <a:r>
              <a:t>Routine tối</a:t>
            </a:r>
          </a:p>
        </p:txBody>
      </p:sp>
      <p:sp>
        <p:nvSpPr>
          <p:cNvPr id="12" name="Rounded Rectangle 11"/>
          <p:cNvSpPr/>
          <p:nvPr/>
        </p:nvSpPr>
        <p:spPr>
          <a:xfrm>
            <a:off x="4572000" y="4709160"/>
            <a:ext cx="2468880" cy="777240"/>
          </a:xfrm>
          <a:prstGeom prst="roundRect">
            <a:avLst/>
          </a:prstGeom>
          <a:solidFill>
            <a:srgbClr val="E2F6F5"/>
          </a:solidFill>
          <a:ln>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F2937"/>
                </a:solidFill>
                <a:latin typeface="Aptos"/>
              </a:defRPr>
            </a:pPr>
            <a:r>
              <a:t>Thành phần cần tránh</a:t>
            </a:r>
          </a:p>
        </p:txBody>
      </p:sp>
      <p:sp>
        <p:nvSpPr>
          <p:cNvPr id="13" name="Rounded Rectangle 12"/>
          <p:cNvSpPr/>
          <p:nvPr/>
        </p:nvSpPr>
        <p:spPr>
          <a:xfrm>
            <a:off x="3520440" y="5532120"/>
            <a:ext cx="5166360" cy="59436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5532120"/>
            <a:ext cx="73152" cy="59436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1608" y="5687568"/>
            <a:ext cx="4800600" cy="411480"/>
          </a:xfrm>
          <a:prstGeom prst="rect">
            <a:avLst/>
          </a:prstGeom>
          <a:noFill/>
        </p:spPr>
        <p:txBody>
          <a:bodyPr wrap="none">
            <a:spAutoFit/>
          </a:bodyPr>
          <a:lstStyle/>
          <a:p>
            <a:pPr>
              <a:defRPr sz="1300" b="1">
                <a:solidFill>
                  <a:srgbClr val="111C2D"/>
                </a:solidFill>
                <a:latin typeface="Aptos Display"/>
              </a:defRPr>
            </a:pPr>
            <a:r>
              <a:t>SEO logic</a:t>
            </a:r>
          </a:p>
        </p:txBody>
      </p:sp>
      <p:sp>
        <p:nvSpPr>
          <p:cNvPr id="16" name="TextBox 15"/>
          <p:cNvSpPr txBox="1"/>
          <p:nvPr/>
        </p:nvSpPr>
        <p:spPr>
          <a:xfrm>
            <a:off x="3721608" y="6144768"/>
            <a:ext cx="4782312" cy="-155447"/>
          </a:xfrm>
          <a:prstGeom prst="rect">
            <a:avLst/>
          </a:prstGeom>
          <a:noFill/>
        </p:spPr>
        <p:txBody>
          <a:bodyPr wrap="square">
            <a:spAutoFit/>
          </a:bodyPr>
          <a:lstStyle/>
          <a:p>
            <a:pPr>
              <a:defRPr sz="1150">
                <a:solidFill>
                  <a:srgbClr val="1F2937"/>
                </a:solidFill>
                <a:latin typeface="Aptos"/>
              </a:defRPr>
            </a:pPr>
            <a:r>
              <a:t>Các cluster liên kết nội bộ với Pillar Page.</a:t>
            </a:r>
          </a:p>
        </p:txBody>
      </p:sp>
      <p:sp>
        <p:nvSpPr>
          <p:cNvPr id="17" name="TextBox 16"/>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XÂY PILLAR</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Quy trình xây dựng Content Pillar — 5 bước</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Bắt đầu từ USP + Persona, kết thúc bằng kế hoạch xuất bản.</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377440"/>
            <a:ext cx="2051913" cy="114300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a:t>
            </a:r>
            <a:br/>
            <a:r>
              <a:t>CHỦ ĐỀ</a:t>
            </a:r>
          </a:p>
        </p:txBody>
      </p:sp>
      <p:sp>
        <p:nvSpPr>
          <p:cNvPr id="8" name="Rounded Rectangle 7"/>
          <p:cNvSpPr/>
          <p:nvPr/>
        </p:nvSpPr>
        <p:spPr>
          <a:xfrm>
            <a:off x="2893161" y="2377440"/>
            <a:ext cx="2051913" cy="114300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2</a:t>
            </a:r>
            <a:br/>
            <a:r>
              <a:t>KEYWORD</a:t>
            </a:r>
          </a:p>
        </p:txBody>
      </p:sp>
      <p:sp>
        <p:nvSpPr>
          <p:cNvPr id="9" name="Rounded Rectangle 8"/>
          <p:cNvSpPr/>
          <p:nvPr/>
        </p:nvSpPr>
        <p:spPr>
          <a:xfrm>
            <a:off x="5054803" y="2377440"/>
            <a:ext cx="2051913" cy="114300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a:t>
            </a:r>
            <a:br/>
            <a:r>
              <a:t>3–5 PILLAR</a:t>
            </a:r>
          </a:p>
        </p:txBody>
      </p:sp>
      <p:sp>
        <p:nvSpPr>
          <p:cNvPr id="10" name="Rounded Rectangle 9"/>
          <p:cNvSpPr/>
          <p:nvPr/>
        </p:nvSpPr>
        <p:spPr>
          <a:xfrm>
            <a:off x="7216444" y="2377440"/>
            <a:ext cx="2051913" cy="114300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4</a:t>
            </a:r>
            <a:br/>
            <a:r>
              <a:t>CLUSTER</a:t>
            </a:r>
          </a:p>
        </p:txBody>
      </p:sp>
      <p:sp>
        <p:nvSpPr>
          <p:cNvPr id="11" name="Rounded Rectangle 10"/>
          <p:cNvSpPr/>
          <p:nvPr/>
        </p:nvSpPr>
        <p:spPr>
          <a:xfrm>
            <a:off x="9378086" y="2377440"/>
            <a:ext cx="2051913" cy="1143000"/>
          </a:xfrm>
          <a:prstGeom prst="roundRect">
            <a:avLst/>
          </a:prstGeom>
          <a:solidFill>
            <a:srgbClr val="389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5</a:t>
            </a:r>
            <a:br/>
            <a:r>
              <a:t>XUẤT BẢN</a:t>
            </a:r>
          </a:p>
        </p:txBody>
      </p:sp>
      <p:sp>
        <p:nvSpPr>
          <p:cNvPr id="12" name="TextBox 11"/>
          <p:cNvSpPr txBox="1"/>
          <p:nvPr/>
        </p:nvSpPr>
        <p:spPr>
          <a:xfrm>
            <a:off x="731520" y="3794760"/>
            <a:ext cx="10607040" cy="2011680"/>
          </a:xfrm>
          <a:prstGeom prst="rect">
            <a:avLst/>
          </a:prstGeom>
          <a:noFill/>
        </p:spPr>
        <p:txBody>
          <a:bodyPr wrap="square" lIns="0" rIns="0">
            <a:spAutoFit/>
          </a:bodyPr>
          <a:lstStyle/>
          <a:p>
            <a:pPr>
              <a:spcAft>
                <a:spcPts val="700"/>
              </a:spcAft>
              <a:defRPr sz="1450">
                <a:solidFill>
                  <a:srgbClr val="1F2937"/>
                </a:solidFill>
                <a:latin typeface="Aptos"/>
              </a:defRPr>
            </a:pPr>
            <a:r>
              <a:t>• 1. Brainstorm 10–15 chủ đề dựa USP + Persona.</a:t>
            </a:r>
          </a:p>
          <a:p>
            <a:pPr>
              <a:spcAft>
                <a:spcPts val="700"/>
              </a:spcAft>
              <a:defRPr sz="1450">
                <a:solidFill>
                  <a:srgbClr val="1F2937"/>
                </a:solidFill>
                <a:latin typeface="Aptos"/>
              </a:defRPr>
            </a:pPr>
            <a:r>
              <a:t>• 2. Keyword Research: Keyword Planner, Trends, Ahrefs/SEMrush free, Google/TikTok suggestions.</a:t>
            </a:r>
          </a:p>
          <a:p>
            <a:pPr>
              <a:spcAft>
                <a:spcPts val="700"/>
              </a:spcAft>
              <a:defRPr sz="1450">
                <a:solidFill>
                  <a:srgbClr val="1F2937"/>
                </a:solidFill>
                <a:latin typeface="Aptos"/>
              </a:defRPr>
            </a:pPr>
            <a:r>
              <a:t>• 3. Chọn 3–5 Pillar có search tốt + liên quan USP.</a:t>
            </a:r>
          </a:p>
          <a:p>
            <a:pPr>
              <a:spcAft>
                <a:spcPts val="700"/>
              </a:spcAft>
              <a:defRPr sz="1450">
                <a:solidFill>
                  <a:srgbClr val="1F2937"/>
                </a:solidFill>
                <a:latin typeface="Aptos"/>
              </a:defRPr>
            </a:pPr>
            <a:r>
              <a:t>• 4. Mỗi Pillar phát triển 5–10 sub-topic / long-tail keyword.</a:t>
            </a:r>
          </a:p>
          <a:p>
            <a:pPr>
              <a:spcAft>
                <a:spcPts val="700"/>
              </a:spcAft>
              <a:defRPr sz="1450">
                <a:solidFill>
                  <a:srgbClr val="1F2937"/>
                </a:solidFill>
                <a:latin typeface="Aptos"/>
              </a:defRPr>
            </a:pPr>
            <a:r>
              <a:t>• 5. Chọn thứ tự, format và tần suất xuất bản.</a:t>
            </a:r>
          </a:p>
        </p:txBody>
      </p:sp>
      <p:sp>
        <p:nvSpPr>
          <p:cNvPr id="13" name="TextBox 1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VÍ DỤ PILLAR</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33</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Ví dụ Content Pillar — cà phê rang xay nguyên chất</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4 Pillar, mỗi Pillar có các cluster cụ thể.</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965960"/>
          <a:ext cx="10972800" cy="4251960"/>
        </p:xfrm>
        <a:graphic>
          <a:graphicData uri="http://schemas.openxmlformats.org/drawingml/2006/table">
            <a:tbl>
              <a:tblPr firstRow="1" bandRow="1">
                <a:tableStyleId>{5C22544A-7EE6-4342-B048-85BDC9FD1C3A}</a:tableStyleId>
              </a:tblPr>
              <a:tblGrid>
                <a:gridCol w="5486400"/>
                <a:gridCol w="5486400"/>
              </a:tblGrid>
              <a:tr h="850392">
                <a:tc>
                  <a:txBody>
                    <a:bodyPr/>
                    <a:lstStyle/>
                    <a:p>
                      <a:pPr algn="ctr">
                        <a:defRPr sz="1250" b="1">
                          <a:solidFill>
                            <a:srgbClr val="FFFFFF"/>
                          </a:solidFill>
                          <a:latin typeface="Aptos"/>
                        </a:defRPr>
                      </a:pPr>
                      <a:r>
                        <a:t>Pillar</a:t>
                      </a:r>
                    </a:p>
                  </a:txBody>
                  <a:tcPr>
                    <a:solidFill>
                      <a:srgbClr val="111C2D"/>
                    </a:solidFill>
                  </a:tcPr>
                </a:tc>
                <a:tc>
                  <a:txBody>
                    <a:bodyPr/>
                    <a:lstStyle/>
                    <a:p>
                      <a:pPr algn="ctr">
                        <a:defRPr sz="1250" b="1">
                          <a:solidFill>
                            <a:srgbClr val="FFFFFF"/>
                          </a:solidFill>
                          <a:latin typeface="Aptos"/>
                        </a:defRPr>
                      </a:pPr>
                      <a:r>
                        <a:t>Topic Cluster tiêu biểu</a:t>
                      </a:r>
                    </a:p>
                  </a:txBody>
                  <a:tcPr>
                    <a:solidFill>
                      <a:srgbClr val="111C2D"/>
                    </a:solidFill>
                  </a:tcPr>
                </a:tc>
              </a:tr>
              <a:tr h="850392">
                <a:tc>
                  <a:txBody>
                    <a:bodyPr/>
                    <a:lstStyle/>
                    <a:p>
                      <a:pPr algn="ctr">
                        <a:defRPr sz="1200">
                          <a:solidFill>
                            <a:srgbClr val="1F2937"/>
                          </a:solidFill>
                          <a:latin typeface="Aptos"/>
                        </a:defRPr>
                      </a:pPr>
                      <a:r>
                        <a:t>1. Kiến thức cà phê</a:t>
                      </a:r>
                    </a:p>
                  </a:txBody>
                  <a:tcPr marL="73152" marR="54864" marT="45720" marB="45720">
                    <a:solidFill>
                      <a:srgbClr val="FFFFFF"/>
                    </a:solidFill>
                  </a:tcPr>
                </a:tc>
                <a:tc>
                  <a:txBody>
                    <a:bodyPr/>
                    <a:lstStyle/>
                    <a:p>
                      <a:pPr algn="l">
                        <a:defRPr sz="1200">
                          <a:solidFill>
                            <a:srgbClr val="1F2937"/>
                          </a:solidFill>
                          <a:latin typeface="Aptos"/>
                        </a:defRPr>
                      </a:pPr>
                      <a:r>
                        <a:t>Arabica vs Robusta; rang ảnh hưởng hương vị; specialty; TDS; lịch sử cà phê Việt</a:t>
                      </a:r>
                    </a:p>
                  </a:txBody>
                  <a:tcPr marL="73152" marR="54864" marT="45720" marB="45720">
                    <a:solidFill>
                      <a:srgbClr val="FFFFFF"/>
                    </a:solidFill>
                  </a:tcPr>
                </a:tc>
              </a:tr>
              <a:tr h="850392">
                <a:tc>
                  <a:txBody>
                    <a:bodyPr/>
                    <a:lstStyle/>
                    <a:p>
                      <a:pPr algn="ctr">
                        <a:defRPr sz="1200">
                          <a:solidFill>
                            <a:srgbClr val="1F2937"/>
                          </a:solidFill>
                          <a:latin typeface="Aptos"/>
                        </a:defRPr>
                      </a:pPr>
                      <a:r>
                        <a:t>2. Pha chế tại nhà</a:t>
                      </a:r>
                    </a:p>
                  </a:txBody>
                  <a:tcPr marL="73152" marR="54864" marT="45720" marB="45720">
                    <a:solidFill>
                      <a:srgbClr val="F2F5F8"/>
                    </a:solidFill>
                  </a:tcPr>
                </a:tc>
                <a:tc>
                  <a:txBody>
                    <a:bodyPr/>
                    <a:lstStyle/>
                    <a:p>
                      <a:pPr algn="l">
                        <a:defRPr sz="1200">
                          <a:solidFill>
                            <a:srgbClr val="1F2937"/>
                          </a:solidFill>
                          <a:latin typeface="Aptos"/>
                        </a:defRPr>
                      </a:pPr>
                      <a:r>
                        <a:t>Phin; cold brew; dụng cụ; tỷ lệ nước–cà phê; lỗi thường gặp</a:t>
                      </a:r>
                    </a:p>
                  </a:txBody>
                  <a:tcPr marL="73152" marR="54864" marT="45720" marB="45720">
                    <a:solidFill>
                      <a:srgbClr val="F2F5F8"/>
                    </a:solidFill>
                  </a:tcPr>
                </a:tc>
              </a:tr>
              <a:tr h="850392">
                <a:tc>
                  <a:txBody>
                    <a:bodyPr/>
                    <a:lstStyle/>
                    <a:p>
                      <a:pPr algn="ctr">
                        <a:defRPr sz="1200">
                          <a:solidFill>
                            <a:srgbClr val="1F2937"/>
                          </a:solidFill>
                          <a:latin typeface="Aptos"/>
                        </a:defRPr>
                      </a:pPr>
                      <a:r>
                        <a:t>3. Lối sống &amp; văn hóa</a:t>
                      </a:r>
                    </a:p>
                  </a:txBody>
                  <a:tcPr marL="73152" marR="54864" marT="45720" marB="45720">
                    <a:solidFill>
                      <a:srgbClr val="FFFFFF"/>
                    </a:solidFill>
                  </a:tcPr>
                </a:tc>
                <a:tc>
                  <a:txBody>
                    <a:bodyPr/>
                    <a:lstStyle/>
                    <a:p>
                      <a:pPr algn="l">
                        <a:defRPr sz="1200">
                          <a:solidFill>
                            <a:srgbClr val="1F2937"/>
                          </a:solidFill>
                          <a:latin typeface="Aptos"/>
                        </a:defRPr>
                      </a:pPr>
                      <a:r>
                        <a:t>Cà phê vỉa hè; không gian làm việc; năng suất; trend cà phê muối/trứng; sức khỏe</a:t>
                      </a:r>
                    </a:p>
                  </a:txBody>
                  <a:tcPr marL="73152" marR="54864" marT="45720" marB="45720">
                    <a:solidFill>
                      <a:srgbClr val="FFFFFF"/>
                    </a:solidFill>
                  </a:tcPr>
                </a:tc>
              </a:tr>
              <a:tr h="850392">
                <a:tc>
                  <a:txBody>
                    <a:bodyPr/>
                    <a:lstStyle/>
                    <a:p>
                      <a:pPr algn="ctr">
                        <a:defRPr sz="1200">
                          <a:solidFill>
                            <a:srgbClr val="1F2937"/>
                          </a:solidFill>
                          <a:latin typeface="Aptos"/>
                        </a:defRPr>
                      </a:pPr>
                      <a:r>
                        <a:t>4. Sản phẩm &amp; thương hiệu</a:t>
                      </a:r>
                    </a:p>
                  </a:txBody>
                  <a:tcPr marL="73152" marR="54864" marT="45720" marB="45720">
                    <a:solidFill>
                      <a:srgbClr val="F2F5F8"/>
                    </a:solidFill>
                  </a:tcPr>
                </a:tc>
                <a:tc>
                  <a:txBody>
                    <a:bodyPr/>
                    <a:lstStyle/>
                    <a:p>
                      <a:pPr algn="l">
                        <a:defRPr sz="1200">
                          <a:solidFill>
                            <a:srgbClr val="1F2937"/>
                          </a:solidFill>
                          <a:latin typeface="Aptos"/>
                        </a:defRPr>
                      </a:pPr>
                      <a:r>
                        <a:t>Quy trình rang; vùng nguyên liệu; nguyên chất vs trộn; review thật; chứng nhận</a:t>
                      </a: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2 • 3H</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34</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Mix 3H — Hero, Hub, Hygiene</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Phân bổ để vừa tạo tiếng vang, vừa duy trì cộng đồng, vừa đáp ứng nhu cầu tìm kiếm.</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2057400"/>
            <a:ext cx="3566160" cy="352044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2057400"/>
            <a:ext cx="73152" cy="352044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212848"/>
            <a:ext cx="3200400" cy="411480"/>
          </a:xfrm>
          <a:prstGeom prst="rect">
            <a:avLst/>
          </a:prstGeom>
          <a:noFill/>
        </p:spPr>
        <p:txBody>
          <a:bodyPr wrap="none">
            <a:spAutoFit/>
          </a:bodyPr>
          <a:lstStyle/>
          <a:p>
            <a:pPr>
              <a:defRPr sz="1900" b="1">
                <a:solidFill>
                  <a:srgbClr val="111C2D"/>
                </a:solidFill>
                <a:latin typeface="Aptos Display"/>
              </a:defRPr>
            </a:pPr>
            <a:r>
              <a:t>HERO</a:t>
            </a:r>
          </a:p>
        </p:txBody>
      </p:sp>
      <p:sp>
        <p:nvSpPr>
          <p:cNvPr id="10" name="TextBox 9"/>
          <p:cNvSpPr txBox="1"/>
          <p:nvPr/>
        </p:nvSpPr>
        <p:spPr>
          <a:xfrm>
            <a:off x="795528" y="2670048"/>
            <a:ext cx="3182112" cy="2770632"/>
          </a:xfrm>
          <a:prstGeom prst="rect">
            <a:avLst/>
          </a:prstGeom>
          <a:noFill/>
        </p:spPr>
        <p:txBody>
          <a:bodyPr wrap="square">
            <a:spAutoFit/>
          </a:bodyPr>
          <a:lstStyle/>
          <a:p>
            <a:pPr>
              <a:defRPr sz="1450">
                <a:solidFill>
                  <a:srgbClr val="1F2937"/>
                </a:solidFill>
                <a:latin typeface="Aptos"/>
              </a:defRPr>
            </a:pPr>
            <a:r>
              <a:t>Mục đích: tiếng vang lớn</a:t>
            </a:r>
            <a:br/>
            <a:r>
              <a:t>Tần suất: 1–4 lần/năm</a:t>
            </a:r>
            <a:br/>
            <a:r>
              <a:t>Ngân sách: 20–30%</a:t>
            </a:r>
            <a:br/>
            <a:r>
              <a:t>Ví dụ: TVC Tết, chiến dịch lớn</a:t>
            </a:r>
          </a:p>
        </p:txBody>
      </p:sp>
      <p:sp>
        <p:nvSpPr>
          <p:cNvPr id="11" name="Rounded Rectangle 10"/>
          <p:cNvSpPr/>
          <p:nvPr/>
        </p:nvSpPr>
        <p:spPr>
          <a:xfrm>
            <a:off x="4315968" y="2057400"/>
            <a:ext cx="3566160" cy="352044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2057400"/>
            <a:ext cx="73152" cy="352044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2212848"/>
            <a:ext cx="3200400" cy="411480"/>
          </a:xfrm>
          <a:prstGeom prst="rect">
            <a:avLst/>
          </a:prstGeom>
          <a:noFill/>
        </p:spPr>
        <p:txBody>
          <a:bodyPr wrap="none">
            <a:spAutoFit/>
          </a:bodyPr>
          <a:lstStyle/>
          <a:p>
            <a:pPr>
              <a:defRPr sz="1900" b="1">
                <a:solidFill>
                  <a:srgbClr val="111C2D"/>
                </a:solidFill>
                <a:latin typeface="Aptos Display"/>
              </a:defRPr>
            </a:pPr>
            <a:r>
              <a:t>HUB</a:t>
            </a:r>
          </a:p>
        </p:txBody>
      </p:sp>
      <p:sp>
        <p:nvSpPr>
          <p:cNvPr id="14" name="TextBox 13"/>
          <p:cNvSpPr txBox="1"/>
          <p:nvPr/>
        </p:nvSpPr>
        <p:spPr>
          <a:xfrm>
            <a:off x="4517136" y="2670048"/>
            <a:ext cx="3182112" cy="2770632"/>
          </a:xfrm>
          <a:prstGeom prst="rect">
            <a:avLst/>
          </a:prstGeom>
          <a:noFill/>
        </p:spPr>
        <p:txBody>
          <a:bodyPr wrap="square">
            <a:spAutoFit/>
          </a:bodyPr>
          <a:lstStyle/>
          <a:p>
            <a:pPr>
              <a:defRPr sz="1450">
                <a:solidFill>
                  <a:srgbClr val="1F2937"/>
                </a:solidFill>
                <a:latin typeface="Aptos"/>
              </a:defRPr>
            </a:pPr>
            <a:r>
              <a:t>Mục đích: cộng đồng &amp; tương tác</a:t>
            </a:r>
            <a:br/>
            <a:r>
              <a:t>Tần suất: 1–3 lần/tuần</a:t>
            </a:r>
            <a:br/>
            <a:r>
              <a:t>Ngân sách: 50–60%</a:t>
            </a:r>
            <a:br/>
            <a:r>
              <a:t>Ví dụ: series video/podcast</a:t>
            </a:r>
          </a:p>
        </p:txBody>
      </p:sp>
      <p:sp>
        <p:nvSpPr>
          <p:cNvPr id="15" name="Rounded Rectangle 14"/>
          <p:cNvSpPr/>
          <p:nvPr/>
        </p:nvSpPr>
        <p:spPr>
          <a:xfrm>
            <a:off x="8037575" y="2057400"/>
            <a:ext cx="3566160" cy="352044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5" y="2057400"/>
            <a:ext cx="73152" cy="352044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2212848"/>
            <a:ext cx="3200400" cy="411480"/>
          </a:xfrm>
          <a:prstGeom prst="rect">
            <a:avLst/>
          </a:prstGeom>
          <a:noFill/>
        </p:spPr>
        <p:txBody>
          <a:bodyPr wrap="none">
            <a:spAutoFit/>
          </a:bodyPr>
          <a:lstStyle/>
          <a:p>
            <a:pPr>
              <a:defRPr sz="1900" b="1">
                <a:solidFill>
                  <a:srgbClr val="111C2D"/>
                </a:solidFill>
                <a:latin typeface="Aptos Display"/>
              </a:defRPr>
            </a:pPr>
            <a:r>
              <a:t>HYGIENE</a:t>
            </a:r>
          </a:p>
        </p:txBody>
      </p:sp>
      <p:sp>
        <p:nvSpPr>
          <p:cNvPr id="18" name="TextBox 17"/>
          <p:cNvSpPr txBox="1"/>
          <p:nvPr/>
        </p:nvSpPr>
        <p:spPr>
          <a:xfrm>
            <a:off x="8238744" y="2670048"/>
            <a:ext cx="3182112" cy="2770632"/>
          </a:xfrm>
          <a:prstGeom prst="rect">
            <a:avLst/>
          </a:prstGeom>
          <a:noFill/>
        </p:spPr>
        <p:txBody>
          <a:bodyPr wrap="square">
            <a:spAutoFit/>
          </a:bodyPr>
          <a:lstStyle/>
          <a:p>
            <a:pPr>
              <a:defRPr sz="1450">
                <a:solidFill>
                  <a:srgbClr val="1F2937"/>
                </a:solidFill>
                <a:latin typeface="Aptos"/>
              </a:defRPr>
            </a:pPr>
            <a:r>
              <a:t>Mục đích: nhu cầu tìm kiếm tức thời</a:t>
            </a:r>
            <a:br/>
            <a:r>
              <a:t>Tần suất: liên tục</a:t>
            </a:r>
            <a:br/>
            <a:r>
              <a:t>Ngân sách: 20–30%</a:t>
            </a:r>
            <a:br/>
            <a:r>
              <a:t>Ví dụ: FAQ, SEO, hướng dẫn</a:t>
            </a:r>
          </a:p>
        </p:txBody>
      </p:sp>
      <p:sp>
        <p:nvSpPr>
          <p:cNvPr id="19" name="TextBox 18"/>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2 • 3H ÁP DỤNG</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35</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Một tháng nên “trông” như thế nào?</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Không phải tháng nào cũng bắt buộc có Hero.</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331720"/>
            <a:ext cx="3493008" cy="123444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 HERO</a:t>
            </a:r>
            <a:br/>
            <a:r>
              <a:t>(nếu có dịp)</a:t>
            </a:r>
          </a:p>
        </p:txBody>
      </p:sp>
      <p:sp>
        <p:nvSpPr>
          <p:cNvPr id="8" name="Rounded Rectangle 7"/>
          <p:cNvSpPr/>
          <p:nvPr/>
        </p:nvSpPr>
        <p:spPr>
          <a:xfrm>
            <a:off x="4334256" y="2331720"/>
            <a:ext cx="3493008" cy="123444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8–12 HUB</a:t>
            </a:r>
            <a:br/>
            <a:r>
              <a:t>2–3/tuần</a:t>
            </a:r>
          </a:p>
        </p:txBody>
      </p:sp>
      <p:sp>
        <p:nvSpPr>
          <p:cNvPr id="9" name="Rounded Rectangle 8"/>
          <p:cNvSpPr/>
          <p:nvPr/>
        </p:nvSpPr>
        <p:spPr>
          <a:xfrm>
            <a:off x="7936992" y="2331720"/>
            <a:ext cx="3493008" cy="123444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10–15 HYGIENE</a:t>
            </a:r>
            <a:br/>
            <a:r>
              <a:t>always-on</a:t>
            </a:r>
          </a:p>
        </p:txBody>
      </p:sp>
      <p:sp>
        <p:nvSpPr>
          <p:cNvPr id="10" name="TextBox 9"/>
          <p:cNvSpPr txBox="1"/>
          <p:nvPr/>
        </p:nvSpPr>
        <p:spPr>
          <a:xfrm>
            <a:off x="822960" y="3977639"/>
            <a:ext cx="10424160" cy="1828800"/>
          </a:xfrm>
          <a:prstGeom prst="rect">
            <a:avLst/>
          </a:prstGeom>
          <a:noFill/>
        </p:spPr>
        <p:txBody>
          <a:bodyPr wrap="square" lIns="0" rIns="0">
            <a:spAutoFit/>
          </a:bodyPr>
          <a:lstStyle/>
          <a:p>
            <a:pPr>
              <a:spcAft>
                <a:spcPts val="700"/>
              </a:spcAft>
              <a:defRPr sz="1500">
                <a:solidFill>
                  <a:srgbClr val="1F2937"/>
                </a:solidFill>
                <a:latin typeface="Aptos"/>
              </a:defRPr>
            </a:pPr>
            <a:r>
              <a:t>• Hero: chỉ khi có lễ/sự kiện lớn; có thể bỏ qua nếu không có moment phù hợp.</a:t>
            </a:r>
          </a:p>
          <a:p>
            <a:pPr>
              <a:spcAft>
                <a:spcPts val="700"/>
              </a:spcAft>
              <a:defRPr sz="1500">
                <a:solidFill>
                  <a:srgbClr val="1F2937"/>
                </a:solidFill>
                <a:latin typeface="Aptos"/>
              </a:defRPr>
            </a:pPr>
            <a:r>
              <a:t>• Hub: bám Content Pillar, duy trì nhịp cộng đồng.</a:t>
            </a:r>
          </a:p>
          <a:p>
            <a:pPr>
              <a:spcAft>
                <a:spcPts val="700"/>
              </a:spcAft>
              <a:defRPr sz="1500">
                <a:solidFill>
                  <a:srgbClr val="1F2937"/>
                </a:solidFill>
                <a:latin typeface="Aptos"/>
              </a:defRPr>
            </a:pPr>
            <a:r>
              <a:t>• Hygiene: bài ngắn, FAQ, câu hỏi thường gặp, long-tail SEO.</a:t>
            </a:r>
          </a:p>
          <a:p>
            <a:pPr>
              <a:spcAft>
                <a:spcPts val="700"/>
              </a:spcAft>
              <a:defRPr sz="1500">
                <a:solidFill>
                  <a:srgbClr val="1F2937"/>
                </a:solidFill>
                <a:latin typeface="Aptos"/>
              </a:defRPr>
            </a:pPr>
            <a:r>
              <a:t>• Nguyên tắc: đừng so Hero với Hygiene bằng cùng một kỳ vọng KPI.</a:t>
            </a:r>
          </a:p>
        </p:txBody>
      </p:sp>
      <p:sp>
        <p:nvSpPr>
          <p:cNvPr id="11" name="TextBox 10"/>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CONTENT CALENDAR</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36</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Calendar — công cụ vận hành cốt lõi</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Từ chiến lược → lịch sản xuất → KPI.</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828800"/>
          <a:ext cx="10972800" cy="4617720"/>
        </p:xfrm>
        <a:graphic>
          <a:graphicData uri="http://schemas.openxmlformats.org/drawingml/2006/table">
            <a:tbl>
              <a:tblPr firstRow="1" bandRow="1">
                <a:tableStyleId>{5C22544A-7EE6-4342-B048-85BDC9FD1C3A}</a:tableStyleId>
              </a:tblPr>
              <a:tblGrid>
                <a:gridCol w="5486400"/>
                <a:gridCol w="5486400"/>
              </a:tblGrid>
              <a:tr h="419792">
                <a:tc>
                  <a:txBody>
                    <a:bodyPr/>
                    <a:lstStyle/>
                    <a:p>
                      <a:pPr algn="ctr">
                        <a:defRPr sz="1050" b="1">
                          <a:solidFill>
                            <a:srgbClr val="FFFFFF"/>
                          </a:solidFill>
                          <a:latin typeface="Aptos"/>
                        </a:defRPr>
                      </a:pPr>
                      <a:r>
                        <a:t>Cột</a:t>
                      </a:r>
                    </a:p>
                  </a:txBody>
                  <a:tcPr>
                    <a:solidFill>
                      <a:srgbClr val="111C2D"/>
                    </a:solidFill>
                  </a:tcPr>
                </a:tc>
                <a:tc>
                  <a:txBody>
                    <a:bodyPr/>
                    <a:lstStyle/>
                    <a:p>
                      <a:pPr algn="ctr">
                        <a:defRPr sz="1050" b="1">
                          <a:solidFill>
                            <a:srgbClr val="FFFFFF"/>
                          </a:solidFill>
                          <a:latin typeface="Aptos"/>
                        </a:defRPr>
                      </a:pPr>
                      <a:r>
                        <a:t>Cần ghi gì?</a:t>
                      </a:r>
                    </a:p>
                  </a:txBody>
                  <a:tcPr>
                    <a:solidFill>
                      <a:srgbClr val="111C2D"/>
                    </a:solidFill>
                  </a:tcPr>
                </a:tc>
              </a:tr>
              <a:tr h="419792">
                <a:tc>
                  <a:txBody>
                    <a:bodyPr/>
                    <a:lstStyle/>
                    <a:p>
                      <a:pPr algn="ctr">
                        <a:defRPr sz="1000">
                          <a:solidFill>
                            <a:srgbClr val="1F2937"/>
                          </a:solidFill>
                          <a:latin typeface="Aptos"/>
                        </a:defRPr>
                      </a:pPr>
                      <a:r>
                        <a:t>Ngày đăng</a:t>
                      </a:r>
                    </a:p>
                  </a:txBody>
                  <a:tcPr marL="73152" marR="54864" marT="45720" marB="45720">
                    <a:solidFill>
                      <a:srgbClr val="FFFFFF"/>
                    </a:solidFill>
                  </a:tcPr>
                </a:tc>
                <a:tc>
                  <a:txBody>
                    <a:bodyPr/>
                    <a:lstStyle/>
                    <a:p>
                      <a:pPr algn="l">
                        <a:defRPr sz="1000">
                          <a:solidFill>
                            <a:srgbClr val="1F2937"/>
                          </a:solidFill>
                          <a:latin typeface="Aptos"/>
                        </a:defRPr>
                      </a:pPr>
                      <a:r>
                        <a:t>Ngày/giờ xuất bản</a:t>
                      </a:r>
                    </a:p>
                  </a:txBody>
                  <a:tcPr marL="73152" marR="54864" marT="45720" marB="45720">
                    <a:solidFill>
                      <a:srgbClr val="FFFFFF"/>
                    </a:solidFill>
                  </a:tcPr>
                </a:tc>
              </a:tr>
              <a:tr h="419792">
                <a:tc>
                  <a:txBody>
                    <a:bodyPr/>
                    <a:lstStyle/>
                    <a:p>
                      <a:pPr algn="ctr">
                        <a:defRPr sz="1000">
                          <a:solidFill>
                            <a:srgbClr val="1F2937"/>
                          </a:solidFill>
                          <a:latin typeface="Aptos"/>
                        </a:defRPr>
                      </a:pPr>
                      <a:r>
                        <a:t>Kênh</a:t>
                      </a:r>
                    </a:p>
                  </a:txBody>
                  <a:tcPr marL="73152" marR="54864" marT="45720" marB="45720">
                    <a:solidFill>
                      <a:srgbClr val="F2F5F8"/>
                    </a:solidFill>
                  </a:tcPr>
                </a:tc>
                <a:tc>
                  <a:txBody>
                    <a:bodyPr/>
                    <a:lstStyle/>
                    <a:p>
                      <a:pPr algn="l">
                        <a:defRPr sz="1000">
                          <a:solidFill>
                            <a:srgbClr val="1F2937"/>
                          </a:solidFill>
                          <a:latin typeface="Aptos"/>
                        </a:defRPr>
                      </a:pPr>
                      <a:r>
                        <a:t>Facebook / TikTok / Website / Email / Instagram…</a:t>
                      </a:r>
                    </a:p>
                  </a:txBody>
                  <a:tcPr marL="73152" marR="54864" marT="45720" marB="45720">
                    <a:solidFill>
                      <a:srgbClr val="F2F5F8"/>
                    </a:solidFill>
                  </a:tcPr>
                </a:tc>
              </a:tr>
              <a:tr h="419792">
                <a:tc>
                  <a:txBody>
                    <a:bodyPr/>
                    <a:lstStyle/>
                    <a:p>
                      <a:pPr algn="ctr">
                        <a:defRPr sz="1000">
                          <a:solidFill>
                            <a:srgbClr val="1F2937"/>
                          </a:solidFill>
                          <a:latin typeface="Aptos"/>
                        </a:defRPr>
                      </a:pPr>
                      <a:r>
                        <a:t>Pillar / Chủ đề</a:t>
                      </a:r>
                    </a:p>
                  </a:txBody>
                  <a:tcPr marL="73152" marR="54864" marT="45720" marB="45720">
                    <a:solidFill>
                      <a:srgbClr val="FFFFFF"/>
                    </a:solidFill>
                  </a:tcPr>
                </a:tc>
                <a:tc>
                  <a:txBody>
                    <a:bodyPr/>
                    <a:lstStyle/>
                    <a:p>
                      <a:pPr algn="l">
                        <a:defRPr sz="1000">
                          <a:solidFill>
                            <a:srgbClr val="1F2937"/>
                          </a:solidFill>
                          <a:latin typeface="Aptos"/>
                        </a:defRPr>
                      </a:pPr>
                      <a:r>
                        <a:t>Thuộc Content Pillar nào</a:t>
                      </a:r>
                    </a:p>
                  </a:txBody>
                  <a:tcPr marL="73152" marR="54864" marT="45720" marB="45720">
                    <a:solidFill>
                      <a:srgbClr val="FFFFFF"/>
                    </a:solidFill>
                  </a:tcPr>
                </a:tc>
              </a:tr>
              <a:tr h="419792">
                <a:tc>
                  <a:txBody>
                    <a:bodyPr/>
                    <a:lstStyle/>
                    <a:p>
                      <a:pPr algn="ctr">
                        <a:defRPr sz="1000">
                          <a:solidFill>
                            <a:srgbClr val="1F2937"/>
                          </a:solidFill>
                          <a:latin typeface="Aptos"/>
                        </a:defRPr>
                      </a:pPr>
                      <a:r>
                        <a:t>Loại nội dung</a:t>
                      </a:r>
                    </a:p>
                  </a:txBody>
                  <a:tcPr marL="73152" marR="54864" marT="45720" marB="45720">
                    <a:solidFill>
                      <a:srgbClr val="F2F5F8"/>
                    </a:solidFill>
                  </a:tcPr>
                </a:tc>
                <a:tc>
                  <a:txBody>
                    <a:bodyPr/>
                    <a:lstStyle/>
                    <a:p>
                      <a:pPr algn="l">
                        <a:defRPr sz="1000">
                          <a:solidFill>
                            <a:srgbClr val="1F2937"/>
                          </a:solidFill>
                          <a:latin typeface="Aptos"/>
                        </a:defRPr>
                      </a:pPr>
                      <a:r>
                        <a:t>Hero / Hub / Hygiene + format</a:t>
                      </a:r>
                    </a:p>
                  </a:txBody>
                  <a:tcPr marL="73152" marR="54864" marT="45720" marB="45720">
                    <a:solidFill>
                      <a:srgbClr val="F2F5F8"/>
                    </a:solidFill>
                  </a:tcPr>
                </a:tc>
              </a:tr>
              <a:tr h="419792">
                <a:tc>
                  <a:txBody>
                    <a:bodyPr/>
                    <a:lstStyle/>
                    <a:p>
                      <a:pPr algn="ctr">
                        <a:defRPr sz="1000">
                          <a:solidFill>
                            <a:srgbClr val="1F2937"/>
                          </a:solidFill>
                          <a:latin typeface="Aptos"/>
                        </a:defRPr>
                      </a:pPr>
                      <a:r>
                        <a:t>Tiêu đề / Ý tưởng</a:t>
                      </a:r>
                    </a:p>
                  </a:txBody>
                  <a:tcPr marL="73152" marR="54864" marT="45720" marB="45720">
                    <a:solidFill>
                      <a:srgbClr val="FFFFFF"/>
                    </a:solidFill>
                  </a:tcPr>
                </a:tc>
                <a:tc>
                  <a:txBody>
                    <a:bodyPr/>
                    <a:lstStyle/>
                    <a:p>
                      <a:pPr algn="l">
                        <a:defRPr sz="1000">
                          <a:solidFill>
                            <a:srgbClr val="1F2937"/>
                          </a:solidFill>
                          <a:latin typeface="Aptos"/>
                        </a:defRPr>
                      </a:pPr>
                      <a:r>
                        <a:t>Tên bài hoặc mô tả ngắn</a:t>
                      </a:r>
                    </a:p>
                  </a:txBody>
                  <a:tcPr marL="73152" marR="54864" marT="45720" marB="45720">
                    <a:solidFill>
                      <a:srgbClr val="FFFFFF"/>
                    </a:solidFill>
                  </a:tcPr>
                </a:tc>
              </a:tr>
              <a:tr h="419792">
                <a:tc>
                  <a:txBody>
                    <a:bodyPr/>
                    <a:lstStyle/>
                    <a:p>
                      <a:pPr algn="ctr">
                        <a:defRPr sz="1000">
                          <a:solidFill>
                            <a:srgbClr val="1F2937"/>
                          </a:solidFill>
                          <a:latin typeface="Aptos"/>
                        </a:defRPr>
                      </a:pPr>
                      <a:r>
                        <a:t>Mục tiêu phễu</a:t>
                      </a:r>
                    </a:p>
                  </a:txBody>
                  <a:tcPr marL="73152" marR="54864" marT="45720" marB="45720">
                    <a:solidFill>
                      <a:srgbClr val="F2F5F8"/>
                    </a:solidFill>
                  </a:tcPr>
                </a:tc>
                <a:tc>
                  <a:txBody>
                    <a:bodyPr/>
                    <a:lstStyle/>
                    <a:p>
                      <a:pPr algn="l">
                        <a:defRPr sz="1000">
                          <a:solidFill>
                            <a:srgbClr val="1F2937"/>
                          </a:solidFill>
                          <a:latin typeface="Aptos"/>
                        </a:defRPr>
                      </a:pPr>
                      <a:r>
                        <a:t>TOFU / MOFU / BOFU</a:t>
                      </a:r>
                    </a:p>
                  </a:txBody>
                  <a:tcPr marL="73152" marR="54864" marT="45720" marB="45720">
                    <a:solidFill>
                      <a:srgbClr val="F2F5F8"/>
                    </a:solidFill>
                  </a:tcPr>
                </a:tc>
              </a:tr>
              <a:tr h="419792">
                <a:tc>
                  <a:txBody>
                    <a:bodyPr/>
                    <a:lstStyle/>
                    <a:p>
                      <a:pPr algn="ctr">
                        <a:defRPr sz="1000">
                          <a:solidFill>
                            <a:srgbClr val="1F2937"/>
                          </a:solidFill>
                          <a:latin typeface="Aptos"/>
                        </a:defRPr>
                      </a:pPr>
                      <a:r>
                        <a:t>CTA</a:t>
                      </a:r>
                    </a:p>
                  </a:txBody>
                  <a:tcPr marL="73152" marR="54864" marT="45720" marB="45720">
                    <a:solidFill>
                      <a:srgbClr val="FFFFFF"/>
                    </a:solidFill>
                  </a:tcPr>
                </a:tc>
                <a:tc>
                  <a:txBody>
                    <a:bodyPr/>
                    <a:lstStyle/>
                    <a:p>
                      <a:pPr algn="l">
                        <a:defRPr sz="1000">
                          <a:solidFill>
                            <a:srgbClr val="1F2937"/>
                          </a:solidFill>
                          <a:latin typeface="Aptos"/>
                        </a:defRPr>
                      </a:pPr>
                      <a:r>
                        <a:t>Hành động mong muốn</a:t>
                      </a:r>
                    </a:p>
                  </a:txBody>
                  <a:tcPr marL="73152" marR="54864" marT="45720" marB="45720">
                    <a:solidFill>
                      <a:srgbClr val="FFFFFF"/>
                    </a:solidFill>
                  </a:tcPr>
                </a:tc>
              </a:tr>
              <a:tr h="419792">
                <a:tc>
                  <a:txBody>
                    <a:bodyPr/>
                    <a:lstStyle/>
                    <a:p>
                      <a:pPr algn="ctr">
                        <a:defRPr sz="1000">
                          <a:solidFill>
                            <a:srgbClr val="1F2937"/>
                          </a:solidFill>
                          <a:latin typeface="Aptos"/>
                        </a:defRPr>
                      </a:pPr>
                      <a:r>
                        <a:t>Người phụ trách</a:t>
                      </a:r>
                    </a:p>
                  </a:txBody>
                  <a:tcPr marL="73152" marR="54864" marT="45720" marB="45720">
                    <a:solidFill>
                      <a:srgbClr val="F2F5F8"/>
                    </a:solidFill>
                  </a:tcPr>
                </a:tc>
                <a:tc>
                  <a:txBody>
                    <a:bodyPr/>
                    <a:lstStyle/>
                    <a:p>
                      <a:pPr algn="l">
                        <a:defRPr sz="1000">
                          <a:solidFill>
                            <a:srgbClr val="1F2937"/>
                          </a:solidFill>
                          <a:latin typeface="Aptos"/>
                        </a:defRPr>
                      </a:pPr>
                      <a:r>
                        <a:t>Viết / thiết kế / duyệt</a:t>
                      </a:r>
                    </a:p>
                  </a:txBody>
                  <a:tcPr marL="73152" marR="54864" marT="45720" marB="45720">
                    <a:solidFill>
                      <a:srgbClr val="F2F5F8"/>
                    </a:solidFill>
                  </a:tcPr>
                </a:tc>
              </a:tr>
              <a:tr h="419792">
                <a:tc>
                  <a:txBody>
                    <a:bodyPr/>
                    <a:lstStyle/>
                    <a:p>
                      <a:pPr algn="ctr">
                        <a:defRPr sz="1000">
                          <a:solidFill>
                            <a:srgbClr val="1F2937"/>
                          </a:solidFill>
                          <a:latin typeface="Aptos"/>
                        </a:defRPr>
                      </a:pPr>
                      <a:r>
                        <a:t>Trạng thái</a:t>
                      </a:r>
                    </a:p>
                  </a:txBody>
                  <a:tcPr marL="73152" marR="54864" marT="45720" marB="45720">
                    <a:solidFill>
                      <a:srgbClr val="FFFFFF"/>
                    </a:solidFill>
                  </a:tcPr>
                </a:tc>
                <a:tc>
                  <a:txBody>
                    <a:bodyPr/>
                    <a:lstStyle/>
                    <a:p>
                      <a:pPr algn="l">
                        <a:defRPr sz="1000">
                          <a:solidFill>
                            <a:srgbClr val="1F2937"/>
                          </a:solidFill>
                          <a:latin typeface="Aptos"/>
                        </a:defRPr>
                      </a:pPr>
                      <a:r>
                        <a:t>Draft / Review / Approved / Published</a:t>
                      </a:r>
                    </a:p>
                  </a:txBody>
                  <a:tcPr marL="73152" marR="54864" marT="45720" marB="45720">
                    <a:solidFill>
                      <a:srgbClr val="FFFFFF"/>
                    </a:solidFill>
                  </a:tcPr>
                </a:tc>
              </a:tr>
              <a:tr h="419800">
                <a:tc>
                  <a:txBody>
                    <a:bodyPr/>
                    <a:lstStyle/>
                    <a:p>
                      <a:pPr algn="ctr">
                        <a:defRPr sz="1000">
                          <a:solidFill>
                            <a:srgbClr val="1F2937"/>
                          </a:solidFill>
                          <a:latin typeface="Aptos"/>
                        </a:defRPr>
                      </a:pPr>
                      <a:r>
                        <a:t>KPI dự kiến</a:t>
                      </a:r>
                    </a:p>
                  </a:txBody>
                  <a:tcPr marL="73152" marR="54864" marT="45720" marB="45720">
                    <a:solidFill>
                      <a:srgbClr val="F2F5F8"/>
                    </a:solidFill>
                  </a:tcPr>
                </a:tc>
                <a:tc>
                  <a:txBody>
                    <a:bodyPr/>
                    <a:lstStyle/>
                    <a:p>
                      <a:pPr algn="l">
                        <a:defRPr sz="1000">
                          <a:solidFill>
                            <a:srgbClr val="1F2937"/>
                          </a:solidFill>
                          <a:latin typeface="Aptos"/>
                        </a:defRPr>
                      </a:pPr>
                      <a:r>
                        <a:t>Reach / Engagement / Click…</a:t>
                      </a: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CALENDAR PRINCIPLES</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37</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5 nguyên tắc lập Content Calendar</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Lịch tốt là lịch có logic, không chỉ là danh sách bài.</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10607040" cy="3383280"/>
          </a:xfrm>
          <a:prstGeom prst="rect">
            <a:avLst/>
          </a:prstGeom>
          <a:noFill/>
        </p:spPr>
        <p:txBody>
          <a:bodyPr wrap="square" lIns="0" rIns="0">
            <a:spAutoFit/>
          </a:bodyPr>
          <a:lstStyle/>
          <a:p>
            <a:pPr>
              <a:spcAft>
                <a:spcPts val="700"/>
              </a:spcAft>
              <a:defRPr sz="1800">
                <a:solidFill>
                  <a:srgbClr val="1F2937"/>
                </a:solidFill>
                <a:latin typeface="Aptos"/>
              </a:defRPr>
            </a:pPr>
            <a:r>
              <a:t>• Cân bằng giữa các Pillar.</a:t>
            </a:r>
          </a:p>
          <a:p>
            <a:pPr>
              <a:spcAft>
                <a:spcPts val="700"/>
              </a:spcAft>
              <a:defRPr sz="1800">
                <a:solidFill>
                  <a:srgbClr val="1F2937"/>
                </a:solidFill>
                <a:latin typeface="Aptos"/>
              </a:defRPr>
            </a:pPr>
            <a:r>
              <a:t>• Cân bằng giữa Hero – Hub – Hygiene.</a:t>
            </a:r>
          </a:p>
          <a:p>
            <a:pPr>
              <a:spcAft>
                <a:spcPts val="700"/>
              </a:spcAft>
              <a:defRPr sz="1800">
                <a:solidFill>
                  <a:srgbClr val="1F2937"/>
                </a:solidFill>
                <a:latin typeface="Aptos"/>
              </a:defRPr>
            </a:pPr>
            <a:r>
              <a:t>• Gắn với sự kiện/mùa vụ: Tết, Black Friday, Valentine, Ngày của Mẹ…</a:t>
            </a:r>
          </a:p>
          <a:p>
            <a:pPr>
              <a:spcAft>
                <a:spcPts val="700"/>
              </a:spcAft>
              <a:defRPr sz="1800">
                <a:solidFill>
                  <a:srgbClr val="1F2937"/>
                </a:solidFill>
                <a:latin typeface="Aptos"/>
              </a:defRPr>
            </a:pPr>
            <a:r>
              <a:t>• Khung giờ vàng chỉ là điểm xuất phát: Facebook 12–13h, 19–21h; TikTok 6–8h, 11–13h, 19–23h; Instagram 11–13h, 19–21h — cần điều chỉnh theo Insight thực tế.</a:t>
            </a:r>
          </a:p>
          <a:p>
            <a:pPr>
              <a:spcAft>
                <a:spcPts val="700"/>
              </a:spcAft>
              <a:defRPr sz="1800">
                <a:solidFill>
                  <a:srgbClr val="1F2937"/>
                </a:solidFill>
                <a:latin typeface="Aptos"/>
              </a:defRPr>
            </a:pPr>
            <a:r>
              <a:t>• Chừa buffer cho content thời sự/trending (newsjacking).</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7958D6"/>
                </a:solidFill>
                <a:latin typeface="Aptos"/>
              </a:defRPr>
            </a:pPr>
            <a:r>
              <a:t>MODULE 2 • CONTENT BRIEF</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38</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Content Brief — chuẩn hóa trước khi sản xuất</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Brief tốt giúp giảm sửa đi sửa lại.</a:t>
            </a:r>
          </a:p>
        </p:txBody>
      </p:sp>
      <p:sp>
        <p:nvSpPr>
          <p:cNvPr id="6" name="Rectangle 5"/>
          <p:cNvSpPr/>
          <p:nvPr/>
        </p:nvSpPr>
        <p:spPr>
          <a:xfrm>
            <a:off x="594360" y="1792224"/>
            <a:ext cx="1051560" cy="64008"/>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011680"/>
            <a:ext cx="5303520" cy="3931920"/>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011680"/>
            <a:ext cx="73152" cy="3931920"/>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167128"/>
            <a:ext cx="4937759" cy="411480"/>
          </a:xfrm>
          <a:prstGeom prst="rect">
            <a:avLst/>
          </a:prstGeom>
          <a:noFill/>
        </p:spPr>
        <p:txBody>
          <a:bodyPr wrap="none">
            <a:spAutoFit/>
          </a:bodyPr>
          <a:lstStyle/>
          <a:p>
            <a:pPr>
              <a:defRPr sz="1800" b="1">
                <a:solidFill>
                  <a:srgbClr val="111C2D"/>
                </a:solidFill>
                <a:latin typeface="Aptos Display"/>
              </a:defRPr>
            </a:pPr>
            <a:r>
              <a:t>10 TRƯỜNG THÔNG TIN</a:t>
            </a:r>
          </a:p>
        </p:txBody>
      </p:sp>
      <p:sp>
        <p:nvSpPr>
          <p:cNvPr id="10" name="TextBox 9"/>
          <p:cNvSpPr txBox="1"/>
          <p:nvPr/>
        </p:nvSpPr>
        <p:spPr>
          <a:xfrm>
            <a:off x="886968" y="2624328"/>
            <a:ext cx="4919472" cy="3182112"/>
          </a:xfrm>
          <a:prstGeom prst="rect">
            <a:avLst/>
          </a:prstGeom>
          <a:noFill/>
        </p:spPr>
        <p:txBody>
          <a:bodyPr wrap="square">
            <a:spAutoFit/>
          </a:bodyPr>
          <a:lstStyle/>
          <a:p>
            <a:pPr>
              <a:spcAft>
                <a:spcPts val="400"/>
              </a:spcAft>
              <a:defRPr sz="1400">
                <a:solidFill>
                  <a:srgbClr val="1F2937"/>
                </a:solidFill>
                <a:latin typeface="Aptos"/>
              </a:defRPr>
            </a:pPr>
            <a:r>
              <a:t>• 1. Tên bài/chủ đề</a:t>
            </a:r>
          </a:p>
          <a:p>
            <a:pPr>
              <a:spcAft>
                <a:spcPts val="400"/>
              </a:spcAft>
              <a:defRPr sz="1400">
                <a:solidFill>
                  <a:srgbClr val="1F2937"/>
                </a:solidFill>
                <a:latin typeface="Aptos"/>
              </a:defRPr>
            </a:pPr>
            <a:r>
              <a:t>• 2. Mục tiêu TOFU/MOFU/BOFU</a:t>
            </a:r>
          </a:p>
          <a:p>
            <a:pPr>
              <a:spcAft>
                <a:spcPts val="400"/>
              </a:spcAft>
              <a:defRPr sz="1400">
                <a:solidFill>
                  <a:srgbClr val="1F2937"/>
                </a:solidFill>
                <a:latin typeface="Aptos"/>
              </a:defRPr>
            </a:pPr>
            <a:r>
              <a:t>• 3. Persona mục tiêu</a:t>
            </a:r>
          </a:p>
          <a:p>
            <a:pPr>
              <a:spcAft>
                <a:spcPts val="400"/>
              </a:spcAft>
              <a:defRPr sz="1400">
                <a:solidFill>
                  <a:srgbClr val="1F2937"/>
                </a:solidFill>
                <a:latin typeface="Aptos"/>
              </a:defRPr>
            </a:pPr>
            <a:r>
              <a:t>• 4. Từ khóa chính (nếu SEO)</a:t>
            </a:r>
          </a:p>
          <a:p>
            <a:pPr>
              <a:spcAft>
                <a:spcPts val="400"/>
              </a:spcAft>
              <a:defRPr sz="1400">
                <a:solidFill>
                  <a:srgbClr val="1F2937"/>
                </a:solidFill>
                <a:latin typeface="Aptos"/>
              </a:defRPr>
            </a:pPr>
            <a:r>
              <a:t>• 5. Tone giọng điệu</a:t>
            </a:r>
          </a:p>
          <a:p>
            <a:pPr>
              <a:spcAft>
                <a:spcPts val="400"/>
              </a:spcAft>
              <a:defRPr sz="1400">
                <a:solidFill>
                  <a:srgbClr val="1F2937"/>
                </a:solidFill>
                <a:latin typeface="Aptos"/>
              </a:defRPr>
            </a:pPr>
            <a:r>
              <a:t>• 6. Độ dài mong muốn</a:t>
            </a:r>
          </a:p>
          <a:p>
            <a:pPr>
              <a:spcAft>
                <a:spcPts val="400"/>
              </a:spcAft>
              <a:defRPr sz="1400">
                <a:solidFill>
                  <a:srgbClr val="1F2937"/>
                </a:solidFill>
                <a:latin typeface="Aptos"/>
              </a:defRPr>
            </a:pPr>
            <a:r>
              <a:t>• 7. Outline/dàn ý</a:t>
            </a:r>
          </a:p>
        </p:txBody>
      </p:sp>
      <p:sp>
        <p:nvSpPr>
          <p:cNvPr id="11" name="Rounded Rectangle 10"/>
          <p:cNvSpPr/>
          <p:nvPr/>
        </p:nvSpPr>
        <p:spPr>
          <a:xfrm>
            <a:off x="6172200" y="2011680"/>
            <a:ext cx="5303520" cy="393192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2011680"/>
            <a:ext cx="73152" cy="393192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167128"/>
            <a:ext cx="4937759" cy="411480"/>
          </a:xfrm>
          <a:prstGeom prst="rect">
            <a:avLst/>
          </a:prstGeom>
          <a:noFill/>
        </p:spPr>
        <p:txBody>
          <a:bodyPr wrap="none">
            <a:spAutoFit/>
          </a:bodyPr>
          <a:lstStyle/>
          <a:p>
            <a:pPr>
              <a:defRPr sz="1800" b="1">
                <a:solidFill>
                  <a:srgbClr val="111C2D"/>
                </a:solidFill>
                <a:latin typeface="Aptos Display"/>
              </a:defRPr>
            </a:pPr>
            <a:r>
              <a:t>TIẾP THEO</a:t>
            </a:r>
          </a:p>
        </p:txBody>
      </p:sp>
      <p:sp>
        <p:nvSpPr>
          <p:cNvPr id="14" name="TextBox 13"/>
          <p:cNvSpPr txBox="1"/>
          <p:nvPr/>
        </p:nvSpPr>
        <p:spPr>
          <a:xfrm>
            <a:off x="6373368" y="2624328"/>
            <a:ext cx="4919472" cy="3182112"/>
          </a:xfrm>
          <a:prstGeom prst="rect">
            <a:avLst/>
          </a:prstGeom>
          <a:noFill/>
        </p:spPr>
        <p:txBody>
          <a:bodyPr wrap="square">
            <a:spAutoFit/>
          </a:bodyPr>
          <a:lstStyle/>
          <a:p>
            <a:pPr>
              <a:spcAft>
                <a:spcPts val="400"/>
              </a:spcAft>
              <a:defRPr sz="1400">
                <a:solidFill>
                  <a:srgbClr val="1F2937"/>
                </a:solidFill>
                <a:latin typeface="Aptos"/>
              </a:defRPr>
            </a:pPr>
            <a:r>
              <a:t>• 8. CTA mong muốn</a:t>
            </a:r>
          </a:p>
          <a:p>
            <a:pPr>
              <a:spcAft>
                <a:spcPts val="400"/>
              </a:spcAft>
              <a:defRPr sz="1400">
                <a:solidFill>
                  <a:srgbClr val="1F2937"/>
                </a:solidFill>
                <a:latin typeface="Aptos"/>
              </a:defRPr>
            </a:pPr>
            <a:r>
              <a:t>• 9. Tài liệu tham khảo/nguồn dữ liệu</a:t>
            </a:r>
          </a:p>
          <a:p>
            <a:pPr>
              <a:spcAft>
                <a:spcPts val="400"/>
              </a:spcAft>
              <a:defRPr sz="1400">
                <a:solidFill>
                  <a:srgbClr val="1F2937"/>
                </a:solidFill>
                <a:latin typeface="Aptos"/>
              </a:defRPr>
            </a:pPr>
            <a:r>
              <a:t>• 10. Deadline</a:t>
            </a:r>
          </a:p>
          <a:p>
            <a:pPr>
              <a:spcAft>
                <a:spcPts val="400"/>
              </a:spcAft>
              <a:defRPr sz="1400">
                <a:solidFill>
                  <a:srgbClr val="1F2937"/>
                </a:solidFill>
                <a:latin typeface="Aptos"/>
              </a:defRPr>
            </a:pPr>
            <a:r>
              <a:t>• </a:t>
            </a:r>
          </a:p>
          <a:p>
            <a:pPr>
              <a:spcAft>
                <a:spcPts val="400"/>
              </a:spcAft>
              <a:defRPr sz="1400">
                <a:solidFill>
                  <a:srgbClr val="1F2937"/>
                </a:solidFill>
                <a:latin typeface="Aptos"/>
              </a:defRPr>
            </a:pPr>
            <a:r>
              <a:t>• Brief = “giao việc cho 1 content cụ thể”</a:t>
            </a:r>
          </a:p>
          <a:p>
            <a:pPr>
              <a:spcAft>
                <a:spcPts val="400"/>
              </a:spcAft>
              <a:defRPr sz="1400">
                <a:solidFill>
                  <a:srgbClr val="1F2937"/>
                </a:solidFill>
                <a:latin typeface="Aptos"/>
              </a:defRPr>
            </a:pPr>
            <a:r>
              <a:t>• Calendar = “quản lý cả hệ thống theo thời gian”</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BRAND VOICE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39</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Brand Voice ≠ Tone of Voice</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Một cái nhất quán; một cái linh hoạt theo ngữ cảnh.</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BRAND VOICE</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Tính cách nhất quán của thương hiệu.</a:t>
            </a:r>
          </a:p>
          <a:p>
            <a:pPr>
              <a:spcAft>
                <a:spcPts val="400"/>
              </a:spcAft>
              <a:defRPr sz="1420">
                <a:solidFill>
                  <a:srgbClr val="1F2937"/>
                </a:solidFill>
                <a:latin typeface="Aptos"/>
              </a:defRPr>
            </a:pPr>
            <a:r>
              <a:t>• Giống “tính cách của một con người”.</a:t>
            </a:r>
          </a:p>
          <a:p>
            <a:pPr>
              <a:spcAft>
                <a:spcPts val="400"/>
              </a:spcAft>
              <a:defRPr sz="1420">
                <a:solidFill>
                  <a:srgbClr val="1F2937"/>
                </a:solidFill>
                <a:latin typeface="Aptos"/>
              </a:defRPr>
            </a:pPr>
            <a:r>
              <a:t>• Không thay đổi theo từng bài.</a:t>
            </a:r>
          </a:p>
          <a:p>
            <a:pPr>
              <a:spcAft>
                <a:spcPts val="400"/>
              </a:spcAft>
              <a:defRPr sz="1420">
                <a:solidFill>
                  <a:srgbClr val="1F2937"/>
                </a:solidFill>
                <a:latin typeface="Aptos"/>
              </a:defRPr>
            </a:pPr>
            <a:r>
              <a:t>• Ví dụ: trẻ trung – hài hước – gần gũi – ngôn ngữ mạng.</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TONE OF VOICE</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Sắc thái có thể thay đổi theo kênh/ngữ cảnh.</a:t>
            </a:r>
          </a:p>
          <a:p>
            <a:pPr>
              <a:spcAft>
                <a:spcPts val="400"/>
              </a:spcAft>
              <a:defRPr sz="1420">
                <a:solidFill>
                  <a:srgbClr val="1F2937"/>
                </a:solidFill>
                <a:latin typeface="Aptos"/>
              </a:defRPr>
            </a:pPr>
            <a:r>
              <a:t>• TikTok: hài hước, dùng trend.</a:t>
            </a:r>
          </a:p>
          <a:p>
            <a:pPr>
              <a:spcAft>
                <a:spcPts val="400"/>
              </a:spcAft>
              <a:defRPr sz="1420">
                <a:solidFill>
                  <a:srgbClr val="1F2937"/>
                </a:solidFill>
                <a:latin typeface="Aptos"/>
              </a:defRPr>
            </a:pPr>
            <a:r>
              <a:t>• Email CSKH: thân thiện nhưng chuyên nghiệp hơn, ít slang.</a:t>
            </a:r>
          </a:p>
          <a:p>
            <a:pPr>
              <a:spcAft>
                <a:spcPts val="400"/>
              </a:spcAft>
              <a:defRPr sz="1420">
                <a:solidFill>
                  <a:srgbClr val="1F2937"/>
                </a:solidFill>
                <a:latin typeface="Aptos"/>
              </a:defRPr>
            </a:pPr>
            <a:r>
              <a:t>• Luôn nằm trong “biên” của Brand Voice.</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7958D6"/>
                </a:solidFill>
                <a:latin typeface="Aptos"/>
              </a:defRPr>
            </a:pPr>
            <a:r>
              <a:t>MODULE 2 • EMPATHY MAP &amp; JTBD</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40</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Đi sâu hơn Persona: Empathy Map + JTBD</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Hai công cụ bổ trợ để chạm insight thật.</a:t>
            </a:r>
          </a:p>
        </p:txBody>
      </p:sp>
      <p:sp>
        <p:nvSpPr>
          <p:cNvPr id="6" name="Rectangle 5"/>
          <p:cNvSpPr/>
          <p:nvPr/>
        </p:nvSpPr>
        <p:spPr>
          <a:xfrm>
            <a:off x="594360" y="1792224"/>
            <a:ext cx="1051560" cy="64008"/>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2057400"/>
            <a:ext cx="3474720" cy="3566160"/>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2057400"/>
            <a:ext cx="73152" cy="3566160"/>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212848"/>
            <a:ext cx="3108960" cy="411480"/>
          </a:xfrm>
          <a:prstGeom prst="rect">
            <a:avLst/>
          </a:prstGeom>
          <a:noFill/>
        </p:spPr>
        <p:txBody>
          <a:bodyPr wrap="none">
            <a:spAutoFit/>
          </a:bodyPr>
          <a:lstStyle/>
          <a:p>
            <a:pPr>
              <a:defRPr sz="1800" b="1">
                <a:solidFill>
                  <a:srgbClr val="111C2D"/>
                </a:solidFill>
                <a:latin typeface="Aptos Display"/>
              </a:defRPr>
            </a:pPr>
            <a:r>
              <a:t>EMPATHY MAP</a:t>
            </a:r>
          </a:p>
        </p:txBody>
      </p:sp>
      <p:sp>
        <p:nvSpPr>
          <p:cNvPr id="10" name="TextBox 9"/>
          <p:cNvSpPr txBox="1"/>
          <p:nvPr/>
        </p:nvSpPr>
        <p:spPr>
          <a:xfrm>
            <a:off x="795528" y="2670048"/>
            <a:ext cx="3090672" cy="2816352"/>
          </a:xfrm>
          <a:prstGeom prst="rect">
            <a:avLst/>
          </a:prstGeom>
          <a:noFill/>
        </p:spPr>
        <p:txBody>
          <a:bodyPr wrap="square">
            <a:spAutoFit/>
          </a:bodyPr>
          <a:lstStyle/>
          <a:p>
            <a:pPr>
              <a:defRPr sz="1500">
                <a:solidFill>
                  <a:srgbClr val="1F2937"/>
                </a:solidFill>
                <a:latin typeface="Aptos"/>
              </a:defRPr>
            </a:pPr>
            <a:r>
              <a:t>SAY — khách hàng nói gì?</a:t>
            </a:r>
            <a:br/>
            <a:r>
              <a:t>THINK — nghĩ gì nhưng không nói?</a:t>
            </a:r>
            <a:br/>
            <a:r>
              <a:t>DO — họ thực sự làm gì?</a:t>
            </a:r>
            <a:br/>
            <a:r>
              <a:t>FEEL — cảm xúc đi kèm?</a:t>
            </a:r>
          </a:p>
        </p:txBody>
      </p:sp>
      <p:sp>
        <p:nvSpPr>
          <p:cNvPr id="11" name="Rounded Rectangle 10"/>
          <p:cNvSpPr/>
          <p:nvPr/>
        </p:nvSpPr>
        <p:spPr>
          <a:xfrm>
            <a:off x="4315968" y="2057400"/>
            <a:ext cx="3474720" cy="356616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2057400"/>
            <a:ext cx="73152" cy="356616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2212848"/>
            <a:ext cx="3108960" cy="411480"/>
          </a:xfrm>
          <a:prstGeom prst="rect">
            <a:avLst/>
          </a:prstGeom>
          <a:noFill/>
        </p:spPr>
        <p:txBody>
          <a:bodyPr wrap="none">
            <a:spAutoFit/>
          </a:bodyPr>
          <a:lstStyle/>
          <a:p>
            <a:pPr>
              <a:defRPr sz="1800" b="1">
                <a:solidFill>
                  <a:srgbClr val="111C2D"/>
                </a:solidFill>
                <a:latin typeface="Aptos Display"/>
              </a:defRPr>
            </a:pPr>
            <a:r>
              <a:t>JTBD</a:t>
            </a:r>
          </a:p>
        </p:txBody>
      </p:sp>
      <p:sp>
        <p:nvSpPr>
          <p:cNvPr id="14" name="TextBox 13"/>
          <p:cNvSpPr txBox="1"/>
          <p:nvPr/>
        </p:nvSpPr>
        <p:spPr>
          <a:xfrm>
            <a:off x="4517136" y="2670048"/>
            <a:ext cx="3090672" cy="2816352"/>
          </a:xfrm>
          <a:prstGeom prst="rect">
            <a:avLst/>
          </a:prstGeom>
          <a:noFill/>
        </p:spPr>
        <p:txBody>
          <a:bodyPr wrap="square">
            <a:spAutoFit/>
          </a:bodyPr>
          <a:lstStyle/>
          <a:p>
            <a:pPr>
              <a:defRPr sz="1450">
                <a:solidFill>
                  <a:srgbClr val="1F2937"/>
                </a:solidFill>
                <a:latin typeface="Aptos"/>
              </a:defRPr>
            </a:pPr>
            <a:r>
              <a:t>Không hỏi “khách hàng là ai?”</a:t>
            </a:r>
            <a:br/>
            <a:r>
              <a:t>→ hỏi “họ thuê sản phẩm để hoàn thành việc gì?”</a:t>
            </a:r>
            <a:br/>
            <a:br/>
            <a:r>
              <a:t>Cấu trúc:</a:t>
            </a:r>
            <a:br/>
            <a:r>
              <a:t>Khi [tình huống] → tôi muốn [động lực] → để tôi có thể [kết quả].</a:t>
            </a:r>
          </a:p>
        </p:txBody>
      </p:sp>
      <p:sp>
        <p:nvSpPr>
          <p:cNvPr id="15" name="Rounded Rectangle 14"/>
          <p:cNvSpPr/>
          <p:nvPr/>
        </p:nvSpPr>
        <p:spPr>
          <a:xfrm>
            <a:off x="8037575" y="2057400"/>
            <a:ext cx="3566160" cy="3566160"/>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5" y="2057400"/>
            <a:ext cx="73152" cy="356616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2212848"/>
            <a:ext cx="3200400" cy="411480"/>
          </a:xfrm>
          <a:prstGeom prst="rect">
            <a:avLst/>
          </a:prstGeom>
          <a:noFill/>
        </p:spPr>
        <p:txBody>
          <a:bodyPr wrap="none">
            <a:spAutoFit/>
          </a:bodyPr>
          <a:lstStyle/>
          <a:p>
            <a:pPr>
              <a:defRPr sz="1800" b="1">
                <a:solidFill>
                  <a:srgbClr val="111C2D"/>
                </a:solidFill>
                <a:latin typeface="Aptos Display"/>
              </a:defRPr>
            </a:pPr>
            <a:r>
              <a:t>KẾT HỢP 3 CÔNG CỤ</a:t>
            </a:r>
          </a:p>
        </p:txBody>
      </p:sp>
      <p:sp>
        <p:nvSpPr>
          <p:cNvPr id="18" name="TextBox 17"/>
          <p:cNvSpPr txBox="1"/>
          <p:nvPr/>
        </p:nvSpPr>
        <p:spPr>
          <a:xfrm>
            <a:off x="8238744" y="2670048"/>
            <a:ext cx="3182112" cy="2816352"/>
          </a:xfrm>
          <a:prstGeom prst="rect">
            <a:avLst/>
          </a:prstGeom>
          <a:noFill/>
        </p:spPr>
        <p:txBody>
          <a:bodyPr wrap="square">
            <a:spAutoFit/>
          </a:bodyPr>
          <a:lstStyle/>
          <a:p>
            <a:pPr>
              <a:defRPr sz="1450">
                <a:solidFill>
                  <a:srgbClr val="1F2937"/>
                </a:solidFill>
                <a:latin typeface="Aptos"/>
              </a:defRPr>
            </a:pPr>
            <a:r>
              <a:t>Persona: phân khúc + chọn kênh.</a:t>
            </a:r>
            <a:br/>
            <a:r>
              <a:t>Empathy/JTBD: đào sâu cảm xúc + động lực.</a:t>
            </a:r>
            <a:br/>
            <a:br/>
            <a:r>
              <a:t>Thực tế: nên kết hợp cả 3.</a:t>
            </a:r>
          </a:p>
        </p:txBody>
      </p:sp>
      <p:sp>
        <p:nvSpPr>
          <p:cNvPr id="19" name="TextBox 18"/>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JTBD EXAMPLE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41</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JTBD — trà sữa: khách hàng “thuê” sản phẩm để làm gì?</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Insight quyết định cách content nên nói.</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148840"/>
            <a:ext cx="10424160" cy="1828800"/>
          </a:xfrm>
          <a:prstGeom prst="roundRect">
            <a:avLst/>
          </a:prstGeom>
          <a:solidFill>
            <a:srgbClr val="FFFFFF"/>
          </a:solidFill>
          <a:ln w="19050">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423160"/>
            <a:ext cx="9692640" cy="1280160"/>
          </a:xfrm>
          <a:prstGeom prst="rect">
            <a:avLst/>
          </a:prstGeom>
          <a:noFill/>
        </p:spPr>
        <p:txBody>
          <a:bodyPr wrap="square">
            <a:spAutoFit/>
          </a:bodyPr>
          <a:lstStyle/>
          <a:p>
            <a:pPr>
              <a:defRPr sz="2000" i="1">
                <a:solidFill>
                  <a:srgbClr val="1F2937"/>
                </a:solidFill>
                <a:latin typeface="Aptos"/>
              </a:defRPr>
            </a:pPr>
            <a:r>
              <a:t>“Khi tôi cảm thấy mệt mỏi giữa giờ làm, tôi muốn có một thức uống vừa ngon vừa “sang” để chụp ảnh, để tôi có thể vừa thư giãn vừa thể hiện gu sống của mình trên story.”</a:t>
            </a:r>
          </a:p>
        </p:txBody>
      </p:sp>
      <p:sp>
        <p:nvSpPr>
          <p:cNvPr id="9" name="TextBox 8"/>
          <p:cNvSpPr txBox="1"/>
          <p:nvPr/>
        </p:nvSpPr>
        <p:spPr>
          <a:xfrm>
            <a:off x="822960" y="4434840"/>
            <a:ext cx="10515600" cy="1371600"/>
          </a:xfrm>
          <a:prstGeom prst="rect">
            <a:avLst/>
          </a:prstGeom>
          <a:noFill/>
        </p:spPr>
        <p:txBody>
          <a:bodyPr wrap="square" lIns="0" rIns="0">
            <a:spAutoFit/>
          </a:bodyPr>
          <a:lstStyle/>
          <a:p>
            <a:pPr>
              <a:spcAft>
                <a:spcPts val="700"/>
              </a:spcAft>
              <a:defRPr sz="1550">
                <a:solidFill>
                  <a:srgbClr val="1F2937"/>
                </a:solidFill>
                <a:latin typeface="Aptos"/>
              </a:defRPr>
            </a:pPr>
            <a:r>
              <a:t>• Không chỉ mua “trà sữa” → đang giải quyết nhu cầu thư giãn + thể hiện bản thân.</a:t>
            </a:r>
          </a:p>
          <a:p>
            <a:pPr>
              <a:spcAft>
                <a:spcPts val="700"/>
              </a:spcAft>
              <a:defRPr sz="1550">
                <a:solidFill>
                  <a:srgbClr val="1F2937"/>
                </a:solidFill>
                <a:latin typeface="Aptos"/>
              </a:defRPr>
            </a:pPr>
            <a:r>
              <a:t>• Content nên nhấn vào hình ảnh đẹp, dễ chia sẻ — không chỉ hương vị.</a:t>
            </a:r>
          </a:p>
          <a:p>
            <a:pPr>
              <a:spcAft>
                <a:spcPts val="700"/>
              </a:spcAft>
              <a:defRPr sz="1550">
                <a:solidFill>
                  <a:srgbClr val="1F2937"/>
                </a:solidFill>
                <a:latin typeface="Aptos"/>
              </a:defRPr>
            </a:pPr>
            <a:r>
              <a:t>• JTBD giúp phát hiện “công việc” phía sau hành vi mua.</a:t>
            </a:r>
          </a:p>
        </p:txBody>
      </p:sp>
      <p:sp>
        <p:nvSpPr>
          <p:cNvPr id="10" name="TextBox 9"/>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CASE 1</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Vinamilk — nhiều Pillar, một sợi dây thương hiệu</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Pillar có thể đa dạng; Brand Voice/giá trị cốt lõi phải nhất quán.</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48840"/>
            <a:ext cx="10607040" cy="3383280"/>
          </a:xfrm>
          <a:prstGeom prst="rect">
            <a:avLst/>
          </a:prstGeom>
          <a:noFill/>
        </p:spPr>
        <p:txBody>
          <a:bodyPr wrap="square" lIns="0" rIns="0">
            <a:spAutoFit/>
          </a:bodyPr>
          <a:lstStyle/>
          <a:p>
            <a:pPr>
              <a:spcAft>
                <a:spcPts val="700"/>
              </a:spcAft>
              <a:defRPr sz="1800">
                <a:solidFill>
                  <a:srgbClr val="1F2937"/>
                </a:solidFill>
                <a:latin typeface="Aptos"/>
              </a:defRPr>
            </a:pPr>
            <a:r>
              <a:t>• Nhiều Content Pillar theo dòng sản phẩm: sữa tươi, sữa bột trẻ em, organic.</a:t>
            </a:r>
          </a:p>
          <a:p>
            <a:pPr>
              <a:spcAft>
                <a:spcPts val="700"/>
              </a:spcAft>
              <a:defRPr sz="1800">
                <a:solidFill>
                  <a:srgbClr val="1F2937"/>
                </a:solidFill>
                <a:latin typeface="Aptos"/>
              </a:defRPr>
            </a:pPr>
            <a:r>
              <a:t>• Persona đa dạng: mẹ bỉm sữa, người lớn tuổi, vận động viên.</a:t>
            </a:r>
          </a:p>
          <a:p>
            <a:pPr>
              <a:spcAft>
                <a:spcPts val="700"/>
              </a:spcAft>
              <a:defRPr sz="1800">
                <a:solidFill>
                  <a:srgbClr val="1F2937"/>
                </a:solidFill>
                <a:latin typeface="Aptos"/>
              </a:defRPr>
            </a:pPr>
            <a:r>
              <a:t>• Giá trị cốt lõi “Vươn cao Việt Nam” xuyên suốt.</a:t>
            </a:r>
          </a:p>
          <a:p>
            <a:pPr>
              <a:spcAft>
                <a:spcPts val="700"/>
              </a:spcAft>
              <a:defRPr sz="1800">
                <a:solidFill>
                  <a:srgbClr val="1F2937"/>
                </a:solidFill>
                <a:latin typeface="Aptos"/>
              </a:defRPr>
            </a:pPr>
            <a:r>
              <a:t>• Bài học: doanh nghiệp lớn cần Pillar riêng theo persona/sản phẩm nhưng phải có sợi dây giá trị chung để không phân mảnh thương hiệu.</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CASE 2</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43</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Tiki — Customer Journey không chỉ là “bài viết”</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UX, badge, thông báo… cũng là content phục vụ hành trình.</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2057400"/>
          <a:ext cx="10515600" cy="3383280"/>
        </p:xfrm>
        <a:graphic>
          <a:graphicData uri="http://schemas.openxmlformats.org/drawingml/2006/table">
            <a:tbl>
              <a:tblPr firstRow="1" bandRow="1">
                <a:tableStyleId>{5C22544A-7EE6-4342-B048-85BDC9FD1C3A}</a:tableStyleId>
              </a:tblPr>
              <a:tblGrid>
                <a:gridCol w="5257800"/>
                <a:gridCol w="5257800"/>
              </a:tblGrid>
              <a:tr h="563880">
                <a:tc>
                  <a:txBody>
                    <a:bodyPr/>
                    <a:lstStyle/>
                    <a:p>
                      <a:pPr algn="ctr">
                        <a:defRPr sz="1300" b="1">
                          <a:solidFill>
                            <a:srgbClr val="FFFFFF"/>
                          </a:solidFill>
                          <a:latin typeface="Aptos"/>
                        </a:defRPr>
                      </a:pPr>
                      <a:r>
                        <a:t>Giai đoạn</a:t>
                      </a:r>
                    </a:p>
                  </a:txBody>
                  <a:tcPr>
                    <a:solidFill>
                      <a:srgbClr val="111C2D"/>
                    </a:solidFill>
                  </a:tcPr>
                </a:tc>
                <a:tc>
                  <a:txBody>
                    <a:bodyPr/>
                    <a:lstStyle/>
                    <a:p>
                      <a:pPr algn="ctr">
                        <a:defRPr sz="1300" b="1">
                          <a:solidFill>
                            <a:srgbClr val="FFFFFF"/>
                          </a:solidFill>
                          <a:latin typeface="Aptos"/>
                        </a:defRPr>
                      </a:pPr>
                      <a:r>
                        <a:t>Tiki làm gì?</a:t>
                      </a:r>
                    </a:p>
                  </a:txBody>
                  <a:tcPr>
                    <a:solidFill>
                      <a:srgbClr val="111C2D"/>
                    </a:solidFill>
                  </a:tcPr>
                </a:tc>
              </a:tr>
              <a:tr h="563880">
                <a:tc>
                  <a:txBody>
                    <a:bodyPr/>
                    <a:lstStyle/>
                    <a:p>
                      <a:pPr algn="ctr">
                        <a:defRPr sz="1250">
                          <a:solidFill>
                            <a:srgbClr val="1F2937"/>
                          </a:solidFill>
                          <a:latin typeface="Aptos"/>
                        </a:defRPr>
                      </a:pPr>
                      <a:r>
                        <a:t>Awareness</a:t>
                      </a:r>
                    </a:p>
                  </a:txBody>
                  <a:tcPr marL="73152" marR="54864" marT="45720" marB="45720">
                    <a:solidFill>
                      <a:srgbClr val="FFFFFF"/>
                    </a:solidFill>
                  </a:tcPr>
                </a:tc>
                <a:tc>
                  <a:txBody>
                    <a:bodyPr/>
                    <a:lstStyle/>
                    <a:p>
                      <a:pPr algn="l">
                        <a:defRPr sz="1250">
                          <a:solidFill>
                            <a:srgbClr val="1F2937"/>
                          </a:solidFill>
                          <a:latin typeface="Aptos"/>
                        </a:defRPr>
                      </a:pPr>
                      <a:r>
                        <a:t>Quảng cáo + social cho Sale sinh nhật, 9.9, 11.11</a:t>
                      </a:r>
                    </a:p>
                  </a:txBody>
                  <a:tcPr marL="73152" marR="54864" marT="45720" marB="45720">
                    <a:solidFill>
                      <a:srgbClr val="FFFFFF"/>
                    </a:solidFill>
                  </a:tcPr>
                </a:tc>
              </a:tr>
              <a:tr h="563880">
                <a:tc>
                  <a:txBody>
                    <a:bodyPr/>
                    <a:lstStyle/>
                    <a:p>
                      <a:pPr algn="ctr">
                        <a:defRPr sz="1250">
                          <a:solidFill>
                            <a:srgbClr val="1F2937"/>
                          </a:solidFill>
                          <a:latin typeface="Aptos"/>
                        </a:defRPr>
                      </a:pPr>
                      <a:r>
                        <a:t>Consideration</a:t>
                      </a:r>
                    </a:p>
                  </a:txBody>
                  <a:tcPr marL="73152" marR="54864" marT="45720" marB="45720">
                    <a:solidFill>
                      <a:srgbClr val="F2F5F8"/>
                    </a:solidFill>
                  </a:tcPr>
                </a:tc>
                <a:tc>
                  <a:txBody>
                    <a:bodyPr/>
                    <a:lstStyle/>
                    <a:p>
                      <a:pPr algn="l">
                        <a:defRPr sz="1250">
                          <a:solidFill>
                            <a:srgbClr val="1F2937"/>
                          </a:solidFill>
                          <a:latin typeface="Aptos"/>
                        </a:defRPr>
                      </a:pPr>
                      <a:r>
                        <a:t>So sánh sản phẩm + review sao/bình luận thật</a:t>
                      </a:r>
                    </a:p>
                  </a:txBody>
                  <a:tcPr marL="73152" marR="54864" marT="45720" marB="45720">
                    <a:solidFill>
                      <a:srgbClr val="F2F5F8"/>
                    </a:solidFill>
                  </a:tcPr>
                </a:tc>
              </a:tr>
              <a:tr h="563880">
                <a:tc>
                  <a:txBody>
                    <a:bodyPr/>
                    <a:lstStyle/>
                    <a:p>
                      <a:pPr algn="ctr">
                        <a:defRPr sz="1250">
                          <a:solidFill>
                            <a:srgbClr val="1F2937"/>
                          </a:solidFill>
                          <a:latin typeface="Aptos"/>
                        </a:defRPr>
                      </a:pPr>
                      <a:r>
                        <a:t>Decision</a:t>
                      </a:r>
                    </a:p>
                  </a:txBody>
                  <a:tcPr marL="73152" marR="54864" marT="45720" marB="45720">
                    <a:solidFill>
                      <a:srgbClr val="FFFFFF"/>
                    </a:solidFill>
                  </a:tcPr>
                </a:tc>
                <a:tc>
                  <a:txBody>
                    <a:bodyPr/>
                    <a:lstStyle/>
                    <a:p>
                      <a:pPr algn="l">
                        <a:defRPr sz="1250">
                          <a:solidFill>
                            <a:srgbClr val="1F2937"/>
                          </a:solidFill>
                          <a:latin typeface="Aptos"/>
                        </a:defRPr>
                      </a:pPr>
                      <a:r>
                        <a:t>Badge Tiki Trading, Giao nhanh 2 giờ</a:t>
                      </a:r>
                    </a:p>
                  </a:txBody>
                  <a:tcPr marL="73152" marR="54864" marT="45720" marB="45720">
                    <a:solidFill>
                      <a:srgbClr val="FFFFFF"/>
                    </a:solidFill>
                  </a:tcPr>
                </a:tc>
              </a:tr>
              <a:tr h="563880">
                <a:tc>
                  <a:txBody>
                    <a:bodyPr/>
                    <a:lstStyle/>
                    <a:p>
                      <a:pPr algn="ctr">
                        <a:defRPr sz="1250">
                          <a:solidFill>
                            <a:srgbClr val="1F2937"/>
                          </a:solidFill>
                          <a:latin typeface="Aptos"/>
                        </a:defRPr>
                      </a:pPr>
                      <a:r>
                        <a:t>Purchase</a:t>
                      </a:r>
                    </a:p>
                  </a:txBody>
                  <a:tcPr marL="73152" marR="54864" marT="45720" marB="45720">
                    <a:solidFill>
                      <a:srgbClr val="F2F5F8"/>
                    </a:solidFill>
                  </a:tcPr>
                </a:tc>
                <a:tc>
                  <a:txBody>
                    <a:bodyPr/>
                    <a:lstStyle/>
                    <a:p>
                      <a:pPr algn="l">
                        <a:defRPr sz="1250">
                          <a:solidFill>
                            <a:srgbClr val="1F2937"/>
                          </a:solidFill>
                          <a:latin typeface="Aptos"/>
                        </a:defRPr>
                      </a:pPr>
                      <a:r>
                        <a:t>Checkout đơn giản, nhiều thanh toán, theo dõi real-time</a:t>
                      </a:r>
                    </a:p>
                  </a:txBody>
                  <a:tcPr marL="73152" marR="54864" marT="45720" marB="45720">
                    <a:solidFill>
                      <a:srgbClr val="F2F5F8"/>
                    </a:solidFill>
                  </a:tcPr>
                </a:tc>
              </a:tr>
              <a:tr h="563880">
                <a:tc>
                  <a:txBody>
                    <a:bodyPr/>
                    <a:lstStyle/>
                    <a:p>
                      <a:pPr algn="ctr">
                        <a:defRPr sz="1250">
                          <a:solidFill>
                            <a:srgbClr val="1F2937"/>
                          </a:solidFill>
                          <a:latin typeface="Aptos"/>
                        </a:defRPr>
                      </a:pPr>
                      <a:r>
                        <a:t>Retention</a:t>
                      </a:r>
                    </a:p>
                  </a:txBody>
                  <a:tcPr marL="73152" marR="54864" marT="45720" marB="45720">
                    <a:solidFill>
                      <a:srgbClr val="FFFFFF"/>
                    </a:solidFill>
                  </a:tcPr>
                </a:tc>
                <a:tc>
                  <a:txBody>
                    <a:bodyPr/>
                    <a:lstStyle/>
                    <a:p>
                      <a:pPr algn="l">
                        <a:defRPr sz="1250">
                          <a:solidFill>
                            <a:srgbClr val="1F2937"/>
                          </a:solidFill>
                          <a:latin typeface="Aptos"/>
                        </a:defRPr>
                      </a:pPr>
                      <a:r>
                        <a:t>Tiki Xu + email gợi ý dựa lịch sử mua</a:t>
                      </a:r>
                    </a:p>
                  </a:txBody>
                  <a:tcPr marL="73152" marR="54864" marT="45720" marB="45720">
                    <a:solidFill>
                      <a:srgbClr val="FFFFFF"/>
                    </a:solidFill>
                  </a:tcPr>
                </a:tc>
              </a:tr>
            </a:tbl>
          </a:graphicData>
        </a:graphic>
      </p:graphicFrame>
      <p:sp>
        <p:nvSpPr>
          <p:cNvPr id="8" name="Rounded Rectangle 7"/>
          <p:cNvSpPr/>
          <p:nvPr/>
        </p:nvSpPr>
        <p:spPr>
          <a:xfrm>
            <a:off x="1920240" y="5669280"/>
            <a:ext cx="8321040" cy="566928"/>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0240" y="5669280"/>
            <a:ext cx="73152" cy="56692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1408" y="5824728"/>
            <a:ext cx="7955279" cy="411480"/>
          </a:xfrm>
          <a:prstGeom prst="rect">
            <a:avLst/>
          </a:prstGeom>
          <a:noFill/>
        </p:spPr>
        <p:txBody>
          <a:bodyPr wrap="none">
            <a:spAutoFit/>
          </a:bodyPr>
          <a:lstStyle/>
          <a:p>
            <a:pPr>
              <a:defRPr sz="1300" b="1">
                <a:solidFill>
                  <a:srgbClr val="111C2D"/>
                </a:solidFill>
                <a:latin typeface="Aptos Display"/>
              </a:defRPr>
            </a:pPr>
            <a:r>
              <a:t>Bài học</a:t>
            </a:r>
          </a:p>
        </p:txBody>
      </p:sp>
      <p:sp>
        <p:nvSpPr>
          <p:cNvPr id="11" name="TextBox 10"/>
          <p:cNvSpPr txBox="1"/>
          <p:nvPr/>
        </p:nvSpPr>
        <p:spPr>
          <a:xfrm>
            <a:off x="2121408" y="6281928"/>
            <a:ext cx="7936992" cy="-182879"/>
          </a:xfrm>
          <a:prstGeom prst="rect">
            <a:avLst/>
          </a:prstGeom>
          <a:noFill/>
        </p:spPr>
        <p:txBody>
          <a:bodyPr wrap="square">
            <a:spAutoFit/>
          </a:bodyPr>
          <a:lstStyle/>
          <a:p>
            <a:pPr>
              <a:defRPr sz="1150">
                <a:solidFill>
                  <a:srgbClr val="1F2937"/>
                </a:solidFill>
                <a:latin typeface="Aptos"/>
              </a:defRPr>
            </a:pPr>
            <a:r>
              <a:t>Content = toàn bộ trải nghiệm thông tin xuyên suốt journey, không chỉ là bài đăng.</a:t>
            </a:r>
          </a:p>
        </p:txBody>
      </p:sp>
      <p:sp>
        <p:nvSpPr>
          <p:cNvPr id="12" name="TextBox 11"/>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MODULE 2 • CASE 3</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44</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Local brand mỹ phẩm — bài tập phân tích thực chiến</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Dữ liệu giả định: 20 bình luận + sản phẩm + đối thủ.</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514600"/>
            <a:ext cx="3493008" cy="128016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a:t>
            </a:r>
            <a:br/>
            <a:r>
              <a:t>XÂY 2 PERSONA</a:t>
            </a:r>
          </a:p>
        </p:txBody>
      </p:sp>
      <p:sp>
        <p:nvSpPr>
          <p:cNvPr id="8" name="Rounded Rectangle 7"/>
          <p:cNvSpPr/>
          <p:nvPr/>
        </p:nvSpPr>
        <p:spPr>
          <a:xfrm>
            <a:off x="4334256" y="2514600"/>
            <a:ext cx="3493008" cy="128016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2</a:t>
            </a:r>
            <a:br/>
            <a:r>
              <a:t>VẼ JOURNEY</a:t>
            </a:r>
          </a:p>
        </p:txBody>
      </p:sp>
      <p:sp>
        <p:nvSpPr>
          <p:cNvPr id="9" name="Rounded Rectangle 8"/>
          <p:cNvSpPr/>
          <p:nvPr/>
        </p:nvSpPr>
        <p:spPr>
          <a:xfrm>
            <a:off x="7936992" y="2514600"/>
            <a:ext cx="3493008" cy="128016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a:t>
            </a:r>
            <a:br/>
            <a:r>
              <a:t>ĐỀ XUẤT 3 PILLAR</a:t>
            </a:r>
          </a:p>
        </p:txBody>
      </p:sp>
      <p:sp>
        <p:nvSpPr>
          <p:cNvPr id="10" name="TextBox 9"/>
          <p:cNvSpPr txBox="1"/>
          <p:nvPr/>
        </p:nvSpPr>
        <p:spPr>
          <a:xfrm>
            <a:off x="1005840" y="4251960"/>
            <a:ext cx="10058400" cy="1188720"/>
          </a:xfrm>
          <a:prstGeom prst="rect">
            <a:avLst/>
          </a:prstGeom>
          <a:noFill/>
        </p:spPr>
        <p:txBody>
          <a:bodyPr wrap="square" lIns="0" rIns="0">
            <a:spAutoFit/>
          </a:bodyPr>
          <a:lstStyle/>
          <a:p>
            <a:pPr>
              <a:spcAft>
                <a:spcPts val="700"/>
              </a:spcAft>
              <a:defRPr sz="1600">
                <a:solidFill>
                  <a:srgbClr val="1F2937"/>
                </a:solidFill>
                <a:latin typeface="Aptos"/>
              </a:defRPr>
            </a:pPr>
            <a:r>
              <a:t>• Phân tích ngôn từ và mối quan tâm khách hàng thể hiện trong comment.</a:t>
            </a:r>
          </a:p>
          <a:p>
            <a:pPr>
              <a:spcAft>
                <a:spcPts val="700"/>
              </a:spcAft>
              <a:defRPr sz="1600">
                <a:solidFill>
                  <a:srgbClr val="1F2937"/>
                </a:solidFill>
                <a:latin typeface="Aptos"/>
              </a:defRPr>
            </a:pPr>
            <a:r>
              <a:t>• Vẽ Customer Journey Map cho 1 Persona.</a:t>
            </a:r>
          </a:p>
          <a:p>
            <a:pPr>
              <a:spcAft>
                <a:spcPts val="700"/>
              </a:spcAft>
              <a:defRPr sz="1600">
                <a:solidFill>
                  <a:srgbClr val="1F2937"/>
                </a:solidFill>
                <a:latin typeface="Aptos"/>
              </a:defRPr>
            </a:pPr>
            <a:r>
              <a:t>• Đề xuất 3 Content Pillar phù hợp.</a:t>
            </a:r>
          </a:p>
        </p:txBody>
      </p:sp>
      <p:sp>
        <p:nvSpPr>
          <p:cNvPr id="11" name="TextBox 10"/>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CASE 4</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45</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Highlands Coffee — Pillar từ JTBD</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“Không gian làm việc” có thể quan trọng hơn “đồ uống ngon”.</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10607040" cy="4023360"/>
          </a:xfrm>
          <a:prstGeom prst="rect">
            <a:avLst/>
          </a:prstGeom>
          <a:noFill/>
        </p:spPr>
        <p:txBody>
          <a:bodyPr wrap="square" lIns="0" rIns="0">
            <a:spAutoFit/>
          </a:bodyPr>
          <a:lstStyle/>
          <a:p>
            <a:pPr>
              <a:spcAft>
                <a:spcPts val="700"/>
              </a:spcAft>
              <a:defRPr sz="1700">
                <a:solidFill>
                  <a:srgbClr val="1F2937"/>
                </a:solidFill>
                <a:latin typeface="Aptos"/>
              </a:defRPr>
            </a:pPr>
            <a:r>
              <a:t>• 2 nhóm Persona: người đi làm cần chỗ họp/làm việc; gia đình/nhóm bạn cuối tuần.</a:t>
            </a:r>
          </a:p>
          <a:p>
            <a:pPr>
              <a:spcAft>
                <a:spcPts val="700"/>
              </a:spcAft>
              <a:defRPr sz="1700">
                <a:solidFill>
                  <a:srgbClr val="1F2937"/>
                </a:solidFill>
                <a:latin typeface="Aptos"/>
              </a:defRPr>
            </a:pPr>
            <a:r>
              <a:t>• Content Pillar: “không gian làm việc lý tưởng”, “cà phê và năng suất”, gắn vị trí quán tại khu văn phòng.</a:t>
            </a:r>
          </a:p>
          <a:p>
            <a:pPr>
              <a:spcAft>
                <a:spcPts val="700"/>
              </a:spcAft>
              <a:defRPr sz="1700">
                <a:solidFill>
                  <a:srgbClr val="1F2937"/>
                </a:solidFill>
                <a:latin typeface="Aptos"/>
              </a:defRPr>
            </a:pPr>
            <a:r>
              <a:t>• JTBD: khi cần họp với khách hàng ngoài văn phòng → muốn nơi yên tĩnh, chuyên nghiệp → để gây ấn tượng mà không cần phòng họp.</a:t>
            </a:r>
          </a:p>
          <a:p>
            <a:pPr>
              <a:spcAft>
                <a:spcPts val="700"/>
              </a:spcAft>
              <a:defRPr sz="1700">
                <a:solidFill>
                  <a:srgbClr val="1F2937"/>
                </a:solidFill>
                <a:latin typeface="Aptos"/>
              </a:defRPr>
            </a:pPr>
            <a:r>
              <a:t>• Kết quả theo tài liệu: trở thành lựa chọn mặc định cho nhiều cuộc hẹn công việc không chính thức; retention cao.</a:t>
            </a:r>
          </a:p>
          <a:p>
            <a:pPr>
              <a:spcAft>
                <a:spcPts val="700"/>
              </a:spcAft>
              <a:defRPr sz="1700">
                <a:solidFill>
                  <a:srgbClr val="1F2937"/>
                </a:solidFill>
                <a:latin typeface="Aptos"/>
              </a:defRPr>
            </a:pPr>
            <a:r>
              <a:t>• Bài học: JTBD có thể mở ra Pillar không hiển nhiên nhưng sát động lực thật hơn.</a:t>
            </a:r>
          </a:p>
        </p:txBody>
      </p:sp>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THỰC HÀNH</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46</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Bài tập Module 2 — biến chiến lược thành hệ thống</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Đầu ra là tài sản dùng xuyên suốt khóa học.</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965960"/>
            <a:ext cx="2651760" cy="3749039"/>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965960"/>
            <a:ext cx="73152" cy="3749039"/>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21408"/>
            <a:ext cx="2286000" cy="411480"/>
          </a:xfrm>
          <a:prstGeom prst="rect">
            <a:avLst/>
          </a:prstGeom>
          <a:noFill/>
        </p:spPr>
        <p:txBody>
          <a:bodyPr wrap="none">
            <a:spAutoFit/>
          </a:bodyPr>
          <a:lstStyle/>
          <a:p>
            <a:pPr>
              <a:defRPr sz="1700" b="1">
                <a:solidFill>
                  <a:srgbClr val="111C2D"/>
                </a:solidFill>
                <a:latin typeface="Aptos Display"/>
              </a:defRPr>
            </a:pPr>
            <a:r>
              <a:t>BT1 • 45 PHÚT</a:t>
            </a:r>
          </a:p>
        </p:txBody>
      </p:sp>
      <p:sp>
        <p:nvSpPr>
          <p:cNvPr id="10" name="TextBox 9"/>
          <p:cNvSpPr txBox="1"/>
          <p:nvPr/>
        </p:nvSpPr>
        <p:spPr>
          <a:xfrm>
            <a:off x="704088" y="2578608"/>
            <a:ext cx="2267712" cy="2999232"/>
          </a:xfrm>
          <a:prstGeom prst="rect">
            <a:avLst/>
          </a:prstGeom>
          <a:noFill/>
        </p:spPr>
        <p:txBody>
          <a:bodyPr wrap="square">
            <a:spAutoFit/>
          </a:bodyPr>
          <a:lstStyle/>
          <a:p>
            <a:pPr>
              <a:defRPr sz="1400">
                <a:solidFill>
                  <a:srgbClr val="1F2937"/>
                </a:solidFill>
                <a:latin typeface="Aptos"/>
              </a:defRPr>
            </a:pPr>
            <a:r>
              <a:t>Từ 10 review → xây 2 Persona hoàn chỉnh, 8 thành phần.</a:t>
            </a:r>
          </a:p>
        </p:txBody>
      </p:sp>
      <p:sp>
        <p:nvSpPr>
          <p:cNvPr id="11" name="Rounded Rectangle 10"/>
          <p:cNvSpPr/>
          <p:nvPr/>
        </p:nvSpPr>
        <p:spPr>
          <a:xfrm>
            <a:off x="3337560" y="1965960"/>
            <a:ext cx="2651760" cy="3749039"/>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965960"/>
            <a:ext cx="73152" cy="3749039"/>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2121408"/>
            <a:ext cx="2286000" cy="411480"/>
          </a:xfrm>
          <a:prstGeom prst="rect">
            <a:avLst/>
          </a:prstGeom>
          <a:noFill/>
        </p:spPr>
        <p:txBody>
          <a:bodyPr wrap="none">
            <a:spAutoFit/>
          </a:bodyPr>
          <a:lstStyle/>
          <a:p>
            <a:pPr>
              <a:defRPr sz="1700" b="1">
                <a:solidFill>
                  <a:srgbClr val="111C2D"/>
                </a:solidFill>
                <a:latin typeface="Aptos Display"/>
              </a:defRPr>
            </a:pPr>
            <a:r>
              <a:t>BT2</a:t>
            </a:r>
          </a:p>
        </p:txBody>
      </p:sp>
      <p:sp>
        <p:nvSpPr>
          <p:cNvPr id="14" name="TextBox 13"/>
          <p:cNvSpPr txBox="1"/>
          <p:nvPr/>
        </p:nvSpPr>
        <p:spPr>
          <a:xfrm>
            <a:off x="3538728" y="2578608"/>
            <a:ext cx="2267712" cy="2999232"/>
          </a:xfrm>
          <a:prstGeom prst="rect">
            <a:avLst/>
          </a:prstGeom>
          <a:noFill/>
        </p:spPr>
        <p:txBody>
          <a:bodyPr wrap="square">
            <a:spAutoFit/>
          </a:bodyPr>
          <a:lstStyle/>
          <a:p>
            <a:pPr>
              <a:defRPr sz="1400">
                <a:solidFill>
                  <a:srgbClr val="1F2937"/>
                </a:solidFill>
                <a:latin typeface="Aptos"/>
              </a:defRPr>
            </a:pPr>
            <a:r>
              <a:t>Vẽ Journey 5 giai đoạn cho 1 Persona; gắn touchpoint + content.</a:t>
            </a:r>
          </a:p>
        </p:txBody>
      </p:sp>
      <p:sp>
        <p:nvSpPr>
          <p:cNvPr id="15" name="Rounded Rectangle 14"/>
          <p:cNvSpPr/>
          <p:nvPr/>
        </p:nvSpPr>
        <p:spPr>
          <a:xfrm>
            <a:off x="6172200" y="1965960"/>
            <a:ext cx="2651760" cy="3749039"/>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965960"/>
            <a:ext cx="73152" cy="3749039"/>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121408"/>
            <a:ext cx="2286000" cy="411480"/>
          </a:xfrm>
          <a:prstGeom prst="rect">
            <a:avLst/>
          </a:prstGeom>
          <a:noFill/>
        </p:spPr>
        <p:txBody>
          <a:bodyPr wrap="none">
            <a:spAutoFit/>
          </a:bodyPr>
          <a:lstStyle/>
          <a:p>
            <a:pPr>
              <a:defRPr sz="1700" b="1">
                <a:solidFill>
                  <a:srgbClr val="111C2D"/>
                </a:solidFill>
                <a:latin typeface="Aptos Display"/>
              </a:defRPr>
            </a:pPr>
            <a:r>
              <a:t>BT3</a:t>
            </a:r>
          </a:p>
        </p:txBody>
      </p:sp>
      <p:sp>
        <p:nvSpPr>
          <p:cNvPr id="18" name="TextBox 17"/>
          <p:cNvSpPr txBox="1"/>
          <p:nvPr/>
        </p:nvSpPr>
        <p:spPr>
          <a:xfrm>
            <a:off x="6373368" y="2578608"/>
            <a:ext cx="2267712" cy="2999232"/>
          </a:xfrm>
          <a:prstGeom prst="rect">
            <a:avLst/>
          </a:prstGeom>
          <a:noFill/>
        </p:spPr>
        <p:txBody>
          <a:bodyPr wrap="square">
            <a:spAutoFit/>
          </a:bodyPr>
          <a:lstStyle/>
          <a:p>
            <a:pPr>
              <a:defRPr sz="1400">
                <a:solidFill>
                  <a:srgbClr val="1F2937"/>
                </a:solidFill>
                <a:latin typeface="Aptos"/>
              </a:defRPr>
            </a:pPr>
            <a:r>
              <a:t>Tối thiểu 3 Pillar × 5 Cluster = 15 chủ đề con.</a:t>
            </a:r>
          </a:p>
        </p:txBody>
      </p:sp>
      <p:sp>
        <p:nvSpPr>
          <p:cNvPr id="19" name="Rounded Rectangle 18"/>
          <p:cNvSpPr/>
          <p:nvPr/>
        </p:nvSpPr>
        <p:spPr>
          <a:xfrm>
            <a:off x="9006840" y="1965960"/>
            <a:ext cx="2651760" cy="3749039"/>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73152" cy="3749039"/>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8" y="2121408"/>
            <a:ext cx="2286000" cy="411480"/>
          </a:xfrm>
          <a:prstGeom prst="rect">
            <a:avLst/>
          </a:prstGeom>
          <a:noFill/>
        </p:spPr>
        <p:txBody>
          <a:bodyPr wrap="none">
            <a:spAutoFit/>
          </a:bodyPr>
          <a:lstStyle/>
          <a:p>
            <a:pPr>
              <a:defRPr sz="1700" b="1">
                <a:solidFill>
                  <a:srgbClr val="111C2D"/>
                </a:solidFill>
                <a:latin typeface="Aptos Display"/>
              </a:defRPr>
            </a:pPr>
            <a:r>
              <a:t>BT4–5</a:t>
            </a:r>
          </a:p>
        </p:txBody>
      </p:sp>
      <p:sp>
        <p:nvSpPr>
          <p:cNvPr id="22" name="TextBox 21"/>
          <p:cNvSpPr txBox="1"/>
          <p:nvPr/>
        </p:nvSpPr>
        <p:spPr>
          <a:xfrm>
            <a:off x="9208008" y="2578608"/>
            <a:ext cx="2267712" cy="2999232"/>
          </a:xfrm>
          <a:prstGeom prst="rect">
            <a:avLst/>
          </a:prstGeom>
          <a:noFill/>
        </p:spPr>
        <p:txBody>
          <a:bodyPr wrap="square">
            <a:spAutoFit/>
          </a:bodyPr>
          <a:lstStyle/>
          <a:p>
            <a:pPr>
              <a:defRPr sz="1350">
                <a:solidFill>
                  <a:srgbClr val="1F2937"/>
                </a:solidFill>
                <a:latin typeface="Aptos"/>
              </a:defRPr>
            </a:pPr>
            <a:r>
              <a:t>Calendar ≥20 nội dung, ≥2 kênh, đủ 3H + seasonal moment.</a:t>
            </a:r>
            <a:br/>
            <a:r>
              <a:t>Nhóm: tái hiện Journey 1 thương hiệu.</a:t>
            </a:r>
          </a:p>
        </p:txBody>
      </p:sp>
      <p:sp>
        <p:nvSpPr>
          <p:cNvPr id="23" name="TextBox 2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2D66DB"/>
                </a:solidFill>
                <a:latin typeface="Aptos"/>
              </a:defRPr>
            </a:pPr>
            <a:r>
              <a:t>MODULE 2 • RUBRIC</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47</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Rubric bài tập Module 2 — 10 điểm</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Chấm theo chất lượng chiến lược, không chỉ hình thức.</a:t>
            </a:r>
          </a:p>
        </p:txBody>
      </p:sp>
      <p:sp>
        <p:nvSpPr>
          <p:cNvPr id="6" name="Rectangle 5"/>
          <p:cNvSpPr/>
          <p:nvPr/>
        </p:nvSpPr>
        <p:spPr>
          <a:xfrm>
            <a:off x="594360" y="1792224"/>
            <a:ext cx="1051560" cy="64008"/>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371600" y="2103120"/>
          <a:ext cx="9326880" cy="3383280"/>
        </p:xfrm>
        <a:graphic>
          <a:graphicData uri="http://schemas.openxmlformats.org/drawingml/2006/table">
            <a:tbl>
              <a:tblPr firstRow="1" bandRow="1">
                <a:tableStyleId>{5C22544A-7EE6-4342-B048-85BDC9FD1C3A}</a:tableStyleId>
              </a:tblPr>
              <a:tblGrid>
                <a:gridCol w="4663440"/>
                <a:gridCol w="4663440"/>
              </a:tblGrid>
              <a:tr h="483325">
                <a:tc>
                  <a:txBody>
                    <a:bodyPr/>
                    <a:lstStyle/>
                    <a:p>
                      <a:pPr algn="ctr">
                        <a:defRPr sz="1500" b="1">
                          <a:solidFill>
                            <a:srgbClr val="FFFFFF"/>
                          </a:solidFill>
                          <a:latin typeface="Aptos"/>
                        </a:defRPr>
                      </a:pPr>
                      <a:r>
                        <a:t>Tiêu chí</a:t>
                      </a:r>
                    </a:p>
                  </a:txBody>
                  <a:tcPr>
                    <a:solidFill>
                      <a:srgbClr val="111C2D"/>
                    </a:solidFill>
                  </a:tcPr>
                </a:tc>
                <a:tc>
                  <a:txBody>
                    <a:bodyPr/>
                    <a:lstStyle/>
                    <a:p>
                      <a:pPr algn="ctr">
                        <a:defRPr sz="1500" b="1">
                          <a:solidFill>
                            <a:srgbClr val="FFFFFF"/>
                          </a:solidFill>
                          <a:latin typeface="Aptos"/>
                        </a:defRPr>
                      </a:pPr>
                      <a:r>
                        <a:t>Điểm</a:t>
                      </a:r>
                    </a:p>
                  </a:txBody>
                  <a:tcPr>
                    <a:solidFill>
                      <a:srgbClr val="111C2D"/>
                    </a:solidFill>
                  </a:tcPr>
                </a:tc>
              </a:tr>
              <a:tr h="483325">
                <a:tc>
                  <a:txBody>
                    <a:bodyPr/>
                    <a:lstStyle/>
                    <a:p>
                      <a:pPr algn="ctr">
                        <a:defRPr sz="1450">
                          <a:solidFill>
                            <a:srgbClr val="1F2937"/>
                          </a:solidFill>
                          <a:latin typeface="Aptos"/>
                        </a:defRPr>
                      </a:pPr>
                      <a:r>
                        <a:t>Persona đủ 8 thành phần, có căn cứ dữ liệu</a:t>
                      </a:r>
                    </a:p>
                  </a:txBody>
                  <a:tcPr marL="73152" marR="54864" marT="45720" marB="45720">
                    <a:solidFill>
                      <a:srgbClr val="FFFFFF"/>
                    </a:solidFill>
                  </a:tcPr>
                </a:tc>
                <a:tc>
                  <a:txBody>
                    <a:bodyPr/>
                    <a:lstStyle/>
                    <a:p>
                      <a:pPr algn="l">
                        <a:defRPr sz="1450">
                          <a:solidFill>
                            <a:srgbClr val="1F2937"/>
                          </a:solidFill>
                          <a:latin typeface="Aptos"/>
                        </a:defRPr>
                      </a:pPr>
                      <a:r>
                        <a:t>2</a:t>
                      </a:r>
                    </a:p>
                  </a:txBody>
                  <a:tcPr marL="73152" marR="54864" marT="45720" marB="45720">
                    <a:solidFill>
                      <a:srgbClr val="FFFFFF"/>
                    </a:solidFill>
                  </a:tcPr>
                </a:tc>
              </a:tr>
              <a:tr h="483325">
                <a:tc>
                  <a:txBody>
                    <a:bodyPr/>
                    <a:lstStyle/>
                    <a:p>
                      <a:pPr algn="ctr">
                        <a:defRPr sz="1450">
                          <a:solidFill>
                            <a:srgbClr val="1F2937"/>
                          </a:solidFill>
                          <a:latin typeface="Aptos"/>
                        </a:defRPr>
                      </a:pPr>
                      <a:r>
                        <a:t>Journey đủ 5 giai đoạn, content phù hợp</a:t>
                      </a:r>
                    </a:p>
                  </a:txBody>
                  <a:tcPr marL="73152" marR="54864" marT="45720" marB="45720">
                    <a:solidFill>
                      <a:srgbClr val="F2F5F8"/>
                    </a:solidFill>
                  </a:tcPr>
                </a:tc>
                <a:tc>
                  <a:txBody>
                    <a:bodyPr/>
                    <a:lstStyle/>
                    <a:p>
                      <a:pPr algn="l">
                        <a:defRPr sz="1450">
                          <a:solidFill>
                            <a:srgbClr val="1F2937"/>
                          </a:solidFill>
                          <a:latin typeface="Aptos"/>
                        </a:defRPr>
                      </a:pPr>
                      <a:r>
                        <a:t>2</a:t>
                      </a:r>
                    </a:p>
                  </a:txBody>
                  <a:tcPr marL="73152" marR="54864" marT="45720" marB="45720">
                    <a:solidFill>
                      <a:srgbClr val="F2F5F8"/>
                    </a:solidFill>
                  </a:tcPr>
                </a:tc>
              </a:tr>
              <a:tr h="483325">
                <a:tc>
                  <a:txBody>
                    <a:bodyPr/>
                    <a:lstStyle/>
                    <a:p>
                      <a:pPr algn="ctr">
                        <a:defRPr sz="1450">
                          <a:solidFill>
                            <a:srgbClr val="1F2937"/>
                          </a:solidFill>
                          <a:latin typeface="Aptos"/>
                        </a:defRPr>
                      </a:pPr>
                      <a:r>
                        <a:t>Content Pillar logic, liên quan USP + Persona</a:t>
                      </a:r>
                    </a:p>
                  </a:txBody>
                  <a:tcPr marL="73152" marR="54864" marT="45720" marB="45720">
                    <a:solidFill>
                      <a:srgbClr val="FFFFFF"/>
                    </a:solidFill>
                  </a:tcPr>
                </a:tc>
                <a:tc>
                  <a:txBody>
                    <a:bodyPr/>
                    <a:lstStyle/>
                    <a:p>
                      <a:pPr algn="l">
                        <a:defRPr sz="1450">
                          <a:solidFill>
                            <a:srgbClr val="1F2937"/>
                          </a:solidFill>
                          <a:latin typeface="Aptos"/>
                        </a:defRPr>
                      </a:pPr>
                      <a:r>
                        <a:t>2</a:t>
                      </a:r>
                    </a:p>
                  </a:txBody>
                  <a:tcPr marL="73152" marR="54864" marT="45720" marB="45720">
                    <a:solidFill>
                      <a:srgbClr val="FFFFFF"/>
                    </a:solidFill>
                  </a:tcPr>
                </a:tc>
              </a:tr>
              <a:tr h="483325">
                <a:tc>
                  <a:txBody>
                    <a:bodyPr/>
                    <a:lstStyle/>
                    <a:p>
                      <a:pPr algn="ctr">
                        <a:defRPr sz="1450">
                          <a:solidFill>
                            <a:srgbClr val="1F2937"/>
                          </a:solidFill>
                          <a:latin typeface="Aptos"/>
                        </a:defRPr>
                      </a:pPr>
                      <a:r>
                        <a:t>Content Calendar đầy đủ, cân bằng 3H, đúng format</a:t>
                      </a:r>
                    </a:p>
                  </a:txBody>
                  <a:tcPr marL="73152" marR="54864" marT="45720" marB="45720">
                    <a:solidFill>
                      <a:srgbClr val="F2F5F8"/>
                    </a:solidFill>
                  </a:tcPr>
                </a:tc>
                <a:tc>
                  <a:txBody>
                    <a:bodyPr/>
                    <a:lstStyle/>
                    <a:p>
                      <a:pPr algn="l">
                        <a:defRPr sz="1450">
                          <a:solidFill>
                            <a:srgbClr val="1F2937"/>
                          </a:solidFill>
                          <a:latin typeface="Aptos"/>
                        </a:defRPr>
                      </a:pPr>
                      <a:r>
                        <a:t>3</a:t>
                      </a:r>
                    </a:p>
                  </a:txBody>
                  <a:tcPr marL="73152" marR="54864" marT="45720" marB="45720">
                    <a:solidFill>
                      <a:srgbClr val="F2F5F8"/>
                    </a:solidFill>
                  </a:tcPr>
                </a:tc>
              </a:tr>
              <a:tr h="483325">
                <a:tc>
                  <a:txBody>
                    <a:bodyPr/>
                    <a:lstStyle/>
                    <a:p>
                      <a:pPr algn="ctr">
                        <a:defRPr sz="1450">
                          <a:solidFill>
                            <a:srgbClr val="1F2937"/>
                          </a:solidFill>
                          <a:latin typeface="Aptos"/>
                        </a:defRPr>
                      </a:pPr>
                      <a:r>
                        <a:t>Trình bày rõ ràng, chuyên nghiệp</a:t>
                      </a:r>
                    </a:p>
                  </a:txBody>
                  <a:tcPr marL="73152" marR="54864" marT="45720" marB="45720">
                    <a:solidFill>
                      <a:srgbClr val="FFFFFF"/>
                    </a:solidFill>
                  </a:tcPr>
                </a:tc>
                <a:tc>
                  <a:txBody>
                    <a:bodyPr/>
                    <a:lstStyle/>
                    <a:p>
                      <a:pPr algn="l">
                        <a:defRPr sz="1450">
                          <a:solidFill>
                            <a:srgbClr val="1F2937"/>
                          </a:solidFill>
                          <a:latin typeface="Aptos"/>
                        </a:defRPr>
                      </a:pPr>
                      <a:r>
                        <a:t>1</a:t>
                      </a:r>
                    </a:p>
                  </a:txBody>
                  <a:tcPr marL="73152" marR="54864" marT="45720" marB="45720">
                    <a:solidFill>
                      <a:srgbClr val="FFFFFF"/>
                    </a:solidFill>
                  </a:tcPr>
                </a:tc>
              </a:tr>
              <a:tr h="483330">
                <a:tc>
                  <a:txBody>
                    <a:bodyPr/>
                    <a:lstStyle/>
                    <a:p>
                      <a:pPr algn="ctr">
                        <a:defRPr sz="1450">
                          <a:solidFill>
                            <a:srgbClr val="1F2937"/>
                          </a:solidFill>
                          <a:latin typeface="Aptos"/>
                        </a:defRPr>
                      </a:pPr>
                      <a:r>
                        <a:t>TỔNG</a:t>
                      </a:r>
                    </a:p>
                  </a:txBody>
                  <a:tcPr marL="73152" marR="54864" marT="45720" marB="45720">
                    <a:solidFill>
                      <a:srgbClr val="F2F5F8"/>
                    </a:solidFill>
                  </a:tcPr>
                </a:tc>
                <a:tc>
                  <a:txBody>
                    <a:bodyPr/>
                    <a:lstStyle/>
                    <a:p>
                      <a:pPr algn="l">
                        <a:defRPr sz="1450">
                          <a:solidFill>
                            <a:srgbClr val="1F2937"/>
                          </a:solidFill>
                          <a:latin typeface="Aptos"/>
                        </a:defRPr>
                      </a:pPr>
                      <a:r>
                        <a:t>10</a:t>
                      </a: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7958D6"/>
                </a:solidFill>
                <a:latin typeface="Aptos"/>
              </a:defRPr>
            </a:pPr>
            <a:r>
              <a:t>MODULE 2 • SELF-CHECK</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48</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15 câu hỏi tự đánh giá</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Từ Persona đến JTBD và vận hành.</a:t>
            </a:r>
          </a:p>
        </p:txBody>
      </p:sp>
      <p:sp>
        <p:nvSpPr>
          <p:cNvPr id="6" name="Rectangle 5"/>
          <p:cNvSpPr/>
          <p:nvPr/>
        </p:nvSpPr>
        <p:spPr>
          <a:xfrm>
            <a:off x="594360" y="1792224"/>
            <a:ext cx="1051560" cy="64008"/>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920240"/>
          <a:ext cx="10972800" cy="4434840"/>
        </p:xfrm>
        <a:graphic>
          <a:graphicData uri="http://schemas.openxmlformats.org/drawingml/2006/table">
            <a:tbl>
              <a:tblPr firstRow="1" bandRow="1">
                <a:tableStyleId>{5C22544A-7EE6-4342-B048-85BDC9FD1C3A}</a:tableStyleId>
              </a:tblPr>
              <a:tblGrid>
                <a:gridCol w="5486400"/>
                <a:gridCol w="5486400"/>
              </a:tblGrid>
              <a:tr h="492760">
                <a:tc>
                  <a:txBody>
                    <a:bodyPr/>
                    <a:lstStyle/>
                    <a:p>
                      <a:pPr algn="ctr">
                        <a:defRPr sz="1120" b="1">
                          <a:solidFill>
                            <a:srgbClr val="FFFFFF"/>
                          </a:solidFill>
                          <a:latin typeface="Aptos"/>
                        </a:defRPr>
                      </a:pPr>
                      <a:r>
                        <a:t>Câu 1–8</a:t>
                      </a:r>
                    </a:p>
                  </a:txBody>
                  <a:tcPr>
                    <a:solidFill>
                      <a:srgbClr val="111C2D"/>
                    </a:solidFill>
                  </a:tcPr>
                </a:tc>
                <a:tc>
                  <a:txBody>
                    <a:bodyPr/>
                    <a:lstStyle/>
                    <a:p>
                      <a:pPr algn="ctr">
                        <a:defRPr sz="1120" b="1">
                          <a:solidFill>
                            <a:srgbClr val="FFFFFF"/>
                          </a:solidFill>
                          <a:latin typeface="Aptos"/>
                        </a:defRPr>
                      </a:pPr>
                      <a:r>
                        <a:t>Câu 9–15</a:t>
                      </a:r>
                    </a:p>
                  </a:txBody>
                  <a:tcPr>
                    <a:solidFill>
                      <a:srgbClr val="111C2D"/>
                    </a:solidFill>
                  </a:tcPr>
                </a:tc>
              </a:tr>
              <a:tr h="492760">
                <a:tc>
                  <a:txBody>
                    <a:bodyPr/>
                    <a:lstStyle/>
                    <a:p>
                      <a:pPr algn="ctr">
                        <a:defRPr sz="1070">
                          <a:solidFill>
                            <a:srgbClr val="1F2937"/>
                          </a:solidFill>
                          <a:latin typeface="Aptos"/>
                        </a:defRPr>
                      </a:pPr>
                      <a:r>
                        <a:t>1. 8 thành phần Persona Canvas?</a:t>
                      </a:r>
                    </a:p>
                  </a:txBody>
                  <a:tcPr marL="73152" marR="54864" marT="45720" marB="45720">
                    <a:solidFill>
                      <a:srgbClr val="FFFFFF"/>
                    </a:solidFill>
                  </a:tcPr>
                </a:tc>
                <a:tc>
                  <a:txBody>
                    <a:bodyPr/>
                    <a:lstStyle/>
                    <a:p>
                      <a:pPr algn="l">
                        <a:defRPr sz="1070">
                          <a:solidFill>
                            <a:srgbClr val="1F2937"/>
                          </a:solidFill>
                          <a:latin typeface="Aptos"/>
                        </a:defRPr>
                      </a:pPr>
                      <a:r>
                        <a:t>9. Brand Voice vs Tone?</a:t>
                      </a:r>
                    </a:p>
                  </a:txBody>
                  <a:tcPr marL="73152" marR="54864" marT="45720" marB="45720">
                    <a:solidFill>
                      <a:srgbClr val="FFFFFF"/>
                    </a:solidFill>
                  </a:tcPr>
                </a:tc>
              </a:tr>
              <a:tr h="492760">
                <a:tc>
                  <a:txBody>
                    <a:bodyPr/>
                    <a:lstStyle/>
                    <a:p>
                      <a:pPr algn="ctr">
                        <a:defRPr sz="1070">
                          <a:solidFill>
                            <a:srgbClr val="1F2937"/>
                          </a:solidFill>
                          <a:latin typeface="Aptos"/>
                        </a:defRPr>
                      </a:pPr>
                      <a:r>
                        <a:t>2. Vì sao không nên &gt;4–5 Persona?</a:t>
                      </a:r>
                    </a:p>
                  </a:txBody>
                  <a:tcPr marL="73152" marR="54864" marT="45720" marB="45720">
                    <a:solidFill>
                      <a:srgbClr val="F2F5F8"/>
                    </a:solidFill>
                  </a:tcPr>
                </a:tc>
                <a:tc>
                  <a:txBody>
                    <a:bodyPr/>
                    <a:lstStyle/>
                    <a:p>
                      <a:pPr algn="l">
                        <a:defRPr sz="1070">
                          <a:solidFill>
                            <a:srgbClr val="1F2937"/>
                          </a:solidFill>
                          <a:latin typeface="Aptos"/>
                        </a:defRPr>
                      </a:pPr>
                      <a:r>
                        <a:t>10. Newsjacking + rủi ro?</a:t>
                      </a:r>
                    </a:p>
                  </a:txBody>
                  <a:tcPr marL="73152" marR="54864" marT="45720" marB="45720">
                    <a:solidFill>
                      <a:srgbClr val="F2F5F8"/>
                    </a:solidFill>
                  </a:tcPr>
                </a:tc>
              </a:tr>
              <a:tr h="492760">
                <a:tc>
                  <a:txBody>
                    <a:bodyPr/>
                    <a:lstStyle/>
                    <a:p>
                      <a:pPr algn="ctr">
                        <a:defRPr sz="1070">
                          <a:solidFill>
                            <a:srgbClr val="1F2937"/>
                          </a:solidFill>
                          <a:latin typeface="Aptos"/>
                        </a:defRPr>
                      </a:pPr>
                      <a:r>
                        <a:t>3. Journey có mấy giai đoạn? Liên hệ 5A?</a:t>
                      </a:r>
                    </a:p>
                  </a:txBody>
                  <a:tcPr marL="73152" marR="54864" marT="45720" marB="45720">
                    <a:solidFill>
                      <a:srgbClr val="FFFFFF"/>
                    </a:solidFill>
                  </a:tcPr>
                </a:tc>
                <a:tc>
                  <a:txBody>
                    <a:bodyPr/>
                    <a:lstStyle/>
                    <a:p>
                      <a:pPr algn="l">
                        <a:defRPr sz="1070">
                          <a:solidFill>
                            <a:srgbClr val="1F2937"/>
                          </a:solidFill>
                          <a:latin typeface="Aptos"/>
                        </a:defRPr>
                      </a:pPr>
                      <a:r>
                        <a:t>11. Empathy Map 4 góc?</a:t>
                      </a:r>
                    </a:p>
                  </a:txBody>
                  <a:tcPr marL="73152" marR="54864" marT="45720" marB="45720">
                    <a:solidFill>
                      <a:srgbClr val="FFFFFF"/>
                    </a:solidFill>
                  </a:tcPr>
                </a:tc>
              </a:tr>
              <a:tr h="492760">
                <a:tc>
                  <a:txBody>
                    <a:bodyPr/>
                    <a:lstStyle/>
                    <a:p>
                      <a:pPr algn="ctr">
                        <a:defRPr sz="1070">
                          <a:solidFill>
                            <a:srgbClr val="1F2937"/>
                          </a:solidFill>
                          <a:latin typeface="Aptos"/>
                        </a:defRPr>
                      </a:pPr>
                      <a:r>
                        <a:t>4. Pillar vs Cluster?</a:t>
                      </a:r>
                    </a:p>
                  </a:txBody>
                  <a:tcPr marL="73152" marR="54864" marT="45720" marB="45720">
                    <a:solidFill>
                      <a:srgbClr val="F2F5F8"/>
                    </a:solidFill>
                  </a:tcPr>
                </a:tc>
                <a:tc>
                  <a:txBody>
                    <a:bodyPr/>
                    <a:lstStyle/>
                    <a:p>
                      <a:pPr algn="l">
                        <a:defRPr sz="1070">
                          <a:solidFill>
                            <a:srgbClr val="1F2937"/>
                          </a:solidFill>
                          <a:latin typeface="Aptos"/>
                        </a:defRPr>
                      </a:pPr>
                      <a:r>
                        <a:t>12. Cấu trúc câu JTBD?</a:t>
                      </a:r>
                    </a:p>
                  </a:txBody>
                  <a:tcPr marL="73152" marR="54864" marT="45720" marB="45720">
                    <a:solidFill>
                      <a:srgbClr val="F2F5F8"/>
                    </a:solidFill>
                  </a:tcPr>
                </a:tc>
              </a:tr>
              <a:tr h="492760">
                <a:tc>
                  <a:txBody>
                    <a:bodyPr/>
                    <a:lstStyle/>
                    <a:p>
                      <a:pPr algn="ctr">
                        <a:defRPr sz="1070">
                          <a:solidFill>
                            <a:srgbClr val="1F2937"/>
                          </a:solidFill>
                          <a:latin typeface="Aptos"/>
                        </a:defRPr>
                      </a:pPr>
                      <a:r>
                        <a:t>5. Ví dụ Pillar Page + vai trò SEO?</a:t>
                      </a:r>
                    </a:p>
                  </a:txBody>
                  <a:tcPr marL="73152" marR="54864" marT="45720" marB="45720">
                    <a:solidFill>
                      <a:srgbClr val="FFFFFF"/>
                    </a:solidFill>
                  </a:tcPr>
                </a:tc>
                <a:tc>
                  <a:txBody>
                    <a:bodyPr/>
                    <a:lstStyle/>
                    <a:p>
                      <a:pPr algn="l">
                        <a:defRPr sz="1070">
                          <a:solidFill>
                            <a:srgbClr val="1F2937"/>
                          </a:solidFill>
                          <a:latin typeface="Aptos"/>
                        </a:defRPr>
                      </a:pPr>
                      <a:r>
                        <a:t>13. “Mua lỗ khoan” liên quan JTBD?</a:t>
                      </a:r>
                    </a:p>
                  </a:txBody>
                  <a:tcPr marL="73152" marR="54864" marT="45720" marB="45720">
                    <a:solidFill>
                      <a:srgbClr val="FFFFFF"/>
                    </a:solidFill>
                  </a:tcPr>
                </a:tc>
              </a:tr>
              <a:tr h="492760">
                <a:tc>
                  <a:txBody>
                    <a:bodyPr/>
                    <a:lstStyle/>
                    <a:p>
                      <a:pPr algn="ctr">
                        <a:defRPr sz="1070">
                          <a:solidFill>
                            <a:srgbClr val="1F2937"/>
                          </a:solidFill>
                          <a:latin typeface="Aptos"/>
                        </a:defRPr>
                      </a:pPr>
                      <a:r>
                        <a:t>6. 3H + tỷ lệ ngân sách?</a:t>
                      </a:r>
                    </a:p>
                  </a:txBody>
                  <a:tcPr marL="73152" marR="54864" marT="45720" marB="45720">
                    <a:solidFill>
                      <a:srgbClr val="F2F5F8"/>
                    </a:solidFill>
                  </a:tcPr>
                </a:tc>
                <a:tc>
                  <a:txBody>
                    <a:bodyPr/>
                    <a:lstStyle/>
                    <a:p>
                      <a:pPr algn="l">
                        <a:defRPr sz="1070">
                          <a:solidFill>
                            <a:srgbClr val="1F2937"/>
                          </a:solidFill>
                          <a:latin typeface="Aptos"/>
                        </a:defRPr>
                      </a:pPr>
                      <a:r>
                        <a:t>14. JTBD của Pillar “không gian làm việc” Highlands?</a:t>
                      </a:r>
                    </a:p>
                  </a:txBody>
                  <a:tcPr marL="73152" marR="54864" marT="45720" marB="45720">
                    <a:solidFill>
                      <a:srgbClr val="F2F5F8"/>
                    </a:solidFill>
                  </a:tcPr>
                </a:tc>
              </a:tr>
              <a:tr h="492760">
                <a:tc>
                  <a:txBody>
                    <a:bodyPr/>
                    <a:lstStyle/>
                    <a:p>
                      <a:pPr algn="ctr">
                        <a:defRPr sz="1070">
                          <a:solidFill>
                            <a:srgbClr val="1F2937"/>
                          </a:solidFill>
                          <a:latin typeface="Aptos"/>
                        </a:defRPr>
                      </a:pPr>
                      <a:r>
                        <a:t>7. Calendar tối thiểu bao nhiêu cột? Kể 5.</a:t>
                      </a:r>
                    </a:p>
                  </a:txBody>
                  <a:tcPr marL="73152" marR="54864" marT="45720" marB="45720">
                    <a:solidFill>
                      <a:srgbClr val="FFFFFF"/>
                    </a:solidFill>
                  </a:tcPr>
                </a:tc>
                <a:tc>
                  <a:txBody>
                    <a:bodyPr/>
                    <a:lstStyle/>
                    <a:p>
                      <a:pPr algn="l">
                        <a:defRPr sz="1070">
                          <a:solidFill>
                            <a:srgbClr val="1F2937"/>
                          </a:solidFill>
                          <a:latin typeface="Aptos"/>
                        </a:defRPr>
                      </a:pPr>
                      <a:r>
                        <a:t>15. Khi nào dùng Persona / Empathy / JTBD?</a:t>
                      </a:r>
                    </a:p>
                  </a:txBody>
                  <a:tcPr marL="73152" marR="54864" marT="45720" marB="45720">
                    <a:solidFill>
                      <a:srgbClr val="FFFFFF"/>
                    </a:solidFill>
                  </a:tcPr>
                </a:tc>
              </a:tr>
              <a:tr h="492760">
                <a:tc>
                  <a:txBody>
                    <a:bodyPr/>
                    <a:lstStyle/>
                    <a:p>
                      <a:pPr algn="ctr">
                        <a:defRPr sz="1070">
                          <a:solidFill>
                            <a:srgbClr val="1F2937"/>
                          </a:solidFill>
                          <a:latin typeface="Aptos"/>
                        </a:defRPr>
                      </a:pPr>
                      <a:r>
                        <a:t>8. Brief khác Calendar thế nào?</a:t>
                      </a:r>
                    </a:p>
                  </a:txBody>
                  <a:tcPr marL="73152" marR="54864" marT="45720" marB="45720">
                    <a:solidFill>
                      <a:srgbClr val="F2F5F8"/>
                    </a:solidFill>
                  </a:tcPr>
                </a:tc>
                <a:tc>
                  <a:txBody>
                    <a:bodyPr/>
                    <a:lstStyle/>
                    <a:p>
                      <a:pPr algn="l">
                        <a:defRPr sz="1070">
                          <a:solidFill>
                            <a:srgbClr val="1F2937"/>
                          </a:solidFill>
                          <a:latin typeface="Aptos"/>
                        </a:defRPr>
                      </a:pPr>
                    </a:p>
                  </a:txBody>
                  <a:tcPr marL="73152" marR="54864" marT="45720" marB="45720">
                    <a:solidFill>
                      <a:srgbClr val="F2F5F8"/>
                    </a:solidFill>
                  </a:tcPr>
                </a:tc>
              </a:tr>
            </a:tbl>
          </a:graphicData>
        </a:graphic>
      </p:graphicFrame>
      <p:sp>
        <p:nvSpPr>
          <p:cNvPr id="8" name="TextBox 7"/>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WORKED EXAMPLE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49</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Xanh Garden — áp dụng trọn Module 2</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Từ Persona → JTBD → Pillar → Calendar.</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011680"/>
            <a:ext cx="2743200" cy="3749039"/>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73152" cy="3749039"/>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67128"/>
            <a:ext cx="2377440" cy="411480"/>
          </a:xfrm>
          <a:prstGeom prst="rect">
            <a:avLst/>
          </a:prstGeom>
          <a:noFill/>
        </p:spPr>
        <p:txBody>
          <a:bodyPr wrap="none">
            <a:spAutoFit/>
          </a:bodyPr>
          <a:lstStyle/>
          <a:p>
            <a:pPr>
              <a:defRPr sz="1700" b="1">
                <a:solidFill>
                  <a:srgbClr val="111C2D"/>
                </a:solidFill>
                <a:latin typeface="Aptos Display"/>
              </a:defRPr>
            </a:pPr>
            <a:r>
              <a:t>PERSONA</a:t>
            </a:r>
          </a:p>
        </p:txBody>
      </p:sp>
      <p:sp>
        <p:nvSpPr>
          <p:cNvPr id="10" name="TextBox 9"/>
          <p:cNvSpPr txBox="1"/>
          <p:nvPr/>
        </p:nvSpPr>
        <p:spPr>
          <a:xfrm>
            <a:off x="749808" y="2624328"/>
            <a:ext cx="2359152" cy="2999232"/>
          </a:xfrm>
          <a:prstGeom prst="rect">
            <a:avLst/>
          </a:prstGeom>
          <a:noFill/>
        </p:spPr>
        <p:txBody>
          <a:bodyPr wrap="square">
            <a:spAutoFit/>
          </a:bodyPr>
          <a:lstStyle/>
          <a:p>
            <a:pPr>
              <a:defRPr sz="1350">
                <a:solidFill>
                  <a:srgbClr val="1F2937"/>
                </a:solidFill>
                <a:latin typeface="Aptos"/>
              </a:defRPr>
            </a:pPr>
            <a:r>
              <a:t>Chị Lan — mẹ bỉm quan tâm sức khỏe.</a:t>
            </a:r>
            <a:br/>
            <a:r>
              <a:t>28–40, có con nhỏ, thu nhập khá.</a:t>
            </a:r>
            <a:br/>
            <a:r>
              <a:t>Goal: an toàn + tiết kiệm thời gian.</a:t>
            </a:r>
            <a:br/>
            <a:r>
              <a:t>Pain: sợ rau không rõ nguồn gốc.</a:t>
            </a:r>
            <a:br/>
            <a:r>
              <a:t>Kênh: FB Group, Zalo OA.</a:t>
            </a:r>
          </a:p>
        </p:txBody>
      </p:sp>
      <p:sp>
        <p:nvSpPr>
          <p:cNvPr id="11" name="Rounded Rectangle 10"/>
          <p:cNvSpPr/>
          <p:nvPr/>
        </p:nvSpPr>
        <p:spPr>
          <a:xfrm>
            <a:off x="3520440" y="2011680"/>
            <a:ext cx="2743200" cy="3749039"/>
          </a:xfrm>
          <a:prstGeom prst="roundRect">
            <a:avLst/>
          </a:prstGeom>
          <a:solidFill>
            <a:srgbClr val="EFEB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0440" y="2011680"/>
            <a:ext cx="73152" cy="3749039"/>
          </a:xfrm>
          <a:prstGeom prst="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1608" y="2167128"/>
            <a:ext cx="2377440" cy="411480"/>
          </a:xfrm>
          <a:prstGeom prst="rect">
            <a:avLst/>
          </a:prstGeom>
          <a:noFill/>
        </p:spPr>
        <p:txBody>
          <a:bodyPr wrap="none">
            <a:spAutoFit/>
          </a:bodyPr>
          <a:lstStyle/>
          <a:p>
            <a:pPr>
              <a:defRPr sz="1700" b="1">
                <a:solidFill>
                  <a:srgbClr val="111C2D"/>
                </a:solidFill>
                <a:latin typeface="Aptos Display"/>
              </a:defRPr>
            </a:pPr>
            <a:r>
              <a:t>JTBD</a:t>
            </a:r>
          </a:p>
        </p:txBody>
      </p:sp>
      <p:sp>
        <p:nvSpPr>
          <p:cNvPr id="14" name="TextBox 13"/>
          <p:cNvSpPr txBox="1"/>
          <p:nvPr/>
        </p:nvSpPr>
        <p:spPr>
          <a:xfrm>
            <a:off x="3721608" y="2624328"/>
            <a:ext cx="2359152" cy="2999232"/>
          </a:xfrm>
          <a:prstGeom prst="rect">
            <a:avLst/>
          </a:prstGeom>
          <a:noFill/>
        </p:spPr>
        <p:txBody>
          <a:bodyPr wrap="square">
            <a:spAutoFit/>
          </a:bodyPr>
          <a:lstStyle/>
          <a:p>
            <a:pPr>
              <a:defRPr sz="1350">
                <a:solidFill>
                  <a:srgbClr val="1F2937"/>
                </a:solidFill>
                <a:latin typeface="Aptos"/>
              </a:defRPr>
            </a:pPr>
            <a:r>
              <a:t>Khi chuẩn bị bữa ăn cho con,</a:t>
            </a:r>
            <a:br/>
            <a:r>
              <a:t>muốn chắc chắn rau an toàn mà không mất thời gian đi chợ,</a:t>
            </a:r>
            <a:br/>
            <a:r>
              <a:t>để yên tâm và có thêm thời gian chăm con.</a:t>
            </a:r>
          </a:p>
        </p:txBody>
      </p:sp>
      <p:sp>
        <p:nvSpPr>
          <p:cNvPr id="15" name="Rounded Rectangle 14"/>
          <p:cNvSpPr/>
          <p:nvPr/>
        </p:nvSpPr>
        <p:spPr>
          <a:xfrm>
            <a:off x="6492240" y="2011680"/>
            <a:ext cx="2423160" cy="3749039"/>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2011680"/>
            <a:ext cx="73152" cy="3749039"/>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93407" y="2167128"/>
            <a:ext cx="2057400" cy="411480"/>
          </a:xfrm>
          <a:prstGeom prst="rect">
            <a:avLst/>
          </a:prstGeom>
          <a:noFill/>
        </p:spPr>
        <p:txBody>
          <a:bodyPr wrap="none">
            <a:spAutoFit/>
          </a:bodyPr>
          <a:lstStyle/>
          <a:p>
            <a:pPr>
              <a:defRPr sz="1700" b="1">
                <a:solidFill>
                  <a:srgbClr val="111C2D"/>
                </a:solidFill>
                <a:latin typeface="Aptos Display"/>
              </a:defRPr>
            </a:pPr>
            <a:r>
              <a:t>3 PILLAR</a:t>
            </a:r>
          </a:p>
        </p:txBody>
      </p:sp>
      <p:sp>
        <p:nvSpPr>
          <p:cNvPr id="18" name="TextBox 17"/>
          <p:cNvSpPr txBox="1"/>
          <p:nvPr/>
        </p:nvSpPr>
        <p:spPr>
          <a:xfrm>
            <a:off x="6693407" y="2624328"/>
            <a:ext cx="2039112" cy="2999232"/>
          </a:xfrm>
          <a:prstGeom prst="rect">
            <a:avLst/>
          </a:prstGeom>
          <a:noFill/>
        </p:spPr>
        <p:txBody>
          <a:bodyPr wrap="square">
            <a:spAutoFit/>
          </a:bodyPr>
          <a:lstStyle/>
          <a:p>
            <a:pPr>
              <a:defRPr sz="1350">
                <a:solidFill>
                  <a:srgbClr val="1F2937"/>
                </a:solidFill>
                <a:latin typeface="Aptos"/>
              </a:defRPr>
            </a:pPr>
            <a:r>
              <a:t>1. An toàn thực phẩm</a:t>
            </a:r>
            <a:br/>
            <a:r>
              <a:t>2. Mẹo nấu ăn nhanh</a:t>
            </a:r>
            <a:br/>
            <a:r>
              <a:t>3. Câu chuyện nông trại</a:t>
            </a:r>
          </a:p>
        </p:txBody>
      </p:sp>
      <p:sp>
        <p:nvSpPr>
          <p:cNvPr id="19" name="Rounded Rectangle 18"/>
          <p:cNvSpPr/>
          <p:nvPr/>
        </p:nvSpPr>
        <p:spPr>
          <a:xfrm>
            <a:off x="9144000" y="2011680"/>
            <a:ext cx="2423160" cy="3749039"/>
          </a:xfrm>
          <a:prstGeom prst="roundRect">
            <a:avLst/>
          </a:prstGeom>
          <a:solidFill>
            <a:srgbClr val="FCEFE0"/>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2011680"/>
            <a:ext cx="73152" cy="3749039"/>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45168" y="2167128"/>
            <a:ext cx="2057400" cy="411480"/>
          </a:xfrm>
          <a:prstGeom prst="rect">
            <a:avLst/>
          </a:prstGeom>
          <a:noFill/>
        </p:spPr>
        <p:txBody>
          <a:bodyPr wrap="none">
            <a:spAutoFit/>
          </a:bodyPr>
          <a:lstStyle/>
          <a:p>
            <a:pPr>
              <a:defRPr sz="1700" b="1">
                <a:solidFill>
                  <a:srgbClr val="111C2D"/>
                </a:solidFill>
                <a:latin typeface="Aptos Display"/>
              </a:defRPr>
            </a:pPr>
            <a:r>
              <a:t>TUẦN 1</a:t>
            </a:r>
          </a:p>
        </p:txBody>
      </p:sp>
      <p:sp>
        <p:nvSpPr>
          <p:cNvPr id="22" name="TextBox 21"/>
          <p:cNvSpPr txBox="1"/>
          <p:nvPr/>
        </p:nvSpPr>
        <p:spPr>
          <a:xfrm>
            <a:off x="9345168" y="2624328"/>
            <a:ext cx="2039112" cy="2999232"/>
          </a:xfrm>
          <a:prstGeom prst="rect">
            <a:avLst/>
          </a:prstGeom>
          <a:noFill/>
        </p:spPr>
        <p:txBody>
          <a:bodyPr wrap="square">
            <a:spAutoFit/>
          </a:bodyPr>
          <a:lstStyle/>
          <a:p>
            <a:pPr>
              <a:defRPr sz="1270">
                <a:solidFill>
                  <a:srgbClr val="1F2937"/>
                </a:solidFill>
                <a:latin typeface="Aptos"/>
              </a:defRPr>
            </a:pPr>
            <a:r>
              <a:t>T2 FB: 3 dấu hiệu rau ngậm hóa chất — Hygiene</a:t>
            </a:r>
            <a:br/>
            <a:r>
              <a:t>T4 Zalo: thực đơn 15 phút — Hub</a:t>
            </a:r>
            <a:br/>
            <a:r>
              <a:t>T6 FB: video nông trại — Hub</a:t>
            </a:r>
          </a:p>
        </p:txBody>
      </p:sp>
      <p:sp>
        <p:nvSpPr>
          <p:cNvPr id="23" name="TextBox 22"/>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MODULE 2 • QUICK REFERENCE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50</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Flashcard Module 2</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6 công thức dùng khi bắt tay vào làm.</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240280"/>
            <a:ext cx="1691639" cy="137160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PERSONA</a:t>
            </a:r>
            <a:br/>
            <a:r>
              <a:t>8 THÀNH PHẦN</a:t>
            </a:r>
          </a:p>
        </p:txBody>
      </p:sp>
      <p:sp>
        <p:nvSpPr>
          <p:cNvPr id="8" name="Rounded Rectangle 7"/>
          <p:cNvSpPr/>
          <p:nvPr/>
        </p:nvSpPr>
        <p:spPr>
          <a:xfrm>
            <a:off x="2532887" y="2240280"/>
            <a:ext cx="1691639" cy="137160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JOURNEY</a:t>
            </a:r>
            <a:br/>
            <a:r>
              <a:t>5 GIAI ĐOẠN</a:t>
            </a:r>
          </a:p>
        </p:txBody>
      </p:sp>
      <p:sp>
        <p:nvSpPr>
          <p:cNvPr id="9" name="Rounded Rectangle 8"/>
          <p:cNvSpPr/>
          <p:nvPr/>
        </p:nvSpPr>
        <p:spPr>
          <a:xfrm>
            <a:off x="4334255" y="2240280"/>
            <a:ext cx="1691639" cy="137160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PILLAR →</a:t>
            </a:r>
            <a:br/>
            <a:r>
              <a:t>CLUSTER</a:t>
            </a:r>
          </a:p>
        </p:txBody>
      </p:sp>
      <p:sp>
        <p:nvSpPr>
          <p:cNvPr id="10" name="Rounded Rectangle 9"/>
          <p:cNvSpPr/>
          <p:nvPr/>
        </p:nvSpPr>
        <p:spPr>
          <a:xfrm>
            <a:off x="6135623" y="2240280"/>
            <a:ext cx="1691639" cy="137160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3H</a:t>
            </a:r>
            <a:br/>
            <a:r>
              <a:t>HERO/HUB/HYGIENE</a:t>
            </a:r>
          </a:p>
        </p:txBody>
      </p:sp>
      <p:sp>
        <p:nvSpPr>
          <p:cNvPr id="11" name="Rounded Rectangle 10"/>
          <p:cNvSpPr/>
          <p:nvPr/>
        </p:nvSpPr>
        <p:spPr>
          <a:xfrm>
            <a:off x="7936992" y="2240280"/>
            <a:ext cx="1691639" cy="1371600"/>
          </a:xfrm>
          <a:prstGeom prst="roundRect">
            <a:avLst/>
          </a:prstGeom>
          <a:solidFill>
            <a:srgbClr val="389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JTBD</a:t>
            </a:r>
            <a:br/>
            <a:r>
              <a:t>TÌNH HUỐNG→ĐỘNG LỰC→KẾT QUẢ</a:t>
            </a:r>
          </a:p>
        </p:txBody>
      </p:sp>
      <p:sp>
        <p:nvSpPr>
          <p:cNvPr id="12" name="Rounded Rectangle 11"/>
          <p:cNvSpPr/>
          <p:nvPr/>
        </p:nvSpPr>
        <p:spPr>
          <a:xfrm>
            <a:off x="9738359" y="2240280"/>
            <a:ext cx="1691639" cy="137160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EMPATHY</a:t>
            </a:r>
            <a:br/>
            <a:r>
              <a:t>SAY/THINK/DO/FEEL</a:t>
            </a:r>
          </a:p>
        </p:txBody>
      </p:sp>
      <p:sp>
        <p:nvSpPr>
          <p:cNvPr id="13" name="TextBox 12"/>
          <p:cNvSpPr txBox="1"/>
          <p:nvPr/>
        </p:nvSpPr>
        <p:spPr>
          <a:xfrm>
            <a:off x="777240" y="3977639"/>
            <a:ext cx="10607040" cy="1828800"/>
          </a:xfrm>
          <a:prstGeom prst="rect">
            <a:avLst/>
          </a:prstGeom>
          <a:noFill/>
        </p:spPr>
        <p:txBody>
          <a:bodyPr wrap="square" lIns="0" rIns="0">
            <a:spAutoFit/>
          </a:bodyPr>
          <a:lstStyle/>
          <a:p>
            <a:pPr>
              <a:spcAft>
                <a:spcPts val="700"/>
              </a:spcAft>
              <a:defRPr sz="1370">
                <a:solidFill>
                  <a:srgbClr val="1F2937"/>
                </a:solidFill>
                <a:latin typeface="Aptos"/>
              </a:defRPr>
            </a:pPr>
            <a:r>
              <a:t>• Persona: Nhân khẩu học – Goals – Pain – Hành vi – Kênh – Objections – Quote – Tên/Ảnh.</a:t>
            </a:r>
          </a:p>
          <a:p>
            <a:pPr>
              <a:spcAft>
                <a:spcPts val="700"/>
              </a:spcAft>
              <a:defRPr sz="1370">
                <a:solidFill>
                  <a:srgbClr val="1F2937"/>
                </a:solidFill>
                <a:latin typeface="Aptos"/>
              </a:defRPr>
            </a:pPr>
            <a:r>
              <a:t>• Journey: Awareness → Consideration → Decision → Purchase → Retention.</a:t>
            </a:r>
          </a:p>
          <a:p>
            <a:pPr>
              <a:spcAft>
                <a:spcPts val="700"/>
              </a:spcAft>
              <a:defRPr sz="1370">
                <a:solidFill>
                  <a:srgbClr val="1F2937"/>
                </a:solidFill>
                <a:latin typeface="Aptos"/>
              </a:defRPr>
            </a:pPr>
            <a:r>
              <a:t>• Pillar = chủ đề lớn; Cluster = nội dung con liên kết nội bộ.</a:t>
            </a:r>
          </a:p>
          <a:p>
            <a:pPr>
              <a:spcAft>
                <a:spcPts val="700"/>
              </a:spcAft>
              <a:defRPr sz="1370">
                <a:solidFill>
                  <a:srgbClr val="1F2937"/>
                </a:solidFill>
                <a:latin typeface="Aptos"/>
              </a:defRPr>
            </a:pPr>
            <a:r>
              <a:t>• 3H: Hero hiếm; Hub định kỳ; Hygiene liên tục.</a:t>
            </a:r>
          </a:p>
          <a:p>
            <a:pPr>
              <a:spcAft>
                <a:spcPts val="700"/>
              </a:spcAft>
              <a:defRPr sz="1370">
                <a:solidFill>
                  <a:srgbClr val="1F2937"/>
                </a:solidFill>
                <a:latin typeface="Aptos"/>
              </a:defRPr>
            </a:pPr>
            <a:r>
              <a:t>• JTBD: Khi [tình huống], tôi muốn [động lực], để tôi có thể [kết quả].</a:t>
            </a:r>
          </a:p>
          <a:p>
            <a:pPr>
              <a:spcAft>
                <a:spcPts val="700"/>
              </a:spcAft>
              <a:defRPr sz="1370">
                <a:solidFill>
                  <a:srgbClr val="1F2937"/>
                </a:solidFill>
                <a:latin typeface="Aptos"/>
              </a:defRPr>
            </a:pPr>
            <a:r>
              <a:t>• Empathy: Say – Think – Do – Feel.</a:t>
            </a:r>
          </a:p>
        </p:txBody>
      </p:sp>
      <p:sp>
        <p:nvSpPr>
          <p:cNvPr id="14" name="TextBox 13"/>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Content Marketing • Buổi học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11C2D"/>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139491"/>
                </a:solidFill>
                <a:latin typeface="Aptos"/>
              </a:defRPr>
            </a:pPr>
            <a:r>
              <a:t>TỔNG KẾT • HAI MODULE</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BEC8D2"/>
                </a:solidFill>
                <a:latin typeface="Aptos"/>
              </a:defRPr>
            </a:pPr>
            <a:r>
              <a:t>51</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FFFFFF"/>
                </a:solidFill>
                <a:latin typeface="Aptos Display"/>
              </a:defRPr>
            </a:pPr>
            <a:r>
              <a:t>Toàn bộ khóa bắt đầu từ một chuỗi tư duy</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CDD7E1"/>
                </a:solidFill>
                <a:latin typeface="Aptos"/>
              </a:defRPr>
            </a:pPr>
            <a:r>
              <a:t>Đừng bắt đầu bằng “hôm nay đăng gì?”</a:t>
            </a:r>
          </a:p>
        </p:txBody>
      </p:sp>
      <p:sp>
        <p:nvSpPr>
          <p:cNvPr id="6" name="Rectangle 5"/>
          <p:cNvSpPr/>
          <p:nvPr/>
        </p:nvSpPr>
        <p:spPr>
          <a:xfrm>
            <a:off x="594360" y="1792224"/>
            <a:ext cx="1051560" cy="64008"/>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2240280"/>
            <a:ext cx="1499616" cy="1234440"/>
          </a:xfrm>
          <a:prstGeom prst="round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USP</a:t>
            </a:r>
          </a:p>
        </p:txBody>
      </p:sp>
      <p:sp>
        <p:nvSpPr>
          <p:cNvPr id="8" name="Rounded Rectangle 7"/>
          <p:cNvSpPr/>
          <p:nvPr/>
        </p:nvSpPr>
        <p:spPr>
          <a:xfrm>
            <a:off x="2112263" y="2240280"/>
            <a:ext cx="1499616" cy="1234440"/>
          </a:xfrm>
          <a:prstGeom prst="round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PERSONA</a:t>
            </a:r>
          </a:p>
        </p:txBody>
      </p:sp>
      <p:sp>
        <p:nvSpPr>
          <p:cNvPr id="9" name="Rounded Rectangle 8"/>
          <p:cNvSpPr/>
          <p:nvPr/>
        </p:nvSpPr>
        <p:spPr>
          <a:xfrm>
            <a:off x="3721607" y="2240280"/>
            <a:ext cx="1499616" cy="1234440"/>
          </a:xfrm>
          <a:prstGeom prst="roundRect">
            <a:avLst/>
          </a:prstGeom>
          <a:solidFill>
            <a:srgbClr val="795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JOURNEY</a:t>
            </a:r>
          </a:p>
        </p:txBody>
      </p:sp>
      <p:sp>
        <p:nvSpPr>
          <p:cNvPr id="10" name="Rounded Rectangle 9"/>
          <p:cNvSpPr/>
          <p:nvPr/>
        </p:nvSpPr>
        <p:spPr>
          <a:xfrm>
            <a:off x="5330951" y="2240280"/>
            <a:ext cx="1499616" cy="1234440"/>
          </a:xfrm>
          <a:prstGeom prst="round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PILLAR</a:t>
            </a:r>
          </a:p>
        </p:txBody>
      </p:sp>
      <p:sp>
        <p:nvSpPr>
          <p:cNvPr id="11" name="Rounded Rectangle 10"/>
          <p:cNvSpPr/>
          <p:nvPr/>
        </p:nvSpPr>
        <p:spPr>
          <a:xfrm>
            <a:off x="6940295" y="2240280"/>
            <a:ext cx="1499616" cy="1234440"/>
          </a:xfrm>
          <a:prstGeom prst="roundRect">
            <a:avLst/>
          </a:prstGeom>
          <a:solidFill>
            <a:srgbClr val="389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3H</a:t>
            </a:r>
          </a:p>
        </p:txBody>
      </p:sp>
      <p:sp>
        <p:nvSpPr>
          <p:cNvPr id="12" name="Rounded Rectangle 11"/>
          <p:cNvSpPr/>
          <p:nvPr/>
        </p:nvSpPr>
        <p:spPr>
          <a:xfrm>
            <a:off x="8549640" y="2240280"/>
            <a:ext cx="1499616" cy="1234440"/>
          </a:xfrm>
          <a:prstGeom prst="round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CALENDAR</a:t>
            </a:r>
          </a:p>
        </p:txBody>
      </p:sp>
      <p:sp>
        <p:nvSpPr>
          <p:cNvPr id="13" name="Rounded Rectangle 12"/>
          <p:cNvSpPr/>
          <p:nvPr/>
        </p:nvSpPr>
        <p:spPr>
          <a:xfrm>
            <a:off x="10158984" y="2240280"/>
            <a:ext cx="1499616" cy="1234440"/>
          </a:xfrm>
          <a:prstGeom prst="roundRect">
            <a:avLst/>
          </a:prstGeom>
          <a:solidFill>
            <a:srgbClr val="C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BRIEF</a:t>
            </a:r>
          </a:p>
        </p:txBody>
      </p:sp>
      <p:sp>
        <p:nvSpPr>
          <p:cNvPr id="14" name="Rounded Rectangle 13"/>
          <p:cNvSpPr/>
          <p:nvPr/>
        </p:nvSpPr>
        <p:spPr>
          <a:xfrm>
            <a:off x="914400" y="4160520"/>
            <a:ext cx="10332720" cy="1325880"/>
          </a:xfrm>
          <a:prstGeom prst="roundRect">
            <a:avLst/>
          </a:prstGeom>
          <a:solidFill>
            <a:srgbClr val="FFFFFF"/>
          </a:solidFill>
          <a:ln w="19050">
            <a:solidFill>
              <a:srgbClr val="139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4434840"/>
            <a:ext cx="9601200" cy="777240"/>
          </a:xfrm>
          <a:prstGeom prst="rect">
            <a:avLst/>
          </a:prstGeom>
          <a:noFill/>
        </p:spPr>
        <p:txBody>
          <a:bodyPr wrap="square">
            <a:spAutoFit/>
          </a:bodyPr>
          <a:lstStyle/>
          <a:p>
            <a:pPr>
              <a:defRPr sz="2000" i="1">
                <a:solidFill>
                  <a:srgbClr val="1F2937"/>
                </a:solidFill>
                <a:latin typeface="Aptos"/>
              </a:defRPr>
            </a:pPr>
            <a:r>
              <a:t>“Hiểu đúng thương hiệu → hiểu đúng người → đặt đúng content ở đúng thời điểm → vận hành thành hệ thống.”</a:t>
            </a:r>
          </a:p>
        </p:txBody>
      </p:sp>
      <p:sp>
        <p:nvSpPr>
          <p:cNvPr id="16" name="TextBox 15"/>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Mục tiêu buổi đầu: học viên rời lớp với một tư duy hệ thống, không chỉ một danh sách thuật ngữ.</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EC892D"/>
                </a:solidFill>
                <a:latin typeface="Aptos"/>
              </a:defRPr>
            </a:pPr>
            <a:r>
              <a:t>CHUẨN BỊ SANG MODULE 3</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52</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Checklist sẵn sàng</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Nếu chưa chắc ở 2 mục trở lên, nên ôn lại trước khi đi tiếp.</a:t>
            </a:r>
          </a:p>
        </p:txBody>
      </p:sp>
      <p:sp>
        <p:nvSpPr>
          <p:cNvPr id="6" name="Rectangle 5"/>
          <p:cNvSpPr/>
          <p:nvPr/>
        </p:nvSpPr>
        <p:spPr>
          <a:xfrm>
            <a:off x="594360" y="1792224"/>
            <a:ext cx="1051560" cy="64008"/>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73152" cy="3886200"/>
          </a:xfrm>
          <a:prstGeom prst="rect">
            <a:avLst/>
          </a:prstGeom>
          <a:solidFill>
            <a:srgbClr val="EC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12848"/>
            <a:ext cx="4983479" cy="411480"/>
          </a:xfrm>
          <a:prstGeom prst="rect">
            <a:avLst/>
          </a:prstGeom>
          <a:noFill/>
        </p:spPr>
        <p:txBody>
          <a:bodyPr wrap="none">
            <a:spAutoFit/>
          </a:bodyPr>
          <a:lstStyle/>
          <a:p>
            <a:pPr>
              <a:defRPr sz="1700" b="1">
                <a:solidFill>
                  <a:srgbClr val="111C2D"/>
                </a:solidFill>
                <a:latin typeface="Aptos Display"/>
              </a:defRPr>
            </a:pPr>
            <a:r>
              <a:t>MODULE 1 — ĐÃ SẴN SÀNG?</a:t>
            </a:r>
          </a:p>
        </p:txBody>
      </p:sp>
      <p:sp>
        <p:nvSpPr>
          <p:cNvPr id="10" name="TextBox 9"/>
          <p:cNvSpPr txBox="1"/>
          <p:nvPr/>
        </p:nvSpPr>
        <p:spPr>
          <a:xfrm>
            <a:off x="841247"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Giải thích Content Marketing trong 2 câu.</a:t>
            </a:r>
          </a:p>
          <a:p>
            <a:pPr>
              <a:spcAft>
                <a:spcPts val="400"/>
              </a:spcAft>
              <a:defRPr sz="1420">
                <a:solidFill>
                  <a:srgbClr val="1F2937"/>
                </a:solidFill>
                <a:latin typeface="Aptos"/>
              </a:defRPr>
            </a:pPr>
            <a:r>
              <a:t>• Phân biệt ít nhất 1 ví dụ Content vs Advertising.</a:t>
            </a:r>
          </a:p>
          <a:p>
            <a:pPr>
              <a:spcAft>
                <a:spcPts val="400"/>
              </a:spcAft>
              <a:defRPr sz="1420">
                <a:solidFill>
                  <a:srgbClr val="1F2937"/>
                </a:solidFill>
                <a:latin typeface="Aptos"/>
              </a:defRPr>
            </a:pPr>
            <a:r>
              <a:t>• Xác định USP có căn cứ.</a:t>
            </a:r>
          </a:p>
          <a:p>
            <a:pPr>
              <a:spcAft>
                <a:spcPts val="400"/>
              </a:spcAft>
              <a:defRPr sz="1420">
                <a:solidFill>
                  <a:srgbClr val="1F2937"/>
                </a:solidFill>
                <a:latin typeface="Aptos"/>
              </a:defRPr>
            </a:pPr>
            <a:r>
              <a:t>• Hiểu: nhiều like ≠ content hiệu quả.</a:t>
            </a:r>
          </a:p>
          <a:p>
            <a:pPr>
              <a:spcAft>
                <a:spcPts val="400"/>
              </a:spcAft>
              <a:defRPr sz="1420">
                <a:solidFill>
                  <a:srgbClr val="1F2937"/>
                </a:solidFill>
                <a:latin typeface="Aptos"/>
              </a:defRPr>
            </a:pPr>
            <a:r>
              <a:t>• Xác định khách hàng đang ở giai đoạn 5A nào.</a:t>
            </a:r>
          </a:p>
          <a:p>
            <a:pPr>
              <a:spcAft>
                <a:spcPts val="400"/>
              </a:spcAft>
              <a:defRPr sz="1420">
                <a:solidFill>
                  <a:srgbClr val="1F2937"/>
                </a:solidFill>
                <a:latin typeface="Aptos"/>
              </a:defRPr>
            </a:pPr>
            <a:r>
              <a:t>• Đã thu thập ≥10 comment/review.</a:t>
            </a:r>
          </a:p>
        </p:txBody>
      </p:sp>
      <p:sp>
        <p:nvSpPr>
          <p:cNvPr id="11" name="Rounded Rectangle 10"/>
          <p:cNvSpPr/>
          <p:nvPr/>
        </p:nvSpPr>
        <p:spPr>
          <a:xfrm>
            <a:off x="6199632" y="2057400"/>
            <a:ext cx="5349240" cy="3886200"/>
          </a:xfrm>
          <a:prstGeom prst="roundRect">
            <a:avLst/>
          </a:prstGeom>
          <a:solidFill>
            <a:srgbClr val="FFFFFF"/>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057400"/>
            <a:ext cx="73152" cy="388620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12848"/>
            <a:ext cx="4983479" cy="411480"/>
          </a:xfrm>
          <a:prstGeom prst="rect">
            <a:avLst/>
          </a:prstGeom>
          <a:noFill/>
        </p:spPr>
        <p:txBody>
          <a:bodyPr wrap="none">
            <a:spAutoFit/>
          </a:bodyPr>
          <a:lstStyle/>
          <a:p>
            <a:pPr>
              <a:defRPr sz="1700" b="1">
                <a:solidFill>
                  <a:srgbClr val="111C2D"/>
                </a:solidFill>
                <a:latin typeface="Aptos Display"/>
              </a:defRPr>
            </a:pPr>
            <a:r>
              <a:t>MODULE 2 — ĐÃ SẴN SÀNG?</a:t>
            </a:r>
          </a:p>
        </p:txBody>
      </p:sp>
      <p:sp>
        <p:nvSpPr>
          <p:cNvPr id="14" name="TextBox 13"/>
          <p:cNvSpPr txBox="1"/>
          <p:nvPr/>
        </p:nvSpPr>
        <p:spPr>
          <a:xfrm>
            <a:off x="6400800" y="2670048"/>
            <a:ext cx="4965192" cy="3136392"/>
          </a:xfrm>
          <a:prstGeom prst="rect">
            <a:avLst/>
          </a:prstGeom>
          <a:noFill/>
        </p:spPr>
        <p:txBody>
          <a:bodyPr wrap="square">
            <a:spAutoFit/>
          </a:bodyPr>
          <a:lstStyle/>
          <a:p>
            <a:pPr>
              <a:spcAft>
                <a:spcPts val="400"/>
              </a:spcAft>
              <a:defRPr sz="1420">
                <a:solidFill>
                  <a:srgbClr val="1F2937"/>
                </a:solidFill>
                <a:latin typeface="Aptos"/>
              </a:defRPr>
            </a:pPr>
            <a:r>
              <a:t>• ≥2 Persona, đủ 8 thành phần, có dữ liệu.</a:t>
            </a:r>
          </a:p>
          <a:p>
            <a:pPr>
              <a:spcAft>
                <a:spcPts val="400"/>
              </a:spcAft>
              <a:defRPr sz="1420">
                <a:solidFill>
                  <a:srgbClr val="1F2937"/>
                </a:solidFill>
                <a:latin typeface="Aptos"/>
              </a:defRPr>
            </a:pPr>
            <a:r>
              <a:t>• Journey 5 giai đoạn + content.</a:t>
            </a:r>
          </a:p>
          <a:p>
            <a:pPr>
              <a:spcAft>
                <a:spcPts val="400"/>
              </a:spcAft>
              <a:defRPr sz="1420">
                <a:solidFill>
                  <a:srgbClr val="1F2937"/>
                </a:solidFill>
                <a:latin typeface="Aptos"/>
              </a:defRPr>
            </a:pPr>
            <a:r>
              <a:t>• ≥3 Pillar × 5 Cluster.</a:t>
            </a:r>
          </a:p>
          <a:p>
            <a:pPr>
              <a:spcAft>
                <a:spcPts val="400"/>
              </a:spcAft>
              <a:defRPr sz="1420">
                <a:solidFill>
                  <a:srgbClr val="1F2937"/>
                </a:solidFill>
                <a:latin typeface="Aptos"/>
              </a:defRPr>
            </a:pPr>
            <a:r>
              <a:t>• Áp dụng 3H.</a:t>
            </a:r>
          </a:p>
          <a:p>
            <a:pPr>
              <a:spcAft>
                <a:spcPts val="400"/>
              </a:spcAft>
              <a:defRPr sz="1420">
                <a:solidFill>
                  <a:srgbClr val="1F2937"/>
                </a:solidFill>
                <a:latin typeface="Aptos"/>
              </a:defRPr>
            </a:pPr>
            <a:r>
              <a:t>• Calendar 1 tháng, ≥2 kênh.</a:t>
            </a:r>
          </a:p>
          <a:p>
            <a:pPr>
              <a:spcAft>
                <a:spcPts val="400"/>
              </a:spcAft>
              <a:defRPr sz="1420">
                <a:solidFill>
                  <a:srgbClr val="1F2937"/>
                </a:solidFill>
                <a:latin typeface="Aptos"/>
              </a:defRPr>
            </a:pPr>
            <a:r>
              <a:t>• Phân biệt Persona / Empathy / JTBD.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8961120" cy="320040"/>
          </a:xfrm>
          <a:prstGeom prst="rect">
            <a:avLst/>
          </a:prstGeom>
          <a:noFill/>
        </p:spPr>
        <p:txBody>
          <a:bodyPr wrap="none">
            <a:spAutoFit/>
          </a:bodyPr>
          <a:lstStyle/>
          <a:p>
            <a:pPr>
              <a:defRPr sz="1000" b="1">
                <a:solidFill>
                  <a:srgbClr val="5B6878"/>
                </a:solidFill>
                <a:latin typeface="Aptos"/>
              </a:defRPr>
            </a:pPr>
            <a:r>
              <a:t>NGUỒN NỘI DUNG</a:t>
            </a:r>
          </a:p>
        </p:txBody>
      </p:sp>
      <p:sp>
        <p:nvSpPr>
          <p:cNvPr id="3" name="TextBox 2"/>
          <p:cNvSpPr txBox="1"/>
          <p:nvPr/>
        </p:nvSpPr>
        <p:spPr>
          <a:xfrm>
            <a:off x="11201400" y="246888"/>
            <a:ext cx="411480" cy="274320"/>
          </a:xfrm>
          <a:prstGeom prst="rect">
            <a:avLst/>
          </a:prstGeom>
          <a:noFill/>
        </p:spPr>
        <p:txBody>
          <a:bodyPr wrap="none">
            <a:spAutoFit/>
          </a:bodyPr>
          <a:lstStyle/>
          <a:p>
            <a:pPr algn="r">
              <a:defRPr sz="1000">
                <a:solidFill>
                  <a:srgbClr val="5B6878"/>
                </a:solidFill>
                <a:latin typeface="Aptos"/>
              </a:defRPr>
            </a:pPr>
            <a:r>
              <a:t>53</a:t>
            </a:r>
          </a:p>
        </p:txBody>
      </p:sp>
      <p:sp>
        <p:nvSpPr>
          <p:cNvPr id="4" name="TextBox 3"/>
          <p:cNvSpPr txBox="1"/>
          <p:nvPr/>
        </p:nvSpPr>
        <p:spPr>
          <a:xfrm>
            <a:off x="594360" y="658368"/>
            <a:ext cx="10972800" cy="914400"/>
          </a:xfrm>
          <a:prstGeom prst="rect">
            <a:avLst/>
          </a:prstGeom>
          <a:noFill/>
        </p:spPr>
        <p:txBody>
          <a:bodyPr wrap="none">
            <a:spAutoFit/>
          </a:bodyPr>
          <a:lstStyle/>
          <a:p>
            <a:pPr>
              <a:defRPr sz="2900" b="1">
                <a:solidFill>
                  <a:srgbClr val="111C2D"/>
                </a:solidFill>
                <a:latin typeface="Aptos Display"/>
              </a:defRPr>
            </a:pPr>
            <a:r>
              <a:t>Nguồn biên soạn</a:t>
            </a:r>
          </a:p>
        </p:txBody>
      </p:sp>
      <p:sp>
        <p:nvSpPr>
          <p:cNvPr id="5" name="TextBox 4"/>
          <p:cNvSpPr txBox="1"/>
          <p:nvPr/>
        </p:nvSpPr>
        <p:spPr>
          <a:xfrm>
            <a:off x="612648" y="1417320"/>
            <a:ext cx="10789920" cy="594360"/>
          </a:xfrm>
          <a:prstGeom prst="rect">
            <a:avLst/>
          </a:prstGeom>
          <a:noFill/>
        </p:spPr>
        <p:txBody>
          <a:bodyPr wrap="none">
            <a:spAutoFit/>
          </a:bodyPr>
          <a:lstStyle/>
          <a:p>
            <a:pPr>
              <a:defRPr sz="1400">
                <a:solidFill>
                  <a:srgbClr val="5B6878"/>
                </a:solidFill>
                <a:latin typeface="Aptos"/>
              </a:defRPr>
            </a:pPr>
            <a:r>
              <a:t>Toàn bộ nội dung chuyên môn trong deck được tổng hợp từ 2 tài liệu người dùng cung cấp.</a:t>
            </a:r>
          </a:p>
        </p:txBody>
      </p:sp>
      <p:sp>
        <p:nvSpPr>
          <p:cNvPr id="6" name="Rectangle 5"/>
          <p:cNvSpPr/>
          <p:nvPr/>
        </p:nvSpPr>
        <p:spPr>
          <a:xfrm>
            <a:off x="594360" y="1792224"/>
            <a:ext cx="1051560" cy="64008"/>
          </a:xfrm>
          <a:prstGeom prst="rect">
            <a:avLst/>
          </a:prstGeom>
          <a:solidFill>
            <a:srgbClr val="5B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148840"/>
            <a:ext cx="5120640" cy="3108960"/>
          </a:xfrm>
          <a:prstGeom prst="roundRect">
            <a:avLst/>
          </a:prstGeom>
          <a:solidFill>
            <a:srgbClr val="E2F6F5"/>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148840"/>
            <a:ext cx="73152" cy="3108960"/>
          </a:xfrm>
          <a:prstGeom prst="rect">
            <a:avLst/>
          </a:prstGeom>
          <a:solidFill>
            <a:srgbClr val="1394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304288"/>
            <a:ext cx="4754879" cy="411480"/>
          </a:xfrm>
          <a:prstGeom prst="rect">
            <a:avLst/>
          </a:prstGeom>
          <a:noFill/>
        </p:spPr>
        <p:txBody>
          <a:bodyPr wrap="none">
            <a:spAutoFit/>
          </a:bodyPr>
          <a:lstStyle/>
          <a:p>
            <a:pPr>
              <a:defRPr sz="1800" b="1">
                <a:solidFill>
                  <a:srgbClr val="111C2D"/>
                </a:solidFill>
                <a:latin typeface="Aptos Display"/>
              </a:defRPr>
            </a:pPr>
            <a:r>
              <a:t>MODULE 1</a:t>
            </a:r>
          </a:p>
        </p:txBody>
      </p:sp>
      <p:sp>
        <p:nvSpPr>
          <p:cNvPr id="10" name="TextBox 9"/>
          <p:cNvSpPr txBox="1"/>
          <p:nvPr/>
        </p:nvSpPr>
        <p:spPr>
          <a:xfrm>
            <a:off x="1024128" y="2761488"/>
            <a:ext cx="4736592" cy="2359152"/>
          </a:xfrm>
          <a:prstGeom prst="rect">
            <a:avLst/>
          </a:prstGeom>
          <a:noFill/>
        </p:spPr>
        <p:txBody>
          <a:bodyPr wrap="square">
            <a:spAutoFit/>
          </a:bodyPr>
          <a:lstStyle/>
          <a:p>
            <a:pPr>
              <a:defRPr sz="1500">
                <a:solidFill>
                  <a:srgbClr val="1F2937"/>
                </a:solidFill>
                <a:latin typeface="Aptos"/>
              </a:defRPr>
            </a:pPr>
            <a:r>
              <a:t>01-MODULE-1-NEN-TANG-CO-BAN.md</a:t>
            </a:r>
            <a:br/>
            <a:r>
              <a:t>Nền tảng Content Marketing cơ bản</a:t>
            </a:r>
            <a:br/>
            <a:r>
              <a:t>Buổi 1–2 • 6 giờ</a:t>
            </a:r>
          </a:p>
        </p:txBody>
      </p:sp>
      <p:sp>
        <p:nvSpPr>
          <p:cNvPr id="11" name="Rounded Rectangle 10"/>
          <p:cNvSpPr/>
          <p:nvPr/>
        </p:nvSpPr>
        <p:spPr>
          <a:xfrm>
            <a:off x="6263640" y="2148840"/>
            <a:ext cx="5120640" cy="3108960"/>
          </a:xfrm>
          <a:prstGeom prst="roundRect">
            <a:avLst/>
          </a:prstGeom>
          <a:solidFill>
            <a:srgbClr val="E8EFFC"/>
          </a:solidFill>
          <a:ln>
            <a:solidFill>
              <a:srgbClr val="E1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148840"/>
            <a:ext cx="73152" cy="3108960"/>
          </a:xfrm>
          <a:prstGeom prst="rect">
            <a:avLst/>
          </a:prstGeom>
          <a:solidFill>
            <a:srgbClr val="2D6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2304288"/>
            <a:ext cx="4754879" cy="411480"/>
          </a:xfrm>
          <a:prstGeom prst="rect">
            <a:avLst/>
          </a:prstGeom>
          <a:noFill/>
        </p:spPr>
        <p:txBody>
          <a:bodyPr wrap="none">
            <a:spAutoFit/>
          </a:bodyPr>
          <a:lstStyle/>
          <a:p>
            <a:pPr>
              <a:defRPr sz="1800" b="1">
                <a:solidFill>
                  <a:srgbClr val="111C2D"/>
                </a:solidFill>
                <a:latin typeface="Aptos Display"/>
              </a:defRPr>
            </a:pPr>
            <a:r>
              <a:t>MODULE 2</a:t>
            </a:r>
          </a:p>
        </p:txBody>
      </p:sp>
      <p:sp>
        <p:nvSpPr>
          <p:cNvPr id="14" name="TextBox 13"/>
          <p:cNvSpPr txBox="1"/>
          <p:nvPr/>
        </p:nvSpPr>
        <p:spPr>
          <a:xfrm>
            <a:off x="6464807" y="2761488"/>
            <a:ext cx="4736592" cy="2359152"/>
          </a:xfrm>
          <a:prstGeom prst="rect">
            <a:avLst/>
          </a:prstGeom>
          <a:noFill/>
        </p:spPr>
        <p:txBody>
          <a:bodyPr wrap="square">
            <a:spAutoFit/>
          </a:bodyPr>
          <a:lstStyle/>
          <a:p>
            <a:pPr>
              <a:defRPr sz="1500">
                <a:solidFill>
                  <a:srgbClr val="1F2937"/>
                </a:solidFill>
                <a:latin typeface="Aptos"/>
              </a:defRPr>
            </a:pPr>
            <a:r>
              <a:t>02-MODULE-2-CHIEN-LUOC-NOI-DUNG.md</a:t>
            </a:r>
            <a:br/>
            <a:r>
              <a:t>Chiến lược nội dung</a:t>
            </a:r>
            <a:br/>
            <a:r>
              <a:t>Buổi 3–4 • 6 giờ</a:t>
            </a:r>
          </a:p>
        </p:txBody>
      </p:sp>
      <p:sp>
        <p:nvSpPr>
          <p:cNvPr id="15" name="TextBox 14"/>
          <p:cNvSpPr txBox="1"/>
          <p:nvPr/>
        </p:nvSpPr>
        <p:spPr>
          <a:xfrm>
            <a:off x="594360" y="6446520"/>
            <a:ext cx="9875520" cy="228600"/>
          </a:xfrm>
          <a:prstGeom prst="rect">
            <a:avLst/>
          </a:prstGeom>
          <a:noFill/>
        </p:spPr>
        <p:txBody>
          <a:bodyPr wrap="none">
            <a:spAutoFit/>
          </a:bodyPr>
          <a:lstStyle/>
          <a:p>
            <a:pPr>
              <a:defRPr sz="850">
                <a:solidFill>
                  <a:srgbClr val="87919D"/>
                </a:solidFill>
                <a:latin typeface="Aptos"/>
              </a:defRPr>
            </a:pPr>
            <a:r>
              <a:t>Thiết kế ưu tiên khả năng giảng dạy: chữ lớn, nhịp slide rõ, bảng/khung trực quan, không phụ thuộc hình ảnh bên ngoài.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